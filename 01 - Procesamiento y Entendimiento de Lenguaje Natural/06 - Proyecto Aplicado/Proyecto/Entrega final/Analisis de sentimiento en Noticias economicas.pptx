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Montserrat"/>
      <p:regular r:id="rId29"/>
      <p:bold r:id="rId30"/>
      <p:italic r:id="rId31"/>
      <p:boldItalic r:id="rId32"/>
    </p:embeddedFont>
    <p:embeddedFont>
      <p:font typeface="La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6.xml"/><Relationship Id="rId33" Type="http://schemas.openxmlformats.org/officeDocument/2006/relationships/font" Target="fonts/Lato-regular.fntdata"/><Relationship Id="rId10" Type="http://schemas.openxmlformats.org/officeDocument/2006/relationships/slide" Target="slides/slide5.xml"/><Relationship Id="rId32" Type="http://schemas.openxmlformats.org/officeDocument/2006/relationships/font" Target="fonts/Montserrat-boldItalic.fntdata"/><Relationship Id="rId13" Type="http://schemas.openxmlformats.org/officeDocument/2006/relationships/slide" Target="slides/slide8.xml"/><Relationship Id="rId35" Type="http://schemas.openxmlformats.org/officeDocument/2006/relationships/font" Target="fonts/Lato-italic.fntdata"/><Relationship Id="rId12" Type="http://schemas.openxmlformats.org/officeDocument/2006/relationships/slide" Target="slides/slide7.xml"/><Relationship Id="rId34" Type="http://schemas.openxmlformats.org/officeDocument/2006/relationships/font" Target="fonts/Lato-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La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97b5f8bfa9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97b5f8bfa9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7b5f8bfa9_0_1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97b5f8bfa9_0_1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97b5f8bfa9_0_1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97b5f8bfa9_0_1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97b5f8bfa9_0_1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97b5f8bfa9_0_1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8e4e2d86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e8e4e2d86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54ebad0b0a14c1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h54ebad0b0a14c1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d954f57e0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d954f57e0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97b5f8bfa9_0_1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97b5f8bfa9_0_1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h54ebad0b0a14c19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h54ebad0b0a14c19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h54ebad0b0a14c198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h54ebad0b0a14c198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97b5f8bfa9_0_1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97b5f8bfa9_0_1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h54ebad0b0a14c19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h54ebad0b0a14c19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h4ab39bf0e60765f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h4ab39bf0e60765f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h4ab39bf0e60765fa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h4ab39bf0e60765fa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4ab39bf0e60765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h4ab39bf0e60765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h4ab39bf0e60765fa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h4ab39bf0e60765fa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4ab39bf0e60765fa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h4ab39bf0e60765fa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h4ab39bf0e60765fa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h4ab39bf0e60765fa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h4ab39bf0e60765fa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h4ab39bf0e60765fa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e8e4e2d869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e8e4e2d86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397b5f8bfa9_0_1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 name="Google Shape;592;g397b5f8bfa9_0_1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97b5f8bfa9_0_13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97b5f8bfa9_0_1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uerpo (g397b658389f_7_0)">
  <p:cSld name="Título y cuerpo (g397b658389f_7_0)">
    <p:spTree>
      <p:nvGrpSpPr>
        <p:cNvPr id="130" name="Shape 130"/>
        <p:cNvGrpSpPr/>
        <p:nvPr/>
      </p:nvGrpSpPr>
      <p:grpSpPr>
        <a:xfrm>
          <a:off x="0" y="0"/>
          <a:ext cx="0" cy="0"/>
          <a:chOff x="0" y="0"/>
          <a:chExt cx="0" cy="0"/>
        </a:xfrm>
      </p:grpSpPr>
      <p:sp>
        <p:nvSpPr>
          <p:cNvPr id="131" name="Google Shape;131;p1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2" name="Google Shape;132;p1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3" name="Google Shape;13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uerpo (g397b658389f_14_0)">
  <p:cSld name="Título y cuerpo (g397b658389f_14_0)">
    <p:spTree>
      <p:nvGrpSpPr>
        <p:cNvPr id="134" name="Shape 134"/>
        <p:cNvGrpSpPr/>
        <p:nvPr/>
      </p:nvGrpSpPr>
      <p:grpSpPr>
        <a:xfrm>
          <a:off x="0" y="0"/>
          <a:ext cx="0" cy="0"/>
          <a:chOff x="0" y="0"/>
          <a:chExt cx="0" cy="0"/>
        </a:xfrm>
      </p:grpSpPr>
      <p:sp>
        <p:nvSpPr>
          <p:cNvPr id="135" name="Google Shape;135;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6" name="Google Shape;136;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7" name="Google Shape;13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uerpo (g397b658389f_21_0)">
  <p:cSld name="Título y cuerpo (g397b658389f_21_0)">
    <p:spTree>
      <p:nvGrpSpPr>
        <p:cNvPr id="138" name="Shape 138"/>
        <p:cNvGrpSpPr/>
        <p:nvPr/>
      </p:nvGrpSpPr>
      <p:grpSpPr>
        <a:xfrm>
          <a:off x="0" y="0"/>
          <a:ext cx="0" cy="0"/>
          <a:chOff x="0" y="0"/>
          <a:chExt cx="0" cy="0"/>
        </a:xfrm>
      </p:grpSpPr>
      <p:sp>
        <p:nvSpPr>
          <p:cNvPr id="139" name="Google Shape;139;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0" name="Google Shape;140;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1" name="Google Shape;141;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uerpo (g397b658389f_35_0)">
  <p:cSld name="Título y cuerpo (g397b658389f_35_0)">
    <p:spTree>
      <p:nvGrpSpPr>
        <p:cNvPr id="142" name="Shape 142"/>
        <p:cNvGrpSpPr/>
        <p:nvPr/>
      </p:nvGrpSpPr>
      <p:grpSpPr>
        <a:xfrm>
          <a:off x="0" y="0"/>
          <a:ext cx="0" cy="0"/>
          <a:chOff x="0" y="0"/>
          <a:chExt cx="0" cy="0"/>
        </a:xfrm>
      </p:grpSpPr>
      <p:sp>
        <p:nvSpPr>
          <p:cNvPr id="143" name="Google Shape;14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4" name="Google Shape;144;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5" name="Google Shape;14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uerpo (g397b658389f_49_0)">
  <p:cSld name="Título y cuerpo (g397b658389f_49_0)">
    <p:spTree>
      <p:nvGrpSpPr>
        <p:cNvPr id="146" name="Shape 146"/>
        <p:cNvGrpSpPr/>
        <p:nvPr/>
      </p:nvGrpSpPr>
      <p:grpSpPr>
        <a:xfrm>
          <a:off x="0" y="0"/>
          <a:ext cx="0" cy="0"/>
          <a:chOff x="0" y="0"/>
          <a:chExt cx="0" cy="0"/>
        </a:xfrm>
      </p:grpSpPr>
      <p:sp>
        <p:nvSpPr>
          <p:cNvPr id="147" name="Google Shape;147;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8" name="Google Shape;148;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9" name="Google Shape;14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uerpo (g397b658389f_56_0)">
  <p:cSld name="Título y cuerpo (g397b658389f_56_0)">
    <p:spTree>
      <p:nvGrpSpPr>
        <p:cNvPr id="150" name="Shape 150"/>
        <p:cNvGrpSpPr/>
        <p:nvPr/>
      </p:nvGrpSpPr>
      <p:grpSpPr>
        <a:xfrm>
          <a:off x="0" y="0"/>
          <a:ext cx="0" cy="0"/>
          <a:chOff x="0" y="0"/>
          <a:chExt cx="0" cy="0"/>
        </a:xfrm>
      </p:grpSpPr>
      <p:sp>
        <p:nvSpPr>
          <p:cNvPr id="151" name="Google Shape;151;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52" name="Google Shape;152;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53" name="Google Shape;15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uerpo (g397b658389f_63_0)">
  <p:cSld name="Título y cuerpo (g397b658389f_63_0)">
    <p:spTree>
      <p:nvGrpSpPr>
        <p:cNvPr id="154" name="Shape 154"/>
        <p:cNvGrpSpPr/>
        <p:nvPr/>
      </p:nvGrpSpPr>
      <p:grpSpPr>
        <a:xfrm>
          <a:off x="0" y="0"/>
          <a:ext cx="0" cy="0"/>
          <a:chOff x="0" y="0"/>
          <a:chExt cx="0" cy="0"/>
        </a:xfrm>
      </p:grpSpPr>
      <p:sp>
        <p:nvSpPr>
          <p:cNvPr id="155" name="Google Shape;155;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56" name="Google Shape;156;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57" name="Google Shape;15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g397b658389f_77_0)">
  <p:cSld name="Diapositiva con título (g397b658389f_77_0)">
    <p:spTree>
      <p:nvGrpSpPr>
        <p:cNvPr id="158" name="Shape 158"/>
        <p:cNvGrpSpPr/>
        <p:nvPr/>
      </p:nvGrpSpPr>
      <p:grpSpPr>
        <a:xfrm>
          <a:off x="0" y="0"/>
          <a:ext cx="0" cy="0"/>
          <a:chOff x="0" y="0"/>
          <a:chExt cx="0" cy="0"/>
        </a:xfrm>
      </p:grpSpPr>
      <p:sp>
        <p:nvSpPr>
          <p:cNvPr id="159" name="Google Shape;159;p20"/>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60" name="Google Shape;160;p20"/>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61" name="Google Shape;161;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26.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22.png"/><Relationship Id="rId6"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9.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5" name="Shape 165"/>
        <p:cNvGrpSpPr/>
        <p:nvPr/>
      </p:nvGrpSpPr>
      <p:grpSpPr>
        <a:xfrm>
          <a:off x="0" y="0"/>
          <a:ext cx="0" cy="0"/>
          <a:chOff x="0" y="0"/>
          <a:chExt cx="0" cy="0"/>
        </a:xfrm>
      </p:grpSpPr>
      <p:grpSp>
        <p:nvGrpSpPr>
          <p:cNvPr id="166" name="Google Shape;166;p21"/>
          <p:cNvGrpSpPr/>
          <p:nvPr/>
        </p:nvGrpSpPr>
        <p:grpSpPr>
          <a:xfrm>
            <a:off x="0" y="0"/>
            <a:ext cx="9144000" cy="1181100"/>
            <a:chOff x="0" y="0"/>
            <a:chExt cx="9144000" cy="1181100"/>
          </a:xfrm>
        </p:grpSpPr>
        <p:sp>
          <p:nvSpPr>
            <p:cNvPr id="167" name="Google Shape;167;p21"/>
            <p:cNvSpPr/>
            <p:nvPr/>
          </p:nvSpPr>
          <p:spPr>
            <a:xfrm>
              <a:off x="0" y="0"/>
              <a:ext cx="9144000" cy="1143000"/>
            </a:xfrm>
            <a:prstGeom prst="rect">
              <a:avLst/>
            </a:prstGeom>
            <a:solidFill>
              <a:srgbClr val="242C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21"/>
            <p:cNvSpPr/>
            <p:nvPr/>
          </p:nvSpPr>
          <p:spPr>
            <a:xfrm>
              <a:off x="0" y="1143000"/>
              <a:ext cx="9144000" cy="38100"/>
            </a:xfrm>
            <a:prstGeom prst="rect">
              <a:avLst/>
            </a:prstGeom>
            <a:solidFill>
              <a:srgbClr val="0145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169" name="Google Shape;169;p21"/>
          <p:cNvPicPr preferRelativeResize="0"/>
          <p:nvPr/>
        </p:nvPicPr>
        <p:blipFill rotWithShape="1">
          <a:blip r:embed="rId4">
            <a:alphaModFix/>
          </a:blip>
          <a:srcRect b="30" l="0" r="0" t="30"/>
          <a:stretch/>
        </p:blipFill>
        <p:spPr>
          <a:xfrm>
            <a:off x="6972300" y="200025"/>
            <a:ext cx="2052600" cy="757200"/>
          </a:xfrm>
          <a:prstGeom prst="rect">
            <a:avLst/>
          </a:prstGeom>
          <a:noFill/>
          <a:ln>
            <a:noFill/>
          </a:ln>
        </p:spPr>
      </p:pic>
      <p:sp>
        <p:nvSpPr>
          <p:cNvPr id="170" name="Google Shape;170;p21"/>
          <p:cNvSpPr txBox="1"/>
          <p:nvPr>
            <p:ph type="ctrTitle"/>
          </p:nvPr>
        </p:nvSpPr>
        <p:spPr>
          <a:xfrm>
            <a:off x="381000" y="95250"/>
            <a:ext cx="64770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s" sz="2040">
                <a:solidFill>
                  <a:srgbClr val="FFFFFF"/>
                </a:solidFill>
                <a:latin typeface="Montserrat"/>
                <a:ea typeface="Montserrat"/>
                <a:cs typeface="Montserrat"/>
                <a:sym typeface="Montserrat"/>
              </a:rPr>
              <a:t>ANÁLISIS</a:t>
            </a:r>
            <a:r>
              <a:rPr b="1" lang="es" sz="2040">
                <a:solidFill>
                  <a:srgbClr val="FFFFFF"/>
                </a:solidFill>
                <a:latin typeface="Montserrat"/>
                <a:ea typeface="Montserrat"/>
                <a:cs typeface="Montserrat"/>
                <a:sym typeface="Montserrat"/>
              </a:rPr>
              <a:t> DE SENTIMIENTO EN NOTICIAS </a:t>
            </a:r>
            <a:r>
              <a:rPr b="1" lang="es" sz="2040">
                <a:solidFill>
                  <a:srgbClr val="FFFFFF"/>
                </a:solidFill>
                <a:latin typeface="Montserrat"/>
                <a:ea typeface="Montserrat"/>
                <a:cs typeface="Montserrat"/>
                <a:sym typeface="Montserrat"/>
              </a:rPr>
              <a:t>ECONÓMICAS</a:t>
            </a:r>
            <a:endParaRPr b="1" sz="2040">
              <a:solidFill>
                <a:srgbClr val="FFFFFF"/>
              </a:solidFill>
              <a:latin typeface="Montserrat"/>
              <a:ea typeface="Montserrat"/>
              <a:cs typeface="Montserrat"/>
              <a:sym typeface="Montserrat"/>
            </a:endParaRPr>
          </a:p>
        </p:txBody>
      </p:sp>
      <p:sp>
        <p:nvSpPr>
          <p:cNvPr id="171" name="Google Shape;171;p21"/>
          <p:cNvSpPr txBox="1"/>
          <p:nvPr>
            <p:ph idx="1" type="subTitle"/>
          </p:nvPr>
        </p:nvSpPr>
        <p:spPr>
          <a:xfrm>
            <a:off x="381000" y="1333500"/>
            <a:ext cx="85626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i="1" lang="es" sz="1800">
                <a:solidFill>
                  <a:srgbClr val="82C7A5"/>
                </a:solidFill>
                <a:latin typeface="Lato"/>
                <a:ea typeface="Lato"/>
                <a:cs typeface="Lato"/>
                <a:sym typeface="Lato"/>
              </a:rPr>
              <a:t>      </a:t>
            </a:r>
            <a:r>
              <a:rPr b="1" i="1" lang="es" sz="1800">
                <a:solidFill>
                  <a:srgbClr val="82C7A5"/>
                </a:solidFill>
                <a:latin typeface="Lato"/>
                <a:ea typeface="Lato"/>
                <a:cs typeface="Lato"/>
                <a:sym typeface="Lato"/>
              </a:rPr>
              <a:t>Machine Learning And Data Science                  -                     Large Languages Models</a:t>
            </a:r>
            <a:endParaRPr b="1" i="1" sz="1800">
              <a:solidFill>
                <a:srgbClr val="82C7A5"/>
              </a:solidFill>
              <a:latin typeface="Lato"/>
              <a:ea typeface="Lato"/>
              <a:cs typeface="Lato"/>
              <a:sym typeface="Lato"/>
            </a:endParaRPr>
          </a:p>
        </p:txBody>
      </p:sp>
      <p:grpSp>
        <p:nvGrpSpPr>
          <p:cNvPr id="172" name="Google Shape;172;p21"/>
          <p:cNvGrpSpPr/>
          <p:nvPr/>
        </p:nvGrpSpPr>
        <p:grpSpPr>
          <a:xfrm>
            <a:off x="193950" y="1905000"/>
            <a:ext cx="4585020" cy="2667000"/>
            <a:chOff x="381000" y="1905000"/>
            <a:chExt cx="4168200" cy="2667000"/>
          </a:xfrm>
        </p:grpSpPr>
        <p:sp>
          <p:nvSpPr>
            <p:cNvPr id="173" name="Google Shape;173;p21"/>
            <p:cNvSpPr/>
            <p:nvPr/>
          </p:nvSpPr>
          <p:spPr>
            <a:xfrm>
              <a:off x="381000" y="1905000"/>
              <a:ext cx="4168200" cy="2667000"/>
            </a:xfrm>
            <a:prstGeom prst="roundRect">
              <a:avLst>
                <a:gd fmla="val 7142" name="adj"/>
              </a:avLst>
            </a:prstGeom>
            <a:solidFill>
              <a:srgbClr val="2D3748">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500"/>
            </a:p>
          </p:txBody>
        </p:sp>
        <p:sp>
          <p:nvSpPr>
            <p:cNvPr id="174" name="Google Shape;174;p21"/>
            <p:cNvSpPr txBox="1"/>
            <p:nvPr/>
          </p:nvSpPr>
          <p:spPr>
            <a:xfrm>
              <a:off x="666750" y="2190750"/>
              <a:ext cx="3238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500">
                  <a:solidFill>
                    <a:srgbClr val="82C7A5"/>
                  </a:solidFill>
                  <a:latin typeface="Montserrat"/>
                  <a:ea typeface="Montserrat"/>
                  <a:cs typeface="Montserrat"/>
                  <a:sym typeface="Montserrat"/>
                </a:rPr>
                <a:t>PRESENTADO POR:</a:t>
              </a:r>
              <a:endParaRPr b="1" sz="1500">
                <a:solidFill>
                  <a:srgbClr val="82C7A5"/>
                </a:solidFill>
                <a:latin typeface="Montserrat"/>
                <a:ea typeface="Montserrat"/>
                <a:cs typeface="Montserrat"/>
                <a:sym typeface="Montserrat"/>
              </a:endParaRPr>
            </a:p>
          </p:txBody>
        </p:sp>
        <p:sp>
          <p:nvSpPr>
            <p:cNvPr id="175" name="Google Shape;175;p21"/>
            <p:cNvSpPr txBox="1"/>
            <p:nvPr/>
          </p:nvSpPr>
          <p:spPr>
            <a:xfrm>
              <a:off x="666750" y="2571750"/>
              <a:ext cx="38076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s" sz="1900">
                  <a:solidFill>
                    <a:srgbClr val="FFFFFF"/>
                  </a:solidFill>
                  <a:latin typeface="Lato"/>
                  <a:ea typeface="Lato"/>
                  <a:cs typeface="Lato"/>
                  <a:sym typeface="Lato"/>
                </a:rPr>
                <a:t>• </a:t>
              </a:r>
              <a:r>
                <a:rPr lang="es" sz="1900">
                  <a:solidFill>
                    <a:schemeClr val="lt1"/>
                  </a:solidFill>
                  <a:latin typeface="Lato"/>
                  <a:ea typeface="Lato"/>
                  <a:cs typeface="Lato"/>
                  <a:sym typeface="Lato"/>
                </a:rPr>
                <a:t>Jhon Anderson Bermudez Hurtado</a:t>
              </a:r>
              <a:endParaRPr sz="1900">
                <a:solidFill>
                  <a:srgbClr val="FFFFFF"/>
                </a:solidFill>
                <a:latin typeface="Lato"/>
                <a:ea typeface="Lato"/>
                <a:cs typeface="Lato"/>
                <a:sym typeface="Lato"/>
              </a:endParaRPr>
            </a:p>
            <a:p>
              <a:pPr indent="0" lvl="0" marL="0" rtl="0" algn="l">
                <a:spcBef>
                  <a:spcPts val="900"/>
                </a:spcBef>
                <a:spcAft>
                  <a:spcPts val="0"/>
                </a:spcAft>
                <a:buNone/>
              </a:pPr>
              <a:r>
                <a:rPr lang="es" sz="1900">
                  <a:solidFill>
                    <a:schemeClr val="lt1"/>
                  </a:solidFill>
                  <a:latin typeface="Lato"/>
                  <a:ea typeface="Lato"/>
                  <a:cs typeface="Lato"/>
                  <a:sym typeface="Lato"/>
                </a:rPr>
                <a:t>• Juan Carlos Andrade Unigarro</a:t>
              </a:r>
              <a:endParaRPr sz="1900">
                <a:solidFill>
                  <a:srgbClr val="FFFFFF"/>
                </a:solidFill>
                <a:latin typeface="Lato"/>
                <a:ea typeface="Lato"/>
                <a:cs typeface="Lato"/>
                <a:sym typeface="Lato"/>
              </a:endParaRPr>
            </a:p>
            <a:p>
              <a:pPr indent="0" lvl="0" marL="0" rtl="0" algn="l">
                <a:spcBef>
                  <a:spcPts val="900"/>
                </a:spcBef>
                <a:spcAft>
                  <a:spcPts val="0"/>
                </a:spcAft>
                <a:buNone/>
              </a:pPr>
              <a:r>
                <a:rPr lang="es" sz="1900">
                  <a:solidFill>
                    <a:srgbClr val="FFFFFF"/>
                  </a:solidFill>
                  <a:latin typeface="Lato"/>
                  <a:ea typeface="Lato"/>
                  <a:cs typeface="Lato"/>
                  <a:sym typeface="Lato"/>
                </a:rPr>
                <a:t>• Natalia Patricia Remolina Rodriguez</a:t>
              </a:r>
              <a:endParaRPr sz="1900">
                <a:solidFill>
                  <a:srgbClr val="FFFFFF"/>
                </a:solidFill>
                <a:latin typeface="Lato"/>
                <a:ea typeface="Lato"/>
                <a:cs typeface="Lato"/>
                <a:sym typeface="Lato"/>
              </a:endParaRPr>
            </a:p>
          </p:txBody>
        </p:sp>
      </p:grpSp>
      <p:pic>
        <p:nvPicPr>
          <p:cNvPr id="176" name="Google Shape;176;p21"/>
          <p:cNvPicPr preferRelativeResize="0"/>
          <p:nvPr/>
        </p:nvPicPr>
        <p:blipFill>
          <a:blip r:embed="rId5">
            <a:alphaModFix/>
          </a:blip>
          <a:stretch>
            <a:fillRect/>
          </a:stretch>
        </p:blipFill>
        <p:spPr>
          <a:xfrm>
            <a:off x="4931375" y="1905000"/>
            <a:ext cx="4060224" cy="26670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grpSp>
        <p:nvGrpSpPr>
          <p:cNvPr id="181" name="Google Shape;181;p22"/>
          <p:cNvGrpSpPr/>
          <p:nvPr/>
        </p:nvGrpSpPr>
        <p:grpSpPr>
          <a:xfrm>
            <a:off x="0" y="381001"/>
            <a:ext cx="1037850" cy="1016287"/>
            <a:chOff x="0" y="381001"/>
            <a:chExt cx="1037850" cy="1016287"/>
          </a:xfrm>
        </p:grpSpPr>
        <p:sp>
          <p:nvSpPr>
            <p:cNvPr id="182" name="Google Shape;182;p2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4" name="Google Shape;184;p22"/>
          <p:cNvSpPr txBox="1"/>
          <p:nvPr/>
        </p:nvSpPr>
        <p:spPr>
          <a:xfrm>
            <a:off x="1297505" y="1333500"/>
            <a:ext cx="3810000" cy="323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s" sz="2400">
                <a:solidFill>
                  <a:srgbClr val="82C7A5"/>
                </a:solidFill>
                <a:latin typeface="Material Icons"/>
                <a:ea typeface="Material Icons"/>
                <a:cs typeface="Material Icons"/>
                <a:sym typeface="Material Icons"/>
              </a:rPr>
              <a:t>check_circle</a:t>
            </a:r>
            <a:r>
              <a:rPr lang="es" sz="1800">
                <a:solidFill>
                  <a:srgbClr val="FFFFFF"/>
                </a:solidFill>
                <a:latin typeface="Lato"/>
                <a:ea typeface="Lato"/>
                <a:cs typeface="Lato"/>
                <a:sym typeface="Lato"/>
              </a:rPr>
              <a:t>Introducción</a:t>
            </a:r>
            <a:endParaRPr sz="1800">
              <a:solidFill>
                <a:srgbClr val="FFFFFF"/>
              </a:solidFill>
              <a:latin typeface="Lato"/>
              <a:ea typeface="Lato"/>
              <a:cs typeface="Lato"/>
              <a:sym typeface="Lato"/>
            </a:endParaRPr>
          </a:p>
          <a:p>
            <a:pPr indent="0" lvl="0" marL="0" rtl="0" algn="l">
              <a:spcBef>
                <a:spcPts val="900"/>
              </a:spcBef>
              <a:spcAft>
                <a:spcPts val="0"/>
              </a:spcAft>
              <a:buNone/>
            </a:pPr>
            <a:r>
              <a:rPr lang="es" sz="2400">
                <a:solidFill>
                  <a:srgbClr val="82C7A5"/>
                </a:solidFill>
                <a:latin typeface="Material Icons"/>
                <a:ea typeface="Material Icons"/>
                <a:cs typeface="Material Icons"/>
                <a:sym typeface="Material Icons"/>
              </a:rPr>
              <a:t>check_circle</a:t>
            </a:r>
            <a:r>
              <a:rPr lang="es" sz="1800">
                <a:solidFill>
                  <a:srgbClr val="FFFFFF"/>
                </a:solidFill>
                <a:latin typeface="Lato"/>
                <a:ea typeface="Lato"/>
                <a:cs typeface="Lato"/>
                <a:sym typeface="Lato"/>
              </a:rPr>
              <a:t>Justificación</a:t>
            </a:r>
            <a:endParaRPr sz="1800">
              <a:solidFill>
                <a:srgbClr val="FFFFFF"/>
              </a:solidFill>
              <a:latin typeface="Lato"/>
              <a:ea typeface="Lato"/>
              <a:cs typeface="Lato"/>
              <a:sym typeface="Lato"/>
            </a:endParaRPr>
          </a:p>
          <a:p>
            <a:pPr indent="0" lvl="0" marL="0" rtl="0" algn="l">
              <a:spcBef>
                <a:spcPts val="900"/>
              </a:spcBef>
              <a:spcAft>
                <a:spcPts val="0"/>
              </a:spcAft>
              <a:buNone/>
            </a:pPr>
            <a:r>
              <a:rPr lang="es" sz="2400">
                <a:solidFill>
                  <a:srgbClr val="82C7A5"/>
                </a:solidFill>
                <a:latin typeface="Material Icons"/>
                <a:ea typeface="Material Icons"/>
                <a:cs typeface="Material Icons"/>
                <a:sym typeface="Material Icons"/>
              </a:rPr>
              <a:t>check_circle</a:t>
            </a:r>
            <a:r>
              <a:rPr lang="es" sz="1800">
                <a:solidFill>
                  <a:srgbClr val="FFFFFF"/>
                </a:solidFill>
                <a:latin typeface="Lato"/>
                <a:ea typeface="Lato"/>
                <a:cs typeface="Lato"/>
                <a:sym typeface="Lato"/>
              </a:rPr>
              <a:t>Alcance</a:t>
            </a:r>
            <a:endParaRPr sz="1800">
              <a:solidFill>
                <a:srgbClr val="FFFFFF"/>
              </a:solidFill>
              <a:latin typeface="Lato"/>
              <a:ea typeface="Lato"/>
              <a:cs typeface="Lato"/>
              <a:sym typeface="Lato"/>
            </a:endParaRPr>
          </a:p>
          <a:p>
            <a:pPr indent="0" lvl="0" marL="0" rtl="0" algn="l">
              <a:spcBef>
                <a:spcPts val="900"/>
              </a:spcBef>
              <a:spcAft>
                <a:spcPts val="0"/>
              </a:spcAft>
              <a:buNone/>
            </a:pPr>
            <a:r>
              <a:rPr lang="es" sz="2400">
                <a:solidFill>
                  <a:srgbClr val="82C7A5"/>
                </a:solidFill>
                <a:latin typeface="Material Icons"/>
                <a:ea typeface="Material Icons"/>
                <a:cs typeface="Material Icons"/>
                <a:sym typeface="Material Icons"/>
              </a:rPr>
              <a:t>check_circle</a:t>
            </a:r>
            <a:r>
              <a:rPr lang="es" sz="1800">
                <a:solidFill>
                  <a:srgbClr val="FFFFFF"/>
                </a:solidFill>
                <a:latin typeface="Lato"/>
                <a:ea typeface="Lato"/>
                <a:cs typeface="Lato"/>
                <a:sym typeface="Lato"/>
              </a:rPr>
              <a:t>Implementación</a:t>
            </a:r>
            <a:endParaRPr sz="1800">
              <a:solidFill>
                <a:srgbClr val="FFFFFF"/>
              </a:solidFill>
              <a:latin typeface="Lato"/>
              <a:ea typeface="Lato"/>
              <a:cs typeface="Lato"/>
              <a:sym typeface="Lato"/>
            </a:endParaRPr>
          </a:p>
          <a:p>
            <a:pPr indent="0" lvl="0" marL="0" rtl="0" algn="l">
              <a:spcBef>
                <a:spcPts val="900"/>
              </a:spcBef>
              <a:spcAft>
                <a:spcPts val="0"/>
              </a:spcAft>
              <a:buNone/>
            </a:pPr>
            <a:r>
              <a:rPr lang="es" sz="2400">
                <a:solidFill>
                  <a:srgbClr val="82C7A5"/>
                </a:solidFill>
                <a:latin typeface="Material Icons"/>
                <a:ea typeface="Material Icons"/>
                <a:cs typeface="Material Icons"/>
                <a:sym typeface="Material Icons"/>
              </a:rPr>
              <a:t>check_circle</a:t>
            </a:r>
            <a:r>
              <a:rPr lang="es" sz="1800">
                <a:solidFill>
                  <a:srgbClr val="FFFFFF"/>
                </a:solidFill>
                <a:latin typeface="Lato"/>
                <a:ea typeface="Lato"/>
                <a:cs typeface="Lato"/>
                <a:sym typeface="Lato"/>
              </a:rPr>
              <a:t>Resultados</a:t>
            </a:r>
            <a:endParaRPr sz="1800">
              <a:solidFill>
                <a:srgbClr val="FFFFFF"/>
              </a:solidFill>
              <a:latin typeface="Lato"/>
              <a:ea typeface="Lato"/>
              <a:cs typeface="Lato"/>
              <a:sym typeface="Lato"/>
            </a:endParaRPr>
          </a:p>
          <a:p>
            <a:pPr indent="0" lvl="0" marL="0" rtl="0" algn="l">
              <a:spcBef>
                <a:spcPts val="900"/>
              </a:spcBef>
              <a:spcAft>
                <a:spcPts val="0"/>
              </a:spcAft>
              <a:buNone/>
            </a:pPr>
            <a:r>
              <a:rPr lang="es" sz="2400">
                <a:solidFill>
                  <a:srgbClr val="82C7A5"/>
                </a:solidFill>
                <a:latin typeface="Material Icons"/>
                <a:ea typeface="Material Icons"/>
                <a:cs typeface="Material Icons"/>
                <a:sym typeface="Material Icons"/>
              </a:rPr>
              <a:t>check_circle</a:t>
            </a:r>
            <a:r>
              <a:rPr lang="es" sz="1800">
                <a:solidFill>
                  <a:srgbClr val="FFFFFF"/>
                </a:solidFill>
                <a:latin typeface="Lato"/>
                <a:ea typeface="Lato"/>
                <a:cs typeface="Lato"/>
                <a:sym typeface="Lato"/>
              </a:rPr>
              <a:t>Conclusiones</a:t>
            </a:r>
            <a:endParaRPr sz="1800">
              <a:solidFill>
                <a:srgbClr val="FFFFFF"/>
              </a:solidFill>
              <a:latin typeface="Lato"/>
              <a:ea typeface="Lato"/>
              <a:cs typeface="Lato"/>
              <a:sym typeface="Lato"/>
            </a:endParaRPr>
          </a:p>
          <a:p>
            <a:pPr indent="0" lvl="0" marL="0" rtl="0" algn="l">
              <a:spcBef>
                <a:spcPts val="900"/>
              </a:spcBef>
              <a:spcAft>
                <a:spcPts val="0"/>
              </a:spcAft>
              <a:buNone/>
            </a:pPr>
            <a:r>
              <a:rPr lang="es" sz="2400">
                <a:solidFill>
                  <a:srgbClr val="82C7A5"/>
                </a:solidFill>
                <a:latin typeface="Material Icons"/>
                <a:ea typeface="Material Icons"/>
                <a:cs typeface="Material Icons"/>
                <a:sym typeface="Material Icons"/>
              </a:rPr>
              <a:t>check_circle</a:t>
            </a:r>
            <a:r>
              <a:rPr lang="es" sz="1800">
                <a:solidFill>
                  <a:srgbClr val="FFFFFF"/>
                </a:solidFill>
                <a:latin typeface="Lato"/>
                <a:ea typeface="Lato"/>
                <a:cs typeface="Lato"/>
                <a:sym typeface="Lato"/>
              </a:rPr>
              <a:t>Bibliografía</a:t>
            </a:r>
            <a:endParaRPr sz="1800">
              <a:solidFill>
                <a:srgbClr val="FFFFFF"/>
              </a:solidFill>
              <a:latin typeface="Lato"/>
              <a:ea typeface="Lato"/>
              <a:cs typeface="Lato"/>
              <a:sym typeface="Lato"/>
            </a:endParaRPr>
          </a:p>
        </p:txBody>
      </p:sp>
      <p:pic>
        <p:nvPicPr>
          <p:cNvPr id="185" name="Google Shape;185;p22"/>
          <p:cNvPicPr preferRelativeResize="0"/>
          <p:nvPr/>
        </p:nvPicPr>
        <p:blipFill>
          <a:blip r:embed="rId3">
            <a:alphaModFix/>
          </a:blip>
          <a:stretch>
            <a:fillRect/>
          </a:stretch>
        </p:blipFill>
        <p:spPr>
          <a:xfrm>
            <a:off x="6976875" y="199722"/>
            <a:ext cx="2052826" cy="757775"/>
          </a:xfrm>
          <a:prstGeom prst="rect">
            <a:avLst/>
          </a:prstGeom>
          <a:noFill/>
          <a:ln>
            <a:noFill/>
          </a:ln>
        </p:spPr>
      </p:pic>
      <p:sp>
        <p:nvSpPr>
          <p:cNvPr id="186" name="Google Shape;186;p22"/>
          <p:cNvSpPr txBox="1"/>
          <p:nvPr>
            <p:ph type="title"/>
          </p:nvPr>
        </p:nvSpPr>
        <p:spPr>
          <a:xfrm>
            <a:off x="1297505" y="393750"/>
            <a:ext cx="7038900" cy="9141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b="1" lang="es" sz="3600">
                <a:solidFill>
                  <a:srgbClr val="FFFFFF"/>
                </a:solidFill>
                <a:latin typeface="Montserrat"/>
                <a:ea typeface="Montserrat"/>
                <a:cs typeface="Montserrat"/>
                <a:sym typeface="Montserrat"/>
              </a:rPr>
              <a:t>CONTENIDO</a:t>
            </a:r>
            <a:endParaRPr b="1" sz="3600">
              <a:solidFill>
                <a:srgbClr val="FFFFFF"/>
              </a:solidFill>
              <a:latin typeface="Montserrat"/>
              <a:ea typeface="Montserrat"/>
              <a:cs typeface="Montserrat"/>
              <a:sym typeface="Montserrat"/>
            </a:endParaRPr>
          </a:p>
        </p:txBody>
      </p:sp>
      <p:pic>
        <p:nvPicPr>
          <p:cNvPr id="187" name="Google Shape;187;p22"/>
          <p:cNvPicPr preferRelativeResize="0"/>
          <p:nvPr/>
        </p:nvPicPr>
        <p:blipFill rotWithShape="1">
          <a:blip r:embed="rId4">
            <a:alphaModFix/>
          </a:blip>
          <a:srcRect b="0" l="0" r="0" t="13986"/>
          <a:stretch/>
        </p:blipFill>
        <p:spPr>
          <a:xfrm>
            <a:off x="3595150" y="1458100"/>
            <a:ext cx="5234775" cy="3065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1" name="Shape 191"/>
        <p:cNvGrpSpPr/>
        <p:nvPr/>
      </p:nvGrpSpPr>
      <p:grpSpPr>
        <a:xfrm>
          <a:off x="0" y="0"/>
          <a:ext cx="0" cy="0"/>
          <a:chOff x="0" y="0"/>
          <a:chExt cx="0" cy="0"/>
        </a:xfrm>
      </p:grpSpPr>
      <p:grpSp>
        <p:nvGrpSpPr>
          <p:cNvPr id="192" name="Google Shape;192;p23"/>
          <p:cNvGrpSpPr/>
          <p:nvPr/>
        </p:nvGrpSpPr>
        <p:grpSpPr>
          <a:xfrm>
            <a:off x="0" y="-21458"/>
            <a:ext cx="1038300" cy="1019325"/>
            <a:chOff x="0" y="380925"/>
            <a:chExt cx="1038300" cy="1019325"/>
          </a:xfrm>
        </p:grpSpPr>
        <p:sp>
          <p:nvSpPr>
            <p:cNvPr id="193" name="Google Shape;193;p23"/>
            <p:cNvSpPr/>
            <p:nvPr/>
          </p:nvSpPr>
          <p:spPr>
            <a:xfrm rot="-5400000">
              <a:off x="0" y="380925"/>
              <a:ext cx="809700" cy="809700"/>
            </a:xfrm>
            <a:prstGeom prst="rect">
              <a:avLst/>
            </a:prstGeom>
            <a:solidFill>
              <a:srgbClr val="0145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23"/>
            <p:cNvSpPr/>
            <p:nvPr/>
          </p:nvSpPr>
          <p:spPr>
            <a:xfrm>
              <a:off x="228600" y="590550"/>
              <a:ext cx="809700" cy="809700"/>
            </a:xfrm>
            <a:prstGeom prst="rect">
              <a:avLst/>
            </a:prstGeom>
            <a:solidFill>
              <a:srgbClr val="82C7A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195" name="Google Shape;195;p23"/>
          <p:cNvPicPr preferRelativeResize="0"/>
          <p:nvPr/>
        </p:nvPicPr>
        <p:blipFill rotWithShape="1">
          <a:blip r:embed="rId4">
            <a:alphaModFix/>
          </a:blip>
          <a:srcRect b="30" l="0" r="0" t="30"/>
          <a:stretch/>
        </p:blipFill>
        <p:spPr>
          <a:xfrm>
            <a:off x="6972300" y="200025"/>
            <a:ext cx="2052600" cy="757200"/>
          </a:xfrm>
          <a:prstGeom prst="rect">
            <a:avLst/>
          </a:prstGeom>
          <a:noFill/>
          <a:ln>
            <a:noFill/>
          </a:ln>
        </p:spPr>
      </p:pic>
      <p:sp>
        <p:nvSpPr>
          <p:cNvPr id="196" name="Google Shape;196;p23"/>
          <p:cNvSpPr txBox="1"/>
          <p:nvPr/>
        </p:nvSpPr>
        <p:spPr>
          <a:xfrm>
            <a:off x="1199930" y="340865"/>
            <a:ext cx="6364200" cy="47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00"/>
              <a:buFont typeface="Arial"/>
              <a:buNone/>
            </a:pPr>
            <a:r>
              <a:rPr b="1" i="0" lang="es" sz="3600" u="none" cap="none" strike="noStrike">
                <a:solidFill>
                  <a:srgbClr val="FFFFFF"/>
                </a:solidFill>
                <a:latin typeface="Arial"/>
                <a:ea typeface="Arial"/>
                <a:cs typeface="Arial"/>
                <a:sym typeface="Arial"/>
              </a:rPr>
              <a:t>INTRODUCCIÓN</a:t>
            </a:r>
            <a:endParaRPr b="0" i="0" sz="3600" u="none" cap="none" strike="noStrike">
              <a:solidFill>
                <a:srgbClr val="000000"/>
              </a:solidFill>
              <a:latin typeface="Arial"/>
              <a:ea typeface="Arial"/>
              <a:cs typeface="Arial"/>
              <a:sym typeface="Arial"/>
            </a:endParaRPr>
          </a:p>
        </p:txBody>
      </p:sp>
      <p:cxnSp>
        <p:nvCxnSpPr>
          <p:cNvPr id="197" name="Google Shape;197;p23"/>
          <p:cNvCxnSpPr/>
          <p:nvPr/>
        </p:nvCxnSpPr>
        <p:spPr>
          <a:xfrm>
            <a:off x="475463" y="1080865"/>
            <a:ext cx="8193000" cy="0"/>
          </a:xfrm>
          <a:prstGeom prst="straightConnector1">
            <a:avLst/>
          </a:prstGeom>
          <a:noFill/>
          <a:ln cap="flat" cmpd="sng" w="10150">
            <a:solidFill>
              <a:srgbClr val="364255"/>
            </a:solidFill>
            <a:prstDash val="solid"/>
            <a:round/>
            <a:headEnd len="sm" w="sm" type="none"/>
            <a:tailEnd len="sm" w="sm" type="none"/>
          </a:ln>
        </p:spPr>
      </p:cxnSp>
      <p:cxnSp>
        <p:nvCxnSpPr>
          <p:cNvPr id="198" name="Google Shape;198;p23"/>
          <p:cNvCxnSpPr/>
          <p:nvPr/>
        </p:nvCxnSpPr>
        <p:spPr>
          <a:xfrm>
            <a:off x="475488" y="4773168"/>
            <a:ext cx="8193000" cy="0"/>
          </a:xfrm>
          <a:prstGeom prst="straightConnector1">
            <a:avLst/>
          </a:prstGeom>
          <a:noFill/>
          <a:ln cap="flat" cmpd="sng" w="9525">
            <a:solidFill>
              <a:srgbClr val="364255"/>
            </a:solidFill>
            <a:prstDash val="solid"/>
            <a:round/>
            <a:headEnd len="sm" w="sm" type="none"/>
            <a:tailEnd len="sm" w="sm" type="none"/>
          </a:ln>
        </p:spPr>
      </p:cxnSp>
      <p:sp>
        <p:nvSpPr>
          <p:cNvPr id="199" name="Google Shape;199;p23"/>
          <p:cNvSpPr txBox="1"/>
          <p:nvPr/>
        </p:nvSpPr>
        <p:spPr>
          <a:xfrm>
            <a:off x="484632" y="1280160"/>
            <a:ext cx="4892100" cy="759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300"/>
              <a:buFont typeface="Arial"/>
              <a:buNone/>
            </a:pPr>
            <a:r>
              <a:rPr b="1" i="0" lang="es" sz="2300" u="none" cap="none" strike="noStrike">
                <a:solidFill>
                  <a:srgbClr val="FFFFFF"/>
                </a:solidFill>
                <a:latin typeface="Arial"/>
                <a:ea typeface="Arial"/>
                <a:cs typeface="Arial"/>
                <a:sym typeface="Arial"/>
              </a:rPr>
              <a:t>De noticias en español</a:t>
            </a:r>
            <a:endParaRPr b="0" i="0" sz="2300" u="none" cap="none" strike="noStrike">
              <a:solidFill>
                <a:srgbClr val="000000"/>
              </a:solidFill>
              <a:latin typeface="Arial"/>
              <a:ea typeface="Arial"/>
              <a:cs typeface="Arial"/>
              <a:sym typeface="Arial"/>
            </a:endParaRPr>
          </a:p>
          <a:p>
            <a:pPr indent="0" lvl="0" marL="0" marR="0" rtl="0" algn="l">
              <a:lnSpc>
                <a:spcPct val="104000"/>
              </a:lnSpc>
              <a:spcBef>
                <a:spcPts val="0"/>
              </a:spcBef>
              <a:spcAft>
                <a:spcPts val="0"/>
              </a:spcAft>
              <a:buClr>
                <a:srgbClr val="FFFFFF"/>
              </a:buClr>
              <a:buSzPts val="2300"/>
              <a:buFont typeface="Arial"/>
              <a:buNone/>
            </a:pPr>
            <a:r>
              <a:rPr b="1" i="0" lang="es" sz="2300" u="none" cap="none" strike="noStrike">
                <a:solidFill>
                  <a:srgbClr val="FFFFFF"/>
                </a:solidFill>
                <a:latin typeface="Arial"/>
                <a:ea typeface="Arial"/>
                <a:cs typeface="Arial"/>
                <a:sym typeface="Arial"/>
              </a:rPr>
              <a:t>a una clasificación automática.</a:t>
            </a:r>
            <a:endParaRPr b="0" i="0" sz="2300" u="none" cap="none" strike="noStrike">
              <a:solidFill>
                <a:srgbClr val="000000"/>
              </a:solidFill>
              <a:latin typeface="Arial"/>
              <a:ea typeface="Arial"/>
              <a:cs typeface="Arial"/>
              <a:sym typeface="Arial"/>
            </a:endParaRPr>
          </a:p>
        </p:txBody>
      </p:sp>
      <p:sp>
        <p:nvSpPr>
          <p:cNvPr id="200" name="Google Shape;200;p23"/>
          <p:cNvSpPr txBox="1"/>
          <p:nvPr/>
        </p:nvSpPr>
        <p:spPr>
          <a:xfrm>
            <a:off x="502920" y="2295144"/>
            <a:ext cx="4517100" cy="932700"/>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C9D2DF"/>
              </a:buClr>
              <a:buSzPts val="1540"/>
              <a:buFont typeface="Arial"/>
              <a:buNone/>
            </a:pPr>
            <a:r>
              <a:rPr b="0" i="0" lang="es" sz="1540" u="none" cap="none" strike="noStrike">
                <a:solidFill>
                  <a:srgbClr val="C9D2DF"/>
                </a:solidFill>
                <a:latin typeface="Arial"/>
                <a:ea typeface="Arial"/>
                <a:cs typeface="Arial"/>
                <a:sym typeface="Arial"/>
              </a:rPr>
              <a:t>El volumen de información económica dificulta su revisión manual. Además, el vocabulario del sector exige interpretar cada expresión en su contexto.</a:t>
            </a:r>
            <a:endParaRPr b="0" i="0" sz="1540" u="none" cap="none" strike="noStrike">
              <a:solidFill>
                <a:srgbClr val="000000"/>
              </a:solidFill>
              <a:latin typeface="Arial"/>
              <a:ea typeface="Arial"/>
              <a:cs typeface="Arial"/>
              <a:sym typeface="Arial"/>
            </a:endParaRPr>
          </a:p>
        </p:txBody>
      </p:sp>
      <p:sp>
        <p:nvSpPr>
          <p:cNvPr id="201" name="Google Shape;201;p23"/>
          <p:cNvSpPr/>
          <p:nvPr/>
        </p:nvSpPr>
        <p:spPr>
          <a:xfrm>
            <a:off x="493776" y="3355848"/>
            <a:ext cx="4416600" cy="438900"/>
          </a:xfrm>
          <a:prstGeom prst="rect">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3"/>
          <p:cNvSpPr txBox="1"/>
          <p:nvPr/>
        </p:nvSpPr>
        <p:spPr>
          <a:xfrm>
            <a:off x="649224" y="3483864"/>
            <a:ext cx="4087500" cy="164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180"/>
              <a:buFont typeface="Arial"/>
              <a:buNone/>
            </a:pPr>
            <a:r>
              <a:rPr b="0" i="1" lang="es" sz="1180" u="none" cap="none" strike="noStrike">
                <a:solidFill>
                  <a:srgbClr val="82C7A5"/>
                </a:solidFill>
                <a:latin typeface="Arial"/>
                <a:ea typeface="Arial"/>
                <a:cs typeface="Arial"/>
                <a:sym typeface="Arial"/>
              </a:rPr>
              <a:t>«Reducción de pérdidas» no equivale a «pérdidas».</a:t>
            </a:r>
            <a:endParaRPr b="0" i="0" sz="1180" u="none" cap="none" strike="noStrike">
              <a:solidFill>
                <a:srgbClr val="000000"/>
              </a:solidFill>
              <a:latin typeface="Arial"/>
              <a:ea typeface="Arial"/>
              <a:cs typeface="Arial"/>
              <a:sym typeface="Arial"/>
            </a:endParaRPr>
          </a:p>
        </p:txBody>
      </p:sp>
      <p:sp>
        <p:nvSpPr>
          <p:cNvPr id="203" name="Google Shape;203;p23"/>
          <p:cNvSpPr/>
          <p:nvPr/>
        </p:nvSpPr>
        <p:spPr>
          <a:xfrm>
            <a:off x="5367528" y="1280160"/>
            <a:ext cx="3291900" cy="2514600"/>
          </a:xfrm>
          <a:prstGeom prst="roundRect">
            <a:avLst>
              <a:gd fmla="val 3636" name="adj"/>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3"/>
          <p:cNvSpPr txBox="1"/>
          <p:nvPr/>
        </p:nvSpPr>
        <p:spPr>
          <a:xfrm>
            <a:off x="5559552" y="1453896"/>
            <a:ext cx="1554600" cy="14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930"/>
              <a:buFont typeface="Arial"/>
              <a:buNone/>
            </a:pPr>
            <a:r>
              <a:rPr b="1" i="0" lang="es" sz="930" u="none" cap="none" strike="noStrike">
                <a:solidFill>
                  <a:srgbClr val="82C7A5"/>
                </a:solidFill>
                <a:latin typeface="Arial"/>
                <a:ea typeface="Arial"/>
                <a:cs typeface="Arial"/>
                <a:sym typeface="Arial"/>
              </a:rPr>
              <a:t>ENTRADA</a:t>
            </a:r>
            <a:endParaRPr b="0" i="0" sz="930" u="none" cap="none" strike="noStrike">
              <a:solidFill>
                <a:srgbClr val="000000"/>
              </a:solidFill>
              <a:latin typeface="Arial"/>
              <a:ea typeface="Arial"/>
              <a:cs typeface="Arial"/>
              <a:sym typeface="Arial"/>
            </a:endParaRPr>
          </a:p>
        </p:txBody>
      </p:sp>
      <p:sp>
        <p:nvSpPr>
          <p:cNvPr id="205" name="Google Shape;205;p23"/>
          <p:cNvSpPr txBox="1"/>
          <p:nvPr/>
        </p:nvSpPr>
        <p:spPr>
          <a:xfrm>
            <a:off x="5559552" y="1673352"/>
            <a:ext cx="2871300" cy="237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20"/>
              <a:buFont typeface="Arial"/>
              <a:buNone/>
            </a:pPr>
            <a:r>
              <a:rPr b="1" i="0" lang="es" sz="1420" u="none" cap="none" strike="noStrike">
                <a:solidFill>
                  <a:srgbClr val="FFFFFF"/>
                </a:solidFill>
                <a:latin typeface="Arial"/>
                <a:ea typeface="Arial"/>
                <a:cs typeface="Arial"/>
                <a:sym typeface="Arial"/>
              </a:rPr>
              <a:t>Texto financiero en español</a:t>
            </a:r>
            <a:endParaRPr b="0" i="0" sz="1420" u="none" cap="none" strike="noStrike">
              <a:solidFill>
                <a:srgbClr val="000000"/>
              </a:solidFill>
              <a:latin typeface="Arial"/>
              <a:ea typeface="Arial"/>
              <a:cs typeface="Arial"/>
              <a:sym typeface="Arial"/>
            </a:endParaRPr>
          </a:p>
        </p:txBody>
      </p:sp>
      <p:sp>
        <p:nvSpPr>
          <p:cNvPr id="206" name="Google Shape;206;p23"/>
          <p:cNvSpPr/>
          <p:nvPr/>
        </p:nvSpPr>
        <p:spPr>
          <a:xfrm>
            <a:off x="5577840" y="2286000"/>
            <a:ext cx="2853000" cy="603600"/>
          </a:xfrm>
          <a:prstGeom prst="roundRect">
            <a:avLst>
              <a:gd fmla="val 15152" name="adj"/>
            </a:avLst>
          </a:prstGeom>
          <a:solidFill>
            <a:srgbClr val="263242"/>
          </a:solidFill>
          <a:ln cap="flat" cmpd="sng" w="12700">
            <a:solidFill>
              <a:srgbClr val="263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3"/>
          <p:cNvSpPr txBox="1"/>
          <p:nvPr/>
        </p:nvSpPr>
        <p:spPr>
          <a:xfrm>
            <a:off x="5669280" y="2432304"/>
            <a:ext cx="2661000" cy="274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270"/>
              <a:buFont typeface="Arial"/>
              <a:buNone/>
            </a:pPr>
            <a:r>
              <a:rPr b="1" i="0" lang="es" sz="1270" u="none" cap="none" strike="noStrike">
                <a:solidFill>
                  <a:srgbClr val="FFFFFF"/>
                </a:solidFill>
                <a:latin typeface="Arial"/>
                <a:ea typeface="Arial"/>
                <a:cs typeface="Arial"/>
                <a:sym typeface="Arial"/>
              </a:rPr>
              <a:t>PLN + aprendizaje supervisado</a:t>
            </a:r>
            <a:endParaRPr b="0" i="0" sz="1270" u="none" cap="none" strike="noStrike">
              <a:solidFill>
                <a:srgbClr val="000000"/>
              </a:solidFill>
              <a:latin typeface="Arial"/>
              <a:ea typeface="Arial"/>
              <a:cs typeface="Arial"/>
              <a:sym typeface="Arial"/>
            </a:endParaRPr>
          </a:p>
        </p:txBody>
      </p:sp>
      <p:sp>
        <p:nvSpPr>
          <p:cNvPr id="208" name="Google Shape;208;p23"/>
          <p:cNvSpPr txBox="1"/>
          <p:nvPr/>
        </p:nvSpPr>
        <p:spPr>
          <a:xfrm>
            <a:off x="5559552" y="3108960"/>
            <a:ext cx="685800" cy="14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930"/>
              <a:buFont typeface="Arial"/>
              <a:buNone/>
            </a:pPr>
            <a:r>
              <a:rPr b="1" i="0" lang="es" sz="930" u="none" cap="none" strike="noStrike">
                <a:solidFill>
                  <a:srgbClr val="82C7A5"/>
                </a:solidFill>
                <a:latin typeface="Arial"/>
                <a:ea typeface="Arial"/>
                <a:cs typeface="Arial"/>
                <a:sym typeface="Arial"/>
              </a:rPr>
              <a:t>SALIDA</a:t>
            </a:r>
            <a:endParaRPr b="0" i="0" sz="930" u="none" cap="none" strike="noStrike">
              <a:solidFill>
                <a:srgbClr val="000000"/>
              </a:solidFill>
              <a:latin typeface="Arial"/>
              <a:ea typeface="Arial"/>
              <a:cs typeface="Arial"/>
              <a:sym typeface="Arial"/>
            </a:endParaRPr>
          </a:p>
        </p:txBody>
      </p:sp>
      <p:sp>
        <p:nvSpPr>
          <p:cNvPr id="209" name="Google Shape;209;p23"/>
          <p:cNvSpPr/>
          <p:nvPr/>
        </p:nvSpPr>
        <p:spPr>
          <a:xfrm>
            <a:off x="5559552" y="3337560"/>
            <a:ext cx="905400" cy="338400"/>
          </a:xfrm>
          <a:prstGeom prst="roundRect">
            <a:avLst>
              <a:gd fmla="val 27027" name="adj"/>
            </a:avLst>
          </a:prstGeom>
          <a:solidFill>
            <a:srgbClr val="263242"/>
          </a:solidFill>
          <a:ln cap="flat" cmpd="sng" w="12700">
            <a:solidFill>
              <a:srgbClr val="263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3"/>
          <p:cNvSpPr txBox="1"/>
          <p:nvPr/>
        </p:nvSpPr>
        <p:spPr>
          <a:xfrm>
            <a:off x="5582412" y="3422599"/>
            <a:ext cx="859500" cy="146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2C7A5"/>
              </a:buClr>
              <a:buSzPts val="1060"/>
              <a:buFont typeface="Arial"/>
              <a:buNone/>
            </a:pPr>
            <a:r>
              <a:rPr b="1" i="0" lang="es" sz="1060" u="none" cap="none" strike="noStrike">
                <a:solidFill>
                  <a:srgbClr val="82C7A5"/>
                </a:solidFill>
                <a:latin typeface="Arial"/>
                <a:ea typeface="Arial"/>
                <a:cs typeface="Arial"/>
                <a:sym typeface="Arial"/>
              </a:rPr>
              <a:t>Positivo</a:t>
            </a:r>
            <a:endParaRPr b="0" i="0" sz="1060" u="none" cap="none" strike="noStrike">
              <a:solidFill>
                <a:srgbClr val="000000"/>
              </a:solidFill>
              <a:latin typeface="Arial"/>
              <a:ea typeface="Arial"/>
              <a:cs typeface="Arial"/>
              <a:sym typeface="Arial"/>
            </a:endParaRPr>
          </a:p>
        </p:txBody>
      </p:sp>
      <p:sp>
        <p:nvSpPr>
          <p:cNvPr id="211" name="Google Shape;211;p23"/>
          <p:cNvSpPr/>
          <p:nvPr/>
        </p:nvSpPr>
        <p:spPr>
          <a:xfrm>
            <a:off x="6537960" y="3337560"/>
            <a:ext cx="905400" cy="338400"/>
          </a:xfrm>
          <a:prstGeom prst="roundRect">
            <a:avLst>
              <a:gd fmla="val 27027" name="adj"/>
            </a:avLst>
          </a:prstGeom>
          <a:solidFill>
            <a:srgbClr val="263242"/>
          </a:solidFill>
          <a:ln cap="flat" cmpd="sng" w="12700">
            <a:solidFill>
              <a:srgbClr val="2632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3"/>
          <p:cNvSpPr txBox="1"/>
          <p:nvPr/>
        </p:nvSpPr>
        <p:spPr>
          <a:xfrm>
            <a:off x="6560820" y="3422599"/>
            <a:ext cx="859500" cy="1464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B7C8E3"/>
              </a:buClr>
              <a:buSzPts val="1060"/>
              <a:buFont typeface="Arial"/>
              <a:buNone/>
            </a:pPr>
            <a:r>
              <a:rPr b="1" i="0" lang="es" sz="1060" u="none" cap="none" strike="noStrike">
                <a:solidFill>
                  <a:srgbClr val="B7C8E3"/>
                </a:solidFill>
                <a:latin typeface="Arial"/>
                <a:ea typeface="Arial"/>
                <a:cs typeface="Arial"/>
                <a:sym typeface="Arial"/>
              </a:rPr>
              <a:t>Neutral</a:t>
            </a:r>
            <a:endParaRPr b="0" i="0" sz="1060" u="none" cap="none" strike="noStrike">
              <a:solidFill>
                <a:srgbClr val="000000"/>
              </a:solidFill>
              <a:latin typeface="Arial"/>
              <a:ea typeface="Arial"/>
              <a:cs typeface="Arial"/>
              <a:sym typeface="Arial"/>
            </a:endParaRPr>
          </a:p>
        </p:txBody>
      </p:sp>
      <p:sp>
        <p:nvSpPr>
          <p:cNvPr id="213" name="Google Shape;213;p23"/>
          <p:cNvSpPr/>
          <p:nvPr/>
        </p:nvSpPr>
        <p:spPr>
          <a:xfrm>
            <a:off x="484632" y="4050792"/>
            <a:ext cx="8174700" cy="557700"/>
          </a:xfrm>
          <a:prstGeom prst="roundRect">
            <a:avLst>
              <a:gd fmla="val 16393" name="adj"/>
            </a:avLst>
          </a:prstGeom>
          <a:solidFill>
            <a:srgbClr val="253B3C"/>
          </a:solidFill>
          <a:ln cap="flat" cmpd="sng" w="12700">
            <a:solidFill>
              <a:srgbClr val="253B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3"/>
          <p:cNvSpPr txBox="1"/>
          <p:nvPr/>
        </p:nvSpPr>
        <p:spPr>
          <a:xfrm>
            <a:off x="667512" y="4178808"/>
            <a:ext cx="914400" cy="283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960"/>
              <a:buFont typeface="Arial"/>
              <a:buNone/>
            </a:pPr>
            <a:r>
              <a:rPr b="1" i="0" lang="es" sz="960" u="none" cap="none" strike="noStrike">
                <a:solidFill>
                  <a:srgbClr val="82C7A5"/>
                </a:solidFill>
                <a:latin typeface="Arial"/>
                <a:ea typeface="Arial"/>
                <a:cs typeface="Arial"/>
                <a:sym typeface="Arial"/>
              </a:rPr>
              <a:t>OBJETIVO</a:t>
            </a:r>
            <a:endParaRPr b="0" i="0" sz="960" u="none" cap="none" strike="noStrike">
              <a:solidFill>
                <a:srgbClr val="000000"/>
              </a:solidFill>
              <a:latin typeface="Arial"/>
              <a:ea typeface="Arial"/>
              <a:cs typeface="Arial"/>
              <a:sym typeface="Arial"/>
            </a:endParaRPr>
          </a:p>
          <a:p>
            <a:pPr indent="0" lvl="0" marL="0" marR="0" rtl="0" algn="l">
              <a:spcBef>
                <a:spcPts val="0"/>
              </a:spcBef>
              <a:spcAft>
                <a:spcPts val="0"/>
              </a:spcAft>
              <a:buClr>
                <a:srgbClr val="82C7A5"/>
              </a:buClr>
              <a:buSzPts val="960"/>
              <a:buFont typeface="Arial"/>
              <a:buNone/>
            </a:pPr>
            <a:r>
              <a:rPr b="1" i="0" lang="es" sz="960" u="none" cap="none" strike="noStrike">
                <a:solidFill>
                  <a:srgbClr val="82C7A5"/>
                </a:solidFill>
                <a:latin typeface="Arial"/>
                <a:ea typeface="Arial"/>
                <a:cs typeface="Arial"/>
                <a:sym typeface="Arial"/>
              </a:rPr>
              <a:t>GENERAL</a:t>
            </a:r>
            <a:endParaRPr b="0" i="0" sz="960" u="none" cap="none" strike="noStrike">
              <a:solidFill>
                <a:srgbClr val="000000"/>
              </a:solidFill>
              <a:latin typeface="Arial"/>
              <a:ea typeface="Arial"/>
              <a:cs typeface="Arial"/>
              <a:sym typeface="Arial"/>
            </a:endParaRPr>
          </a:p>
        </p:txBody>
      </p:sp>
      <p:sp>
        <p:nvSpPr>
          <p:cNvPr id="215" name="Google Shape;215;p23"/>
          <p:cNvSpPr txBox="1"/>
          <p:nvPr/>
        </p:nvSpPr>
        <p:spPr>
          <a:xfrm>
            <a:off x="1773936" y="4169664"/>
            <a:ext cx="6611100" cy="36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20"/>
              <a:buFont typeface="Arial"/>
              <a:buNone/>
            </a:pPr>
            <a:r>
              <a:rPr b="0" i="0" lang="es" sz="1320" u="none" cap="none" strike="noStrike">
                <a:solidFill>
                  <a:srgbClr val="FFFFFF"/>
                </a:solidFill>
                <a:latin typeface="Arial"/>
                <a:ea typeface="Arial"/>
                <a:cs typeface="Arial"/>
                <a:sym typeface="Arial"/>
              </a:rPr>
              <a:t>Desarrollar y evaluar un algoritmo que clasifique el sentimiento</a:t>
            </a:r>
            <a:endParaRPr b="0" i="0" sz="1320" u="none" cap="none" strike="noStrike">
              <a:solidFill>
                <a:srgbClr val="000000"/>
              </a:solidFill>
              <a:latin typeface="Arial"/>
              <a:ea typeface="Arial"/>
              <a:cs typeface="Arial"/>
              <a:sym typeface="Arial"/>
            </a:endParaRPr>
          </a:p>
          <a:p>
            <a:pPr indent="0" lvl="0" marL="0" marR="0" rtl="0" algn="l">
              <a:spcBef>
                <a:spcPts val="0"/>
              </a:spcBef>
              <a:spcAft>
                <a:spcPts val="0"/>
              </a:spcAft>
              <a:buClr>
                <a:srgbClr val="FFFFFF"/>
              </a:buClr>
              <a:buSzPts val="1320"/>
              <a:buFont typeface="Arial"/>
              <a:buNone/>
            </a:pPr>
            <a:r>
              <a:rPr b="0" i="0" lang="es" sz="1320" u="none" cap="none" strike="noStrike">
                <a:solidFill>
                  <a:srgbClr val="FFFFFF"/>
                </a:solidFill>
                <a:latin typeface="Arial"/>
                <a:ea typeface="Arial"/>
                <a:cs typeface="Arial"/>
                <a:sym typeface="Arial"/>
              </a:rPr>
              <a:t>de textos financieros en español: positivo, neutral o negativo.</a:t>
            </a:r>
            <a:endParaRPr b="0" i="0" sz="132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grpSp>
        <p:nvGrpSpPr>
          <p:cNvPr id="220" name="Google Shape;220;p24"/>
          <p:cNvGrpSpPr/>
          <p:nvPr/>
        </p:nvGrpSpPr>
        <p:grpSpPr>
          <a:xfrm>
            <a:off x="0" y="271651"/>
            <a:ext cx="1037850" cy="1016287"/>
            <a:chOff x="0" y="381001"/>
            <a:chExt cx="1037850" cy="1016287"/>
          </a:xfrm>
        </p:grpSpPr>
        <p:sp>
          <p:nvSpPr>
            <p:cNvPr id="221" name="Google Shape;221;p2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223" name="Google Shape;223;p24"/>
          <p:cNvPicPr preferRelativeResize="0"/>
          <p:nvPr/>
        </p:nvPicPr>
        <p:blipFill>
          <a:blip r:embed="rId3">
            <a:alphaModFix/>
          </a:blip>
          <a:stretch>
            <a:fillRect/>
          </a:stretch>
        </p:blipFill>
        <p:spPr>
          <a:xfrm>
            <a:off x="6976875" y="199722"/>
            <a:ext cx="2052826" cy="757775"/>
          </a:xfrm>
          <a:prstGeom prst="rect">
            <a:avLst/>
          </a:prstGeom>
          <a:noFill/>
          <a:ln>
            <a:noFill/>
          </a:ln>
        </p:spPr>
      </p:pic>
      <p:sp>
        <p:nvSpPr>
          <p:cNvPr id="224" name="Google Shape;224;p24"/>
          <p:cNvSpPr txBox="1"/>
          <p:nvPr/>
        </p:nvSpPr>
        <p:spPr>
          <a:xfrm>
            <a:off x="1138705" y="651390"/>
            <a:ext cx="6364200" cy="47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00"/>
              <a:buFont typeface="Arial"/>
              <a:buNone/>
            </a:pPr>
            <a:r>
              <a:rPr b="1" i="0" lang="es" sz="3600" u="none" cap="none" strike="noStrike">
                <a:solidFill>
                  <a:srgbClr val="FFFFFF"/>
                </a:solidFill>
                <a:latin typeface="Arial"/>
                <a:ea typeface="Arial"/>
                <a:cs typeface="Arial"/>
                <a:sym typeface="Arial"/>
              </a:rPr>
              <a:t>JUSTIFICACIÓN</a:t>
            </a:r>
            <a:endParaRPr b="0" i="0" sz="3600" u="none" cap="none" strike="noStrike">
              <a:solidFill>
                <a:srgbClr val="000000"/>
              </a:solidFill>
              <a:latin typeface="Arial"/>
              <a:ea typeface="Arial"/>
              <a:cs typeface="Arial"/>
              <a:sym typeface="Arial"/>
            </a:endParaRPr>
          </a:p>
        </p:txBody>
      </p:sp>
      <p:cxnSp>
        <p:nvCxnSpPr>
          <p:cNvPr id="225" name="Google Shape;225;p24"/>
          <p:cNvCxnSpPr/>
          <p:nvPr/>
        </p:nvCxnSpPr>
        <p:spPr>
          <a:xfrm>
            <a:off x="507738" y="1490765"/>
            <a:ext cx="8193000" cy="0"/>
          </a:xfrm>
          <a:prstGeom prst="straightConnector1">
            <a:avLst/>
          </a:prstGeom>
          <a:noFill/>
          <a:ln cap="flat" cmpd="sng" w="10150">
            <a:solidFill>
              <a:srgbClr val="364255"/>
            </a:solidFill>
            <a:prstDash val="solid"/>
            <a:round/>
            <a:headEnd len="sm" w="sm" type="none"/>
            <a:tailEnd len="sm" w="sm" type="none"/>
          </a:ln>
        </p:spPr>
      </p:cxnSp>
      <p:sp>
        <p:nvSpPr>
          <p:cNvPr id="226" name="Google Shape;226;p24"/>
          <p:cNvSpPr txBox="1"/>
          <p:nvPr/>
        </p:nvSpPr>
        <p:spPr>
          <a:xfrm>
            <a:off x="507757" y="1537145"/>
            <a:ext cx="8193000" cy="39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900"/>
              <a:buFont typeface="Arial"/>
              <a:buNone/>
            </a:pPr>
            <a:r>
              <a:rPr b="1" i="0" lang="es" sz="1900" u="none" cap="none" strike="noStrike">
                <a:solidFill>
                  <a:srgbClr val="FFFFFF"/>
                </a:solidFill>
                <a:latin typeface="Arial"/>
                <a:ea typeface="Arial"/>
                <a:cs typeface="Arial"/>
                <a:sym typeface="Arial"/>
              </a:rPr>
              <a:t>Una tarea con valor analítico y retos propios del dominio.</a:t>
            </a:r>
            <a:endParaRPr b="0" i="0" sz="1900" u="none" cap="none" strike="noStrike">
              <a:solidFill>
                <a:srgbClr val="000000"/>
              </a:solidFill>
              <a:latin typeface="Arial"/>
              <a:ea typeface="Arial"/>
              <a:cs typeface="Arial"/>
              <a:sym typeface="Arial"/>
            </a:endParaRPr>
          </a:p>
        </p:txBody>
      </p:sp>
      <p:sp>
        <p:nvSpPr>
          <p:cNvPr id="227" name="Google Shape;227;p24"/>
          <p:cNvSpPr/>
          <p:nvPr/>
        </p:nvSpPr>
        <p:spPr>
          <a:xfrm>
            <a:off x="507757" y="2070312"/>
            <a:ext cx="3996000" cy="1161300"/>
          </a:xfrm>
          <a:prstGeom prst="roundRect">
            <a:avLst>
              <a:gd fmla="val 7874" name="adj"/>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4"/>
          <p:cNvSpPr txBox="1"/>
          <p:nvPr/>
        </p:nvSpPr>
        <p:spPr>
          <a:xfrm>
            <a:off x="672349" y="2234904"/>
            <a:ext cx="3108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600"/>
              <a:buFont typeface="Arial"/>
              <a:buNone/>
            </a:pPr>
            <a:r>
              <a:rPr b="1" i="0" lang="es" sz="1600" u="none" cap="none" strike="noStrike">
                <a:solidFill>
                  <a:srgbClr val="82C7A5"/>
                </a:solidFill>
                <a:latin typeface="Arial"/>
                <a:ea typeface="Arial"/>
                <a:cs typeface="Arial"/>
                <a:sym typeface="Arial"/>
              </a:rPr>
              <a:t>01</a:t>
            </a:r>
            <a:endParaRPr b="0" i="0" sz="1600" u="none" cap="none" strike="noStrike">
              <a:solidFill>
                <a:srgbClr val="000000"/>
              </a:solidFill>
              <a:latin typeface="Arial"/>
              <a:ea typeface="Arial"/>
              <a:cs typeface="Arial"/>
              <a:sym typeface="Arial"/>
            </a:endParaRPr>
          </a:p>
        </p:txBody>
      </p:sp>
      <p:sp>
        <p:nvSpPr>
          <p:cNvPr id="229" name="Google Shape;229;p24"/>
          <p:cNvSpPr txBox="1"/>
          <p:nvPr/>
        </p:nvSpPr>
        <p:spPr>
          <a:xfrm>
            <a:off x="1138693" y="2234904"/>
            <a:ext cx="3154800" cy="265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s" sz="1600" u="none" cap="none" strike="noStrike">
                <a:solidFill>
                  <a:srgbClr val="FFFFFF"/>
                </a:solidFill>
                <a:latin typeface="Arial"/>
                <a:ea typeface="Arial"/>
                <a:cs typeface="Arial"/>
                <a:sym typeface="Arial"/>
              </a:rPr>
              <a:t>Volumen de información</a:t>
            </a:r>
            <a:endParaRPr b="0" i="0" sz="1600" u="none" cap="none" strike="noStrike">
              <a:solidFill>
                <a:srgbClr val="000000"/>
              </a:solidFill>
              <a:latin typeface="Arial"/>
              <a:ea typeface="Arial"/>
              <a:cs typeface="Arial"/>
              <a:sym typeface="Arial"/>
            </a:endParaRPr>
          </a:p>
        </p:txBody>
      </p:sp>
      <p:sp>
        <p:nvSpPr>
          <p:cNvPr id="230" name="Google Shape;230;p24"/>
          <p:cNvSpPr txBox="1"/>
          <p:nvPr/>
        </p:nvSpPr>
        <p:spPr>
          <a:xfrm>
            <a:off x="1138693" y="2564088"/>
            <a:ext cx="3154800" cy="5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230"/>
              <a:buFont typeface="Arial"/>
              <a:buNone/>
            </a:pPr>
            <a:r>
              <a:rPr b="0" i="0" lang="es" sz="1230" u="none" cap="none" strike="noStrike">
                <a:solidFill>
                  <a:srgbClr val="C9D2DF"/>
                </a:solidFill>
                <a:latin typeface="Arial"/>
                <a:ea typeface="Arial"/>
                <a:cs typeface="Arial"/>
                <a:sym typeface="Arial"/>
              </a:rPr>
              <a:t>Se busca automatizar la clasificación de un volumen de noticias difícil de revisar manualmente.</a:t>
            </a:r>
            <a:endParaRPr b="0" i="0" sz="1230" u="none" cap="none" strike="noStrike">
              <a:solidFill>
                <a:srgbClr val="000000"/>
              </a:solidFill>
              <a:latin typeface="Arial"/>
              <a:ea typeface="Arial"/>
              <a:cs typeface="Arial"/>
              <a:sym typeface="Arial"/>
            </a:endParaRPr>
          </a:p>
        </p:txBody>
      </p:sp>
      <p:sp>
        <p:nvSpPr>
          <p:cNvPr id="231" name="Google Shape;231;p24"/>
          <p:cNvSpPr/>
          <p:nvPr/>
        </p:nvSpPr>
        <p:spPr>
          <a:xfrm>
            <a:off x="4686565" y="2070312"/>
            <a:ext cx="3996000" cy="1161300"/>
          </a:xfrm>
          <a:prstGeom prst="roundRect">
            <a:avLst>
              <a:gd fmla="val 7874" name="adj"/>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4"/>
          <p:cNvSpPr txBox="1"/>
          <p:nvPr/>
        </p:nvSpPr>
        <p:spPr>
          <a:xfrm>
            <a:off x="4851157" y="2234904"/>
            <a:ext cx="3108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600"/>
              <a:buFont typeface="Arial"/>
              <a:buNone/>
            </a:pPr>
            <a:r>
              <a:rPr b="1" i="0" lang="es" sz="1600" u="none" cap="none" strike="noStrike">
                <a:solidFill>
                  <a:srgbClr val="82C7A5"/>
                </a:solidFill>
                <a:latin typeface="Arial"/>
                <a:ea typeface="Arial"/>
                <a:cs typeface="Arial"/>
                <a:sym typeface="Arial"/>
              </a:rPr>
              <a:t>02</a:t>
            </a:r>
            <a:endParaRPr b="0" i="0" sz="1600" u="none" cap="none" strike="noStrike">
              <a:solidFill>
                <a:srgbClr val="000000"/>
              </a:solidFill>
              <a:latin typeface="Arial"/>
              <a:ea typeface="Arial"/>
              <a:cs typeface="Arial"/>
              <a:sym typeface="Arial"/>
            </a:endParaRPr>
          </a:p>
        </p:txBody>
      </p:sp>
      <p:sp>
        <p:nvSpPr>
          <p:cNvPr id="233" name="Google Shape;233;p24"/>
          <p:cNvSpPr txBox="1"/>
          <p:nvPr/>
        </p:nvSpPr>
        <p:spPr>
          <a:xfrm>
            <a:off x="5317501" y="2234904"/>
            <a:ext cx="3154800" cy="265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s" sz="1600" u="none" cap="none" strike="noStrike">
                <a:solidFill>
                  <a:srgbClr val="FFFFFF"/>
                </a:solidFill>
                <a:latin typeface="Arial"/>
                <a:ea typeface="Arial"/>
                <a:cs typeface="Arial"/>
                <a:sym typeface="Arial"/>
              </a:rPr>
              <a:t>Contexto financiero</a:t>
            </a:r>
            <a:endParaRPr b="0" i="0" sz="1600" u="none" cap="none" strike="noStrike">
              <a:solidFill>
                <a:srgbClr val="000000"/>
              </a:solidFill>
              <a:latin typeface="Arial"/>
              <a:ea typeface="Arial"/>
              <a:cs typeface="Arial"/>
              <a:sym typeface="Arial"/>
            </a:endParaRPr>
          </a:p>
        </p:txBody>
      </p:sp>
      <p:sp>
        <p:nvSpPr>
          <p:cNvPr id="234" name="Google Shape;234;p24"/>
          <p:cNvSpPr txBox="1"/>
          <p:nvPr/>
        </p:nvSpPr>
        <p:spPr>
          <a:xfrm>
            <a:off x="5317501" y="2564088"/>
            <a:ext cx="3154800" cy="5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230"/>
              <a:buFont typeface="Arial"/>
              <a:buNone/>
            </a:pPr>
            <a:r>
              <a:rPr b="0" i="0" lang="es" sz="1230" u="none" cap="none" strike="noStrike">
                <a:solidFill>
                  <a:srgbClr val="C9D2DF"/>
                </a:solidFill>
                <a:latin typeface="Arial"/>
                <a:ea typeface="Arial"/>
                <a:cs typeface="Arial"/>
                <a:sym typeface="Arial"/>
              </a:rPr>
              <a:t>Negaciones, cifras y expresiones económicas aportan señales que deben conservarse durante la limpieza.</a:t>
            </a:r>
            <a:endParaRPr b="0" i="0" sz="1230" u="none" cap="none" strike="noStrike">
              <a:solidFill>
                <a:srgbClr val="000000"/>
              </a:solidFill>
              <a:latin typeface="Arial"/>
              <a:ea typeface="Arial"/>
              <a:cs typeface="Arial"/>
              <a:sym typeface="Arial"/>
            </a:endParaRPr>
          </a:p>
        </p:txBody>
      </p:sp>
      <p:sp>
        <p:nvSpPr>
          <p:cNvPr id="235" name="Google Shape;235;p24"/>
          <p:cNvSpPr/>
          <p:nvPr/>
        </p:nvSpPr>
        <p:spPr>
          <a:xfrm>
            <a:off x="507757" y="3332184"/>
            <a:ext cx="3996000" cy="1161300"/>
          </a:xfrm>
          <a:prstGeom prst="roundRect">
            <a:avLst>
              <a:gd fmla="val 7874" name="adj"/>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nvSpPr>
        <p:spPr>
          <a:xfrm>
            <a:off x="672349" y="3496776"/>
            <a:ext cx="3108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600"/>
              <a:buFont typeface="Arial"/>
              <a:buNone/>
            </a:pPr>
            <a:r>
              <a:rPr b="1" i="0" lang="es" sz="1600" u="none" cap="none" strike="noStrike">
                <a:solidFill>
                  <a:srgbClr val="82C7A5"/>
                </a:solidFill>
                <a:latin typeface="Arial"/>
                <a:ea typeface="Arial"/>
                <a:cs typeface="Arial"/>
                <a:sym typeface="Arial"/>
              </a:rPr>
              <a:t>03</a:t>
            </a:r>
            <a:endParaRPr b="0" i="0" sz="1600" u="none" cap="none" strike="noStrike">
              <a:solidFill>
                <a:srgbClr val="000000"/>
              </a:solidFill>
              <a:latin typeface="Arial"/>
              <a:ea typeface="Arial"/>
              <a:cs typeface="Arial"/>
              <a:sym typeface="Arial"/>
            </a:endParaRPr>
          </a:p>
        </p:txBody>
      </p:sp>
      <p:sp>
        <p:nvSpPr>
          <p:cNvPr id="237" name="Google Shape;237;p24"/>
          <p:cNvSpPr txBox="1"/>
          <p:nvPr/>
        </p:nvSpPr>
        <p:spPr>
          <a:xfrm>
            <a:off x="1138693" y="3496776"/>
            <a:ext cx="3154800" cy="265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s" sz="1600" u="none" cap="none" strike="noStrike">
                <a:solidFill>
                  <a:srgbClr val="FFFFFF"/>
                </a:solidFill>
                <a:latin typeface="Arial"/>
                <a:ea typeface="Arial"/>
                <a:cs typeface="Arial"/>
                <a:sym typeface="Arial"/>
              </a:rPr>
              <a:t>Utilidad para el análisis</a:t>
            </a:r>
            <a:endParaRPr b="0" i="0" sz="1600" u="none" cap="none" strike="noStrike">
              <a:solidFill>
                <a:srgbClr val="000000"/>
              </a:solidFill>
              <a:latin typeface="Arial"/>
              <a:ea typeface="Arial"/>
              <a:cs typeface="Arial"/>
              <a:sym typeface="Arial"/>
            </a:endParaRPr>
          </a:p>
        </p:txBody>
      </p:sp>
      <p:sp>
        <p:nvSpPr>
          <p:cNvPr id="238" name="Google Shape;238;p24"/>
          <p:cNvSpPr txBox="1"/>
          <p:nvPr/>
        </p:nvSpPr>
        <p:spPr>
          <a:xfrm>
            <a:off x="1138693" y="3825960"/>
            <a:ext cx="3154800" cy="5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230"/>
              <a:buFont typeface="Arial"/>
              <a:buNone/>
            </a:pPr>
            <a:r>
              <a:rPr b="0" i="0" lang="es" sz="1230" u="none" cap="none" strike="noStrike">
                <a:solidFill>
                  <a:srgbClr val="C9D2DF"/>
                </a:solidFill>
                <a:latin typeface="Arial"/>
                <a:ea typeface="Arial"/>
                <a:cs typeface="Arial"/>
                <a:sym typeface="Arial"/>
              </a:rPr>
              <a:t>Clasificar por sentimiento puede apoyar la revisión de noticias y el análisis de información económica.</a:t>
            </a:r>
            <a:endParaRPr b="0" i="0" sz="1230" u="none" cap="none" strike="noStrike">
              <a:solidFill>
                <a:srgbClr val="000000"/>
              </a:solidFill>
              <a:latin typeface="Arial"/>
              <a:ea typeface="Arial"/>
              <a:cs typeface="Arial"/>
              <a:sym typeface="Arial"/>
            </a:endParaRPr>
          </a:p>
        </p:txBody>
      </p:sp>
      <p:sp>
        <p:nvSpPr>
          <p:cNvPr id="239" name="Google Shape;239;p24"/>
          <p:cNvSpPr/>
          <p:nvPr/>
        </p:nvSpPr>
        <p:spPr>
          <a:xfrm>
            <a:off x="4686565" y="3332184"/>
            <a:ext cx="3996000" cy="1161300"/>
          </a:xfrm>
          <a:prstGeom prst="roundRect">
            <a:avLst>
              <a:gd fmla="val 7874" name="adj"/>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4"/>
          <p:cNvSpPr txBox="1"/>
          <p:nvPr/>
        </p:nvSpPr>
        <p:spPr>
          <a:xfrm>
            <a:off x="4851157" y="3496776"/>
            <a:ext cx="3108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600"/>
              <a:buFont typeface="Arial"/>
              <a:buNone/>
            </a:pPr>
            <a:r>
              <a:rPr b="1" i="0" lang="es" sz="1600" u="none" cap="none" strike="noStrike">
                <a:solidFill>
                  <a:srgbClr val="82C7A5"/>
                </a:solidFill>
                <a:latin typeface="Arial"/>
                <a:ea typeface="Arial"/>
                <a:cs typeface="Arial"/>
                <a:sym typeface="Arial"/>
              </a:rPr>
              <a:t>04</a:t>
            </a:r>
            <a:endParaRPr b="0" i="0" sz="1600" u="none" cap="none" strike="noStrike">
              <a:solidFill>
                <a:srgbClr val="000000"/>
              </a:solidFill>
              <a:latin typeface="Arial"/>
              <a:ea typeface="Arial"/>
              <a:cs typeface="Arial"/>
              <a:sym typeface="Arial"/>
            </a:endParaRPr>
          </a:p>
        </p:txBody>
      </p:sp>
      <p:sp>
        <p:nvSpPr>
          <p:cNvPr id="241" name="Google Shape;241;p24"/>
          <p:cNvSpPr txBox="1"/>
          <p:nvPr/>
        </p:nvSpPr>
        <p:spPr>
          <a:xfrm>
            <a:off x="5317501" y="3496776"/>
            <a:ext cx="3154800" cy="265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600"/>
              <a:buFont typeface="Arial"/>
              <a:buNone/>
            </a:pPr>
            <a:r>
              <a:rPr b="1" i="0" lang="es" sz="1600" u="none" cap="none" strike="noStrike">
                <a:solidFill>
                  <a:srgbClr val="FFFFFF"/>
                </a:solidFill>
                <a:latin typeface="Arial"/>
                <a:ea typeface="Arial"/>
                <a:cs typeface="Arial"/>
                <a:sym typeface="Arial"/>
              </a:rPr>
              <a:t>Viabilidad técnica</a:t>
            </a:r>
            <a:endParaRPr b="0" i="0" sz="1600" u="none" cap="none" strike="noStrike">
              <a:solidFill>
                <a:srgbClr val="000000"/>
              </a:solidFill>
              <a:latin typeface="Arial"/>
              <a:ea typeface="Arial"/>
              <a:cs typeface="Arial"/>
              <a:sym typeface="Arial"/>
            </a:endParaRPr>
          </a:p>
        </p:txBody>
      </p:sp>
      <p:sp>
        <p:nvSpPr>
          <p:cNvPr id="242" name="Google Shape;242;p24"/>
          <p:cNvSpPr txBox="1"/>
          <p:nvPr/>
        </p:nvSpPr>
        <p:spPr>
          <a:xfrm>
            <a:off x="5317501" y="3825960"/>
            <a:ext cx="3154800" cy="5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230"/>
              <a:buFont typeface="Arial"/>
              <a:buNone/>
            </a:pPr>
            <a:r>
              <a:rPr b="0" i="0" lang="es" sz="1230" u="none" cap="none" strike="noStrike">
                <a:solidFill>
                  <a:srgbClr val="C9D2DF"/>
                </a:solidFill>
                <a:latin typeface="Arial"/>
                <a:ea typeface="Arial"/>
                <a:cs typeface="Arial"/>
                <a:sym typeface="Arial"/>
              </a:rPr>
              <a:t>Un corpus etiquetado permite comparar modelos supervisados y priorizar eficiencia e interpretabilidad.</a:t>
            </a:r>
            <a:endParaRPr b="0" i="0" sz="1230" u="none" cap="none" strike="noStrike">
              <a:solidFill>
                <a:srgbClr val="000000"/>
              </a:solidFill>
              <a:latin typeface="Arial"/>
              <a:ea typeface="Arial"/>
              <a:cs typeface="Arial"/>
              <a:sym typeface="Arial"/>
            </a:endParaRPr>
          </a:p>
        </p:txBody>
      </p:sp>
      <p:sp>
        <p:nvSpPr>
          <p:cNvPr id="243" name="Google Shape;243;p24"/>
          <p:cNvSpPr txBox="1"/>
          <p:nvPr/>
        </p:nvSpPr>
        <p:spPr>
          <a:xfrm>
            <a:off x="516901" y="4685496"/>
            <a:ext cx="8156400" cy="20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220"/>
              <a:buFont typeface="Arial"/>
              <a:buNone/>
            </a:pPr>
            <a:r>
              <a:rPr b="1" i="0" lang="es" sz="1220" u="none" cap="none" strike="noStrike">
                <a:solidFill>
                  <a:srgbClr val="82C7A5"/>
                </a:solidFill>
                <a:latin typeface="Arial"/>
                <a:ea typeface="Arial"/>
                <a:cs typeface="Arial"/>
                <a:sym typeface="Arial"/>
              </a:rPr>
              <a:t>Valor esperado: </a:t>
            </a:r>
            <a:r>
              <a:rPr b="0" i="0" lang="es" sz="1220" u="none" cap="none" strike="noStrike">
                <a:solidFill>
                  <a:srgbClr val="FFFFFF"/>
                </a:solidFill>
                <a:latin typeface="Arial"/>
                <a:ea typeface="Arial"/>
                <a:cs typeface="Arial"/>
                <a:sym typeface="Arial"/>
              </a:rPr>
              <a:t>apoyar el análisis de noticias económicas escritas en español.</a:t>
            </a:r>
            <a:endParaRPr b="0" i="0" sz="122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7" name="Shape 247"/>
        <p:cNvGrpSpPr/>
        <p:nvPr/>
      </p:nvGrpSpPr>
      <p:grpSpPr>
        <a:xfrm>
          <a:off x="0" y="0"/>
          <a:ext cx="0" cy="0"/>
          <a:chOff x="0" y="0"/>
          <a:chExt cx="0" cy="0"/>
        </a:xfrm>
      </p:grpSpPr>
      <p:grpSp>
        <p:nvGrpSpPr>
          <p:cNvPr id="248" name="Google Shape;248;p25"/>
          <p:cNvGrpSpPr/>
          <p:nvPr/>
        </p:nvGrpSpPr>
        <p:grpSpPr>
          <a:xfrm>
            <a:off x="0" y="381001"/>
            <a:ext cx="1037850" cy="1016288"/>
            <a:chOff x="0" y="381001"/>
            <a:chExt cx="1037850" cy="1016288"/>
          </a:xfrm>
        </p:grpSpPr>
        <p:sp>
          <p:nvSpPr>
            <p:cNvPr id="249" name="Google Shape;249;p2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5"/>
            <p:cNvSpPr/>
            <p:nvPr/>
          </p:nvSpPr>
          <p:spPr>
            <a:xfrm rot="-5400000">
              <a:off x="0" y="381001"/>
              <a:ext cx="808800" cy="808800"/>
            </a:xfrm>
            <a:prstGeom prst="rect">
              <a:avLst/>
            </a:prstGeom>
            <a:solidFill>
              <a:srgbClr val="0145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25"/>
            <p:cNvSpPr/>
            <p:nvPr/>
          </p:nvSpPr>
          <p:spPr>
            <a:xfrm>
              <a:off x="229050" y="588489"/>
              <a:ext cx="808800" cy="808800"/>
            </a:xfrm>
            <a:prstGeom prst="rect">
              <a:avLst/>
            </a:prstGeom>
            <a:solidFill>
              <a:srgbClr val="82C7A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253" name="Google Shape;253;p25"/>
          <p:cNvPicPr preferRelativeResize="0"/>
          <p:nvPr/>
        </p:nvPicPr>
        <p:blipFill rotWithShape="1">
          <a:blip r:embed="rId4">
            <a:alphaModFix/>
          </a:blip>
          <a:srcRect b="0" l="0" r="0" t="0"/>
          <a:stretch/>
        </p:blipFill>
        <p:spPr>
          <a:xfrm>
            <a:off x="6976872" y="199722"/>
            <a:ext cx="2052900" cy="757800"/>
          </a:xfrm>
          <a:prstGeom prst="rect">
            <a:avLst/>
          </a:prstGeom>
          <a:noFill/>
          <a:ln>
            <a:noFill/>
          </a:ln>
        </p:spPr>
      </p:pic>
      <p:sp>
        <p:nvSpPr>
          <p:cNvPr id="254" name="Google Shape;254;p25"/>
          <p:cNvSpPr txBox="1"/>
          <p:nvPr/>
        </p:nvSpPr>
        <p:spPr>
          <a:xfrm>
            <a:off x="1235868" y="692915"/>
            <a:ext cx="6364200" cy="47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00"/>
              <a:buFont typeface="Arial"/>
              <a:buNone/>
            </a:pPr>
            <a:r>
              <a:rPr b="1" i="0" lang="es" sz="3600" u="none" cap="none" strike="noStrike">
                <a:solidFill>
                  <a:srgbClr val="FFFFFF"/>
                </a:solidFill>
                <a:latin typeface="Arial"/>
                <a:ea typeface="Arial"/>
                <a:cs typeface="Arial"/>
                <a:sym typeface="Arial"/>
              </a:rPr>
              <a:t>ALCANCE</a:t>
            </a:r>
            <a:endParaRPr b="0" i="0" sz="3600" u="none" cap="none" strike="noStrike">
              <a:solidFill>
                <a:srgbClr val="000000"/>
              </a:solidFill>
              <a:latin typeface="Arial"/>
              <a:ea typeface="Arial"/>
              <a:cs typeface="Arial"/>
              <a:sym typeface="Arial"/>
            </a:endParaRPr>
          </a:p>
        </p:txBody>
      </p:sp>
      <p:cxnSp>
        <p:nvCxnSpPr>
          <p:cNvPr id="255" name="Google Shape;255;p25"/>
          <p:cNvCxnSpPr/>
          <p:nvPr/>
        </p:nvCxnSpPr>
        <p:spPr>
          <a:xfrm>
            <a:off x="475500" y="1513840"/>
            <a:ext cx="8193000" cy="0"/>
          </a:xfrm>
          <a:prstGeom prst="straightConnector1">
            <a:avLst/>
          </a:prstGeom>
          <a:noFill/>
          <a:ln cap="flat" cmpd="sng" w="10150">
            <a:solidFill>
              <a:srgbClr val="364255"/>
            </a:solidFill>
            <a:prstDash val="solid"/>
            <a:round/>
            <a:headEnd len="sm" w="sm" type="none"/>
            <a:tailEnd len="sm" w="sm" type="none"/>
          </a:ln>
        </p:spPr>
      </p:cxnSp>
      <p:sp>
        <p:nvSpPr>
          <p:cNvPr id="256" name="Google Shape;256;p25"/>
          <p:cNvSpPr txBox="1"/>
          <p:nvPr/>
        </p:nvSpPr>
        <p:spPr>
          <a:xfrm>
            <a:off x="466419" y="1598258"/>
            <a:ext cx="8193000" cy="39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900"/>
              <a:buFont typeface="Arial"/>
              <a:buNone/>
            </a:pPr>
            <a:r>
              <a:rPr b="1" i="0" lang="es" sz="1900" u="none" cap="none" strike="noStrike">
                <a:solidFill>
                  <a:srgbClr val="FFFFFF"/>
                </a:solidFill>
                <a:latin typeface="Arial"/>
                <a:ea typeface="Arial"/>
                <a:cs typeface="Arial"/>
                <a:sym typeface="Arial"/>
              </a:rPr>
              <a:t>Datos y actividades cubiertas</a:t>
            </a:r>
            <a:endParaRPr b="0" i="0" sz="1900" u="none" cap="none" strike="noStrike">
              <a:solidFill>
                <a:srgbClr val="000000"/>
              </a:solidFill>
              <a:latin typeface="Arial"/>
              <a:ea typeface="Arial"/>
              <a:cs typeface="Arial"/>
              <a:sym typeface="Arial"/>
            </a:endParaRPr>
          </a:p>
        </p:txBody>
      </p:sp>
      <p:cxnSp>
        <p:nvCxnSpPr>
          <p:cNvPr id="257" name="Google Shape;257;p25"/>
          <p:cNvCxnSpPr/>
          <p:nvPr/>
        </p:nvCxnSpPr>
        <p:spPr>
          <a:xfrm>
            <a:off x="470925" y="5027168"/>
            <a:ext cx="8193000" cy="0"/>
          </a:xfrm>
          <a:prstGeom prst="straightConnector1">
            <a:avLst/>
          </a:prstGeom>
          <a:noFill/>
          <a:ln cap="flat" cmpd="sng" w="9525">
            <a:solidFill>
              <a:srgbClr val="364255"/>
            </a:solidFill>
            <a:prstDash val="solid"/>
            <a:round/>
            <a:headEnd len="sm" w="sm" type="none"/>
            <a:tailEnd len="sm" w="sm" type="none"/>
          </a:ln>
        </p:spPr>
      </p:cxnSp>
      <p:sp>
        <p:nvSpPr>
          <p:cNvPr id="258" name="Google Shape;258;p25"/>
          <p:cNvSpPr/>
          <p:nvPr/>
        </p:nvSpPr>
        <p:spPr>
          <a:xfrm>
            <a:off x="480070" y="2018792"/>
            <a:ext cx="8174700" cy="932700"/>
          </a:xfrm>
          <a:prstGeom prst="roundRect">
            <a:avLst>
              <a:gd fmla="val 9804" name="adj"/>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5"/>
          <p:cNvSpPr txBox="1"/>
          <p:nvPr/>
        </p:nvSpPr>
        <p:spPr>
          <a:xfrm>
            <a:off x="662949" y="2192528"/>
            <a:ext cx="3566100" cy="155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980"/>
              <a:buFont typeface="Arial"/>
              <a:buNone/>
            </a:pPr>
            <a:r>
              <a:rPr b="1" i="0" lang="es" sz="980" u="none" cap="none" strike="noStrike">
                <a:solidFill>
                  <a:srgbClr val="82C7A5"/>
                </a:solidFill>
                <a:latin typeface="Arial"/>
                <a:ea typeface="Arial"/>
                <a:cs typeface="Arial"/>
                <a:sym typeface="Arial"/>
              </a:rPr>
              <a:t>CORPUS DE TRABAJO</a:t>
            </a:r>
            <a:endParaRPr b="0" i="0" sz="980" u="none" cap="none" strike="noStrike">
              <a:solidFill>
                <a:srgbClr val="000000"/>
              </a:solidFill>
              <a:latin typeface="Arial"/>
              <a:ea typeface="Arial"/>
              <a:cs typeface="Arial"/>
              <a:sym typeface="Arial"/>
            </a:endParaRPr>
          </a:p>
        </p:txBody>
      </p:sp>
      <p:sp>
        <p:nvSpPr>
          <p:cNvPr id="260" name="Google Shape;260;p25"/>
          <p:cNvSpPr txBox="1"/>
          <p:nvPr/>
        </p:nvSpPr>
        <p:spPr>
          <a:xfrm>
            <a:off x="662949" y="2421128"/>
            <a:ext cx="3684900" cy="21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10"/>
              <a:buFont typeface="Arial"/>
              <a:buNone/>
            </a:pPr>
            <a:r>
              <a:rPr b="1" i="0" lang="es" sz="1510" u="none" cap="none" strike="noStrike">
                <a:solidFill>
                  <a:srgbClr val="FFFFFF"/>
                </a:solidFill>
                <a:latin typeface="Arial"/>
                <a:ea typeface="Arial"/>
                <a:cs typeface="Arial"/>
                <a:sym typeface="Arial"/>
              </a:rPr>
              <a:t>Multilingual Financial Sentiment</a:t>
            </a:r>
            <a:endParaRPr b="0" i="0" sz="1510" u="none" cap="none" strike="noStrike">
              <a:solidFill>
                <a:srgbClr val="000000"/>
              </a:solidFill>
              <a:latin typeface="Arial"/>
              <a:ea typeface="Arial"/>
              <a:cs typeface="Arial"/>
              <a:sym typeface="Arial"/>
            </a:endParaRPr>
          </a:p>
        </p:txBody>
      </p:sp>
      <p:sp>
        <p:nvSpPr>
          <p:cNvPr id="261" name="Google Shape;261;p25"/>
          <p:cNvSpPr txBox="1"/>
          <p:nvPr/>
        </p:nvSpPr>
        <p:spPr>
          <a:xfrm>
            <a:off x="662949" y="2722880"/>
            <a:ext cx="3886200" cy="12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9D2DF"/>
              </a:buClr>
              <a:buSzPts val="1040"/>
              <a:buFont typeface="Arial"/>
              <a:buNone/>
            </a:pPr>
            <a:r>
              <a:rPr b="0" i="0" lang="es" sz="1040" u="none" cap="none" strike="noStrike">
                <a:solidFill>
                  <a:srgbClr val="C9D2DF"/>
                </a:solidFill>
                <a:latin typeface="Arial"/>
                <a:ea typeface="Arial"/>
                <a:cs typeface="Arial"/>
                <a:sym typeface="Arial"/>
              </a:rPr>
              <a:t>Hugging Face · Oraciones y titulares financieros</a:t>
            </a:r>
            <a:endParaRPr b="0" i="0" sz="1040" u="none" cap="none" strike="noStrike">
              <a:solidFill>
                <a:srgbClr val="000000"/>
              </a:solidFill>
              <a:latin typeface="Arial"/>
              <a:ea typeface="Arial"/>
              <a:cs typeface="Arial"/>
              <a:sym typeface="Arial"/>
            </a:endParaRPr>
          </a:p>
        </p:txBody>
      </p:sp>
      <p:cxnSp>
        <p:nvCxnSpPr>
          <p:cNvPr id="262" name="Google Shape;262;p25"/>
          <p:cNvCxnSpPr/>
          <p:nvPr/>
        </p:nvCxnSpPr>
        <p:spPr>
          <a:xfrm>
            <a:off x="4649734" y="2201672"/>
            <a:ext cx="0" cy="567000"/>
          </a:xfrm>
          <a:prstGeom prst="straightConnector1">
            <a:avLst/>
          </a:prstGeom>
          <a:noFill/>
          <a:ln cap="flat" cmpd="sng" w="10150">
            <a:solidFill>
              <a:srgbClr val="364255"/>
            </a:solidFill>
            <a:prstDash val="solid"/>
            <a:round/>
            <a:headEnd len="sm" w="sm" type="none"/>
            <a:tailEnd len="sm" w="sm" type="none"/>
          </a:ln>
        </p:spPr>
      </p:cxnSp>
      <p:sp>
        <p:nvSpPr>
          <p:cNvPr id="263" name="Google Shape;263;p25"/>
          <p:cNvSpPr txBox="1"/>
          <p:nvPr/>
        </p:nvSpPr>
        <p:spPr>
          <a:xfrm>
            <a:off x="4850902" y="2183384"/>
            <a:ext cx="932700" cy="320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2C7A5"/>
              </a:buClr>
              <a:buSzPts val="2550"/>
              <a:buFont typeface="Arial"/>
              <a:buNone/>
            </a:pPr>
            <a:r>
              <a:rPr b="1" i="0" lang="es" sz="2550" u="none" cap="none" strike="noStrike">
                <a:solidFill>
                  <a:srgbClr val="82C7A5"/>
                </a:solidFill>
                <a:latin typeface="Arial"/>
                <a:ea typeface="Arial"/>
                <a:cs typeface="Arial"/>
                <a:sym typeface="Arial"/>
              </a:rPr>
              <a:t>7.125</a:t>
            </a:r>
            <a:endParaRPr b="0" i="0" sz="2550" u="none" cap="none" strike="noStrike">
              <a:solidFill>
                <a:srgbClr val="000000"/>
              </a:solidFill>
              <a:latin typeface="Arial"/>
              <a:ea typeface="Arial"/>
              <a:cs typeface="Arial"/>
              <a:sym typeface="Arial"/>
            </a:endParaRPr>
          </a:p>
        </p:txBody>
      </p:sp>
      <p:sp>
        <p:nvSpPr>
          <p:cNvPr id="264" name="Google Shape;264;p25"/>
          <p:cNvSpPr txBox="1"/>
          <p:nvPr/>
        </p:nvSpPr>
        <p:spPr>
          <a:xfrm>
            <a:off x="4750318" y="2668016"/>
            <a:ext cx="1161300" cy="16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9D2DF"/>
              </a:buClr>
              <a:buSzPts val="950"/>
              <a:buFont typeface="Arial"/>
              <a:buNone/>
            </a:pPr>
            <a:r>
              <a:rPr b="0" i="0" lang="es" sz="950" u="none" cap="none" strike="noStrike">
                <a:solidFill>
                  <a:srgbClr val="C9D2DF"/>
                </a:solidFill>
                <a:latin typeface="Arial"/>
                <a:ea typeface="Arial"/>
                <a:cs typeface="Arial"/>
                <a:sym typeface="Arial"/>
              </a:rPr>
              <a:t>textos en español</a:t>
            </a:r>
            <a:endParaRPr b="0" i="0" sz="950" u="none" cap="none" strike="noStrike">
              <a:solidFill>
                <a:srgbClr val="000000"/>
              </a:solidFill>
              <a:latin typeface="Arial"/>
              <a:ea typeface="Arial"/>
              <a:cs typeface="Arial"/>
              <a:sym typeface="Arial"/>
            </a:endParaRPr>
          </a:p>
        </p:txBody>
      </p:sp>
      <p:sp>
        <p:nvSpPr>
          <p:cNvPr id="265" name="Google Shape;265;p25"/>
          <p:cNvSpPr txBox="1"/>
          <p:nvPr/>
        </p:nvSpPr>
        <p:spPr>
          <a:xfrm>
            <a:off x="6195070" y="2183384"/>
            <a:ext cx="932700" cy="320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82C7A5"/>
              </a:buClr>
              <a:buSzPts val="2550"/>
              <a:buFont typeface="Arial"/>
              <a:buNone/>
            </a:pPr>
            <a:r>
              <a:rPr b="1" i="0" lang="es" sz="2550" u="none" cap="none" strike="noStrike">
                <a:solidFill>
                  <a:srgbClr val="82C7A5"/>
                </a:solidFill>
                <a:latin typeface="Arial"/>
                <a:ea typeface="Arial"/>
                <a:cs typeface="Arial"/>
                <a:sym typeface="Arial"/>
              </a:rPr>
              <a:t>14</a:t>
            </a:r>
            <a:endParaRPr b="0" i="0" sz="2550" u="none" cap="none" strike="noStrike">
              <a:solidFill>
                <a:srgbClr val="000000"/>
              </a:solidFill>
              <a:latin typeface="Arial"/>
              <a:ea typeface="Arial"/>
              <a:cs typeface="Arial"/>
              <a:sym typeface="Arial"/>
            </a:endParaRPr>
          </a:p>
        </p:txBody>
      </p:sp>
      <p:sp>
        <p:nvSpPr>
          <p:cNvPr id="266" name="Google Shape;266;p25"/>
          <p:cNvSpPr txBox="1"/>
          <p:nvPr/>
        </p:nvSpPr>
        <p:spPr>
          <a:xfrm>
            <a:off x="6094486" y="2668016"/>
            <a:ext cx="1161300" cy="164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C9D2DF"/>
              </a:buClr>
              <a:buSzPts val="950"/>
              <a:buFont typeface="Arial"/>
              <a:buNone/>
            </a:pPr>
            <a:r>
              <a:rPr b="0" i="0" lang="es" sz="950" u="none" cap="none" strike="noStrike">
                <a:solidFill>
                  <a:srgbClr val="C9D2DF"/>
                </a:solidFill>
                <a:latin typeface="Arial"/>
                <a:ea typeface="Arial"/>
                <a:cs typeface="Arial"/>
                <a:sym typeface="Arial"/>
              </a:rPr>
              <a:t>fuentes en español</a:t>
            </a:r>
            <a:endParaRPr b="0" i="0" sz="950" u="none" cap="none" strike="noStrike">
              <a:solidFill>
                <a:srgbClr val="000000"/>
              </a:solidFill>
              <a:latin typeface="Arial"/>
              <a:ea typeface="Arial"/>
              <a:cs typeface="Arial"/>
              <a:sym typeface="Arial"/>
            </a:endParaRPr>
          </a:p>
        </p:txBody>
      </p:sp>
      <p:sp>
        <p:nvSpPr>
          <p:cNvPr id="267" name="Google Shape;267;p25"/>
          <p:cNvSpPr txBox="1"/>
          <p:nvPr/>
        </p:nvSpPr>
        <p:spPr>
          <a:xfrm>
            <a:off x="489214" y="3161792"/>
            <a:ext cx="8147400" cy="14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980"/>
              <a:buFont typeface="Arial"/>
              <a:buNone/>
            </a:pPr>
            <a:r>
              <a:rPr b="1" i="0" lang="es" sz="980" u="none" cap="none" strike="noStrike">
                <a:solidFill>
                  <a:srgbClr val="82C7A5"/>
                </a:solidFill>
                <a:latin typeface="Arial"/>
                <a:ea typeface="Arial"/>
                <a:cs typeface="Arial"/>
                <a:sym typeface="Arial"/>
              </a:rPr>
              <a:t>CUATRO ENTREGAS BAJO LA METODOLOGÍA CRISP-DM</a:t>
            </a:r>
            <a:endParaRPr b="0" i="0" sz="980" u="none" cap="none" strike="noStrike">
              <a:solidFill>
                <a:srgbClr val="000000"/>
              </a:solidFill>
              <a:latin typeface="Arial"/>
              <a:ea typeface="Arial"/>
              <a:cs typeface="Arial"/>
              <a:sym typeface="Arial"/>
            </a:endParaRPr>
          </a:p>
        </p:txBody>
      </p:sp>
      <p:sp>
        <p:nvSpPr>
          <p:cNvPr id="268" name="Google Shape;268;p25"/>
          <p:cNvSpPr/>
          <p:nvPr/>
        </p:nvSpPr>
        <p:spPr>
          <a:xfrm>
            <a:off x="480070" y="3436112"/>
            <a:ext cx="1920300" cy="1234500"/>
          </a:xfrm>
          <a:prstGeom prst="roundRect">
            <a:avLst>
              <a:gd fmla="val 7407" name="adj"/>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5"/>
          <p:cNvSpPr/>
          <p:nvPr/>
        </p:nvSpPr>
        <p:spPr>
          <a:xfrm>
            <a:off x="480070" y="3436112"/>
            <a:ext cx="1920300" cy="32100"/>
          </a:xfrm>
          <a:prstGeom prst="rect">
            <a:avLst/>
          </a:prstGeom>
          <a:solidFill>
            <a:srgbClr val="0145AC"/>
          </a:solidFill>
          <a:ln cap="flat" cmpd="sng" w="12700">
            <a:solidFill>
              <a:srgbClr val="0145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5"/>
          <p:cNvSpPr txBox="1"/>
          <p:nvPr/>
        </p:nvSpPr>
        <p:spPr>
          <a:xfrm>
            <a:off x="608086" y="3582416"/>
            <a:ext cx="1664100" cy="12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910"/>
              <a:buFont typeface="Arial"/>
              <a:buNone/>
            </a:pPr>
            <a:r>
              <a:rPr b="1" i="0" lang="es" sz="910" u="none" cap="none" strike="noStrike">
                <a:solidFill>
                  <a:srgbClr val="82C7A5"/>
                </a:solidFill>
                <a:latin typeface="Arial"/>
                <a:ea typeface="Arial"/>
                <a:cs typeface="Arial"/>
                <a:sym typeface="Arial"/>
              </a:rPr>
              <a:t>FASE 1</a:t>
            </a:r>
            <a:endParaRPr b="0" i="0" sz="910" u="none" cap="none" strike="noStrike">
              <a:solidFill>
                <a:srgbClr val="000000"/>
              </a:solidFill>
              <a:latin typeface="Arial"/>
              <a:ea typeface="Arial"/>
              <a:cs typeface="Arial"/>
              <a:sym typeface="Arial"/>
            </a:endParaRPr>
          </a:p>
        </p:txBody>
      </p:sp>
      <p:sp>
        <p:nvSpPr>
          <p:cNvPr id="271" name="Google Shape;271;p25"/>
          <p:cNvSpPr txBox="1"/>
          <p:nvPr/>
        </p:nvSpPr>
        <p:spPr>
          <a:xfrm>
            <a:off x="608086" y="3801872"/>
            <a:ext cx="16641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s" sz="1200" u="none" cap="none" strike="noStrike">
                <a:solidFill>
                  <a:srgbClr val="FFFFFF"/>
                </a:solidFill>
                <a:latin typeface="Arial"/>
                <a:ea typeface="Arial"/>
                <a:cs typeface="Arial"/>
                <a:sym typeface="Arial"/>
              </a:rPr>
              <a:t>Negocio y corpus</a:t>
            </a:r>
            <a:endParaRPr b="0" i="0" sz="1200" u="none" cap="none" strike="noStrike">
              <a:solidFill>
                <a:srgbClr val="000000"/>
              </a:solidFill>
              <a:latin typeface="Arial"/>
              <a:ea typeface="Arial"/>
              <a:cs typeface="Arial"/>
              <a:sym typeface="Arial"/>
            </a:endParaRPr>
          </a:p>
        </p:txBody>
      </p:sp>
      <p:sp>
        <p:nvSpPr>
          <p:cNvPr id="272" name="Google Shape;272;p25"/>
          <p:cNvSpPr txBox="1"/>
          <p:nvPr/>
        </p:nvSpPr>
        <p:spPr>
          <a:xfrm>
            <a:off x="608086" y="4121912"/>
            <a:ext cx="1664100" cy="47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060"/>
              <a:buFont typeface="Arial"/>
              <a:buNone/>
            </a:pPr>
            <a:r>
              <a:rPr b="0" i="0" lang="es" sz="1060" u="none" cap="none" strike="noStrike">
                <a:solidFill>
                  <a:srgbClr val="C9D2DF"/>
                </a:solidFill>
                <a:latin typeface="Arial"/>
                <a:ea typeface="Arial"/>
                <a:cs typeface="Arial"/>
                <a:sym typeface="Arial"/>
              </a:rPr>
              <a:t>Problema, objetivos y selección de textos.</a:t>
            </a:r>
            <a:endParaRPr b="0" i="0" sz="1060" u="none" cap="none" strike="noStrike">
              <a:solidFill>
                <a:srgbClr val="000000"/>
              </a:solidFill>
              <a:latin typeface="Arial"/>
              <a:ea typeface="Arial"/>
              <a:cs typeface="Arial"/>
              <a:sym typeface="Arial"/>
            </a:endParaRPr>
          </a:p>
        </p:txBody>
      </p:sp>
      <p:sp>
        <p:nvSpPr>
          <p:cNvPr id="273" name="Google Shape;273;p25"/>
          <p:cNvSpPr/>
          <p:nvPr/>
        </p:nvSpPr>
        <p:spPr>
          <a:xfrm>
            <a:off x="2564902" y="3436112"/>
            <a:ext cx="1920300" cy="1234500"/>
          </a:xfrm>
          <a:prstGeom prst="roundRect">
            <a:avLst>
              <a:gd fmla="val 7407" name="adj"/>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5"/>
          <p:cNvSpPr/>
          <p:nvPr/>
        </p:nvSpPr>
        <p:spPr>
          <a:xfrm>
            <a:off x="2564902" y="3436112"/>
            <a:ext cx="1920300" cy="32100"/>
          </a:xfrm>
          <a:prstGeom prst="rect">
            <a:avLst/>
          </a:prstGeom>
          <a:solidFill>
            <a:srgbClr val="0145AC"/>
          </a:solidFill>
          <a:ln cap="flat" cmpd="sng" w="12700">
            <a:solidFill>
              <a:srgbClr val="0145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5"/>
          <p:cNvSpPr txBox="1"/>
          <p:nvPr/>
        </p:nvSpPr>
        <p:spPr>
          <a:xfrm>
            <a:off x="2692918" y="3582416"/>
            <a:ext cx="1664100" cy="12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910"/>
              <a:buFont typeface="Arial"/>
              <a:buNone/>
            </a:pPr>
            <a:r>
              <a:rPr b="1" i="0" lang="es" sz="910" u="none" cap="none" strike="noStrike">
                <a:solidFill>
                  <a:srgbClr val="82C7A5"/>
                </a:solidFill>
                <a:latin typeface="Arial"/>
                <a:ea typeface="Arial"/>
                <a:cs typeface="Arial"/>
                <a:sym typeface="Arial"/>
              </a:rPr>
              <a:t>FASE 2</a:t>
            </a:r>
            <a:endParaRPr b="0" i="0" sz="910" u="none" cap="none" strike="noStrike">
              <a:solidFill>
                <a:srgbClr val="000000"/>
              </a:solidFill>
              <a:latin typeface="Arial"/>
              <a:ea typeface="Arial"/>
              <a:cs typeface="Arial"/>
              <a:sym typeface="Arial"/>
            </a:endParaRPr>
          </a:p>
        </p:txBody>
      </p:sp>
      <p:sp>
        <p:nvSpPr>
          <p:cNvPr id="276" name="Google Shape;276;p25"/>
          <p:cNvSpPr txBox="1"/>
          <p:nvPr/>
        </p:nvSpPr>
        <p:spPr>
          <a:xfrm>
            <a:off x="2692918" y="3801872"/>
            <a:ext cx="16641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s" sz="1200" u="none" cap="none" strike="noStrike">
                <a:solidFill>
                  <a:srgbClr val="FFFFFF"/>
                </a:solidFill>
                <a:latin typeface="Arial"/>
                <a:ea typeface="Arial"/>
                <a:cs typeface="Arial"/>
                <a:sym typeface="Arial"/>
              </a:rPr>
              <a:t>Preparación</a:t>
            </a:r>
            <a:endParaRPr b="0" i="0" sz="1200" u="none" cap="none" strike="noStrike">
              <a:solidFill>
                <a:srgbClr val="000000"/>
              </a:solidFill>
              <a:latin typeface="Arial"/>
              <a:ea typeface="Arial"/>
              <a:cs typeface="Arial"/>
              <a:sym typeface="Arial"/>
            </a:endParaRPr>
          </a:p>
        </p:txBody>
      </p:sp>
      <p:sp>
        <p:nvSpPr>
          <p:cNvPr id="277" name="Google Shape;277;p25"/>
          <p:cNvSpPr txBox="1"/>
          <p:nvPr/>
        </p:nvSpPr>
        <p:spPr>
          <a:xfrm>
            <a:off x="2692918" y="4121912"/>
            <a:ext cx="1664100" cy="47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060"/>
              <a:buFont typeface="Arial"/>
              <a:buNone/>
            </a:pPr>
            <a:r>
              <a:rPr b="0" i="0" lang="es" sz="1060" u="none" cap="none" strike="noStrike">
                <a:solidFill>
                  <a:srgbClr val="C9D2DF"/>
                </a:solidFill>
                <a:latin typeface="Arial"/>
                <a:ea typeface="Arial"/>
                <a:cs typeface="Arial"/>
                <a:sym typeface="Arial"/>
              </a:rPr>
              <a:t>Exploración, limpieza y preservación de señales financieras.</a:t>
            </a:r>
            <a:endParaRPr b="0" i="0" sz="1060" u="none" cap="none" strike="noStrike">
              <a:solidFill>
                <a:srgbClr val="000000"/>
              </a:solidFill>
              <a:latin typeface="Arial"/>
              <a:ea typeface="Arial"/>
              <a:cs typeface="Arial"/>
              <a:sym typeface="Arial"/>
            </a:endParaRPr>
          </a:p>
        </p:txBody>
      </p:sp>
      <p:sp>
        <p:nvSpPr>
          <p:cNvPr id="278" name="Google Shape;278;p25"/>
          <p:cNvSpPr/>
          <p:nvPr/>
        </p:nvSpPr>
        <p:spPr>
          <a:xfrm>
            <a:off x="4649734" y="3436112"/>
            <a:ext cx="1920300" cy="1234500"/>
          </a:xfrm>
          <a:prstGeom prst="roundRect">
            <a:avLst>
              <a:gd fmla="val 7407" name="adj"/>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5"/>
          <p:cNvSpPr/>
          <p:nvPr/>
        </p:nvSpPr>
        <p:spPr>
          <a:xfrm>
            <a:off x="4649734" y="3436112"/>
            <a:ext cx="1920300" cy="32100"/>
          </a:xfrm>
          <a:prstGeom prst="rect">
            <a:avLst/>
          </a:prstGeom>
          <a:solidFill>
            <a:srgbClr val="0145AC"/>
          </a:solidFill>
          <a:ln cap="flat" cmpd="sng" w="12700">
            <a:solidFill>
              <a:srgbClr val="0145A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5"/>
          <p:cNvSpPr txBox="1"/>
          <p:nvPr/>
        </p:nvSpPr>
        <p:spPr>
          <a:xfrm>
            <a:off x="4777750" y="3582416"/>
            <a:ext cx="1664100" cy="12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910"/>
              <a:buFont typeface="Arial"/>
              <a:buNone/>
            </a:pPr>
            <a:r>
              <a:rPr b="1" i="0" lang="es" sz="910" u="none" cap="none" strike="noStrike">
                <a:solidFill>
                  <a:srgbClr val="82C7A5"/>
                </a:solidFill>
                <a:latin typeface="Arial"/>
                <a:ea typeface="Arial"/>
                <a:cs typeface="Arial"/>
                <a:sym typeface="Arial"/>
              </a:rPr>
              <a:t>FASE 3</a:t>
            </a:r>
            <a:endParaRPr b="0" i="0" sz="910" u="none" cap="none" strike="noStrike">
              <a:solidFill>
                <a:srgbClr val="000000"/>
              </a:solidFill>
              <a:latin typeface="Arial"/>
              <a:ea typeface="Arial"/>
              <a:cs typeface="Arial"/>
              <a:sym typeface="Arial"/>
            </a:endParaRPr>
          </a:p>
        </p:txBody>
      </p:sp>
      <p:sp>
        <p:nvSpPr>
          <p:cNvPr id="281" name="Google Shape;281;p25"/>
          <p:cNvSpPr txBox="1"/>
          <p:nvPr/>
        </p:nvSpPr>
        <p:spPr>
          <a:xfrm>
            <a:off x="4777750" y="3801872"/>
            <a:ext cx="16641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s" sz="1200" u="none" cap="none" strike="noStrike">
                <a:solidFill>
                  <a:srgbClr val="FFFFFF"/>
                </a:solidFill>
                <a:latin typeface="Arial"/>
                <a:ea typeface="Arial"/>
                <a:cs typeface="Arial"/>
                <a:sym typeface="Arial"/>
              </a:rPr>
              <a:t>Características</a:t>
            </a:r>
            <a:endParaRPr b="0" i="0" sz="1200" u="none" cap="none" strike="noStrike">
              <a:solidFill>
                <a:srgbClr val="000000"/>
              </a:solidFill>
              <a:latin typeface="Arial"/>
              <a:ea typeface="Arial"/>
              <a:cs typeface="Arial"/>
              <a:sym typeface="Arial"/>
            </a:endParaRPr>
          </a:p>
        </p:txBody>
      </p:sp>
      <p:sp>
        <p:nvSpPr>
          <p:cNvPr id="282" name="Google Shape;282;p25"/>
          <p:cNvSpPr txBox="1"/>
          <p:nvPr/>
        </p:nvSpPr>
        <p:spPr>
          <a:xfrm>
            <a:off x="4777750" y="4121912"/>
            <a:ext cx="1664100" cy="47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060"/>
              <a:buFont typeface="Arial"/>
              <a:buNone/>
            </a:pPr>
            <a:r>
              <a:rPr b="0" i="0" lang="es" sz="1060" u="none" cap="none" strike="noStrike">
                <a:solidFill>
                  <a:srgbClr val="C9D2DF"/>
                </a:solidFill>
                <a:latin typeface="Arial"/>
                <a:ea typeface="Arial"/>
                <a:cs typeface="Arial"/>
                <a:sym typeface="Arial"/>
              </a:rPr>
              <a:t>BoW, TF-IDF, Word2Vec y Doc2Vec; selección χ².</a:t>
            </a:r>
            <a:endParaRPr b="0" i="0" sz="1060" u="none" cap="none" strike="noStrike">
              <a:solidFill>
                <a:srgbClr val="000000"/>
              </a:solidFill>
              <a:latin typeface="Arial"/>
              <a:ea typeface="Arial"/>
              <a:cs typeface="Arial"/>
              <a:sym typeface="Arial"/>
            </a:endParaRPr>
          </a:p>
        </p:txBody>
      </p:sp>
      <p:sp>
        <p:nvSpPr>
          <p:cNvPr id="283" name="Google Shape;283;p25"/>
          <p:cNvSpPr/>
          <p:nvPr/>
        </p:nvSpPr>
        <p:spPr>
          <a:xfrm>
            <a:off x="6734566" y="3436112"/>
            <a:ext cx="1920300" cy="1234500"/>
          </a:xfrm>
          <a:prstGeom prst="roundRect">
            <a:avLst>
              <a:gd fmla="val 7407" name="adj"/>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5"/>
          <p:cNvSpPr/>
          <p:nvPr/>
        </p:nvSpPr>
        <p:spPr>
          <a:xfrm>
            <a:off x="6734566" y="3436112"/>
            <a:ext cx="1920300" cy="32100"/>
          </a:xfrm>
          <a:prstGeom prst="rect">
            <a:avLst/>
          </a:prstGeom>
          <a:solidFill>
            <a:srgbClr val="82C7A5"/>
          </a:solidFill>
          <a:ln cap="flat" cmpd="sng" w="12700">
            <a:solidFill>
              <a:srgbClr val="82C7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5"/>
          <p:cNvSpPr txBox="1"/>
          <p:nvPr/>
        </p:nvSpPr>
        <p:spPr>
          <a:xfrm>
            <a:off x="6862582" y="3582416"/>
            <a:ext cx="1664100" cy="12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910"/>
              <a:buFont typeface="Arial"/>
              <a:buNone/>
            </a:pPr>
            <a:r>
              <a:rPr b="1" i="0" lang="es" sz="910" u="none" cap="none" strike="noStrike">
                <a:solidFill>
                  <a:srgbClr val="82C7A5"/>
                </a:solidFill>
                <a:latin typeface="Arial"/>
                <a:ea typeface="Arial"/>
                <a:cs typeface="Arial"/>
                <a:sym typeface="Arial"/>
              </a:rPr>
              <a:t>FASE 4</a:t>
            </a:r>
            <a:endParaRPr b="0" i="0" sz="910" u="none" cap="none" strike="noStrike">
              <a:solidFill>
                <a:srgbClr val="000000"/>
              </a:solidFill>
              <a:latin typeface="Arial"/>
              <a:ea typeface="Arial"/>
              <a:cs typeface="Arial"/>
              <a:sym typeface="Arial"/>
            </a:endParaRPr>
          </a:p>
        </p:txBody>
      </p:sp>
      <p:sp>
        <p:nvSpPr>
          <p:cNvPr id="286" name="Google Shape;286;p25"/>
          <p:cNvSpPr txBox="1"/>
          <p:nvPr/>
        </p:nvSpPr>
        <p:spPr>
          <a:xfrm>
            <a:off x="6862582" y="3801872"/>
            <a:ext cx="16641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Arial"/>
              <a:buNone/>
            </a:pPr>
            <a:r>
              <a:rPr b="1" i="0" lang="es" sz="1200" u="none" cap="none" strike="noStrike">
                <a:solidFill>
                  <a:srgbClr val="FFFFFF"/>
                </a:solidFill>
                <a:latin typeface="Arial"/>
                <a:ea typeface="Arial"/>
                <a:cs typeface="Arial"/>
                <a:sym typeface="Arial"/>
              </a:rPr>
              <a:t>Modelado</a:t>
            </a:r>
            <a:endParaRPr b="0" i="0" sz="1200" u="none" cap="none" strike="noStrike">
              <a:solidFill>
                <a:srgbClr val="000000"/>
              </a:solidFill>
              <a:latin typeface="Arial"/>
              <a:ea typeface="Arial"/>
              <a:cs typeface="Arial"/>
              <a:sym typeface="Arial"/>
            </a:endParaRPr>
          </a:p>
        </p:txBody>
      </p:sp>
      <p:sp>
        <p:nvSpPr>
          <p:cNvPr id="287" name="Google Shape;287;p25"/>
          <p:cNvSpPr txBox="1"/>
          <p:nvPr/>
        </p:nvSpPr>
        <p:spPr>
          <a:xfrm>
            <a:off x="6862582" y="4121912"/>
            <a:ext cx="1664100" cy="475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060"/>
              <a:buFont typeface="Arial"/>
              <a:buNone/>
            </a:pPr>
            <a:r>
              <a:rPr b="0" i="0" lang="es" sz="1060" u="none" cap="none" strike="noStrike">
                <a:solidFill>
                  <a:srgbClr val="C9D2DF"/>
                </a:solidFill>
                <a:latin typeface="Arial"/>
                <a:ea typeface="Arial"/>
                <a:cs typeface="Arial"/>
                <a:sym typeface="Arial"/>
              </a:rPr>
              <a:t>Regresión logística, SVM y Random Forest; evaluación.</a:t>
            </a:r>
            <a:endParaRPr b="0" i="0" sz="1060" u="none" cap="none" strike="noStrike">
              <a:solidFill>
                <a:srgbClr val="000000"/>
              </a:solidFill>
              <a:latin typeface="Arial"/>
              <a:ea typeface="Arial"/>
              <a:cs typeface="Arial"/>
              <a:sym typeface="Arial"/>
            </a:endParaRPr>
          </a:p>
        </p:txBody>
      </p:sp>
      <p:sp>
        <p:nvSpPr>
          <p:cNvPr id="288" name="Google Shape;288;p25"/>
          <p:cNvSpPr txBox="1"/>
          <p:nvPr/>
        </p:nvSpPr>
        <p:spPr>
          <a:xfrm>
            <a:off x="489214" y="4771136"/>
            <a:ext cx="8147400" cy="155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160"/>
              <a:buFont typeface="Arial"/>
              <a:buNone/>
            </a:pPr>
            <a:r>
              <a:rPr b="1" i="0" lang="es" sz="1160" u="none" cap="none" strike="noStrike">
                <a:solidFill>
                  <a:srgbClr val="82C7A5"/>
                </a:solidFill>
                <a:latin typeface="Arial"/>
                <a:ea typeface="Arial"/>
                <a:cs typeface="Arial"/>
                <a:sym typeface="Arial"/>
              </a:rPr>
              <a:t>Tarea delimitada: </a:t>
            </a:r>
            <a:r>
              <a:rPr b="0" i="0" lang="es" sz="1160" u="none" cap="none" strike="noStrike">
                <a:solidFill>
                  <a:srgbClr val="FFFFFF"/>
                </a:solidFill>
                <a:latin typeface="Arial"/>
                <a:ea typeface="Arial"/>
                <a:cs typeface="Arial"/>
                <a:sym typeface="Arial"/>
              </a:rPr>
              <a:t>clasificación supervisada de la orientación expresada en el texto.</a:t>
            </a:r>
            <a:endParaRPr b="0" i="0" sz="116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2" name="Shape 292"/>
        <p:cNvGrpSpPr/>
        <p:nvPr/>
      </p:nvGrpSpPr>
      <p:grpSpPr>
        <a:xfrm>
          <a:off x="0" y="0"/>
          <a:ext cx="0" cy="0"/>
          <a:chOff x="0" y="0"/>
          <a:chExt cx="0" cy="0"/>
        </a:xfrm>
      </p:grpSpPr>
      <p:grpSp>
        <p:nvGrpSpPr>
          <p:cNvPr id="293" name="Google Shape;293;p26"/>
          <p:cNvGrpSpPr/>
          <p:nvPr/>
        </p:nvGrpSpPr>
        <p:grpSpPr>
          <a:xfrm>
            <a:off x="0" y="381001"/>
            <a:ext cx="1037850" cy="1016288"/>
            <a:chOff x="0" y="381001"/>
            <a:chExt cx="1037850" cy="1016288"/>
          </a:xfrm>
        </p:grpSpPr>
        <p:sp>
          <p:nvSpPr>
            <p:cNvPr id="294" name="Google Shape;294;p2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6"/>
            <p:cNvSpPr/>
            <p:nvPr/>
          </p:nvSpPr>
          <p:spPr>
            <a:xfrm rot="-5400000">
              <a:off x="0" y="381001"/>
              <a:ext cx="808800" cy="808800"/>
            </a:xfrm>
            <a:prstGeom prst="rect">
              <a:avLst/>
            </a:prstGeom>
            <a:solidFill>
              <a:srgbClr val="0145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26"/>
            <p:cNvSpPr/>
            <p:nvPr/>
          </p:nvSpPr>
          <p:spPr>
            <a:xfrm>
              <a:off x="229050" y="588489"/>
              <a:ext cx="808800" cy="808800"/>
            </a:xfrm>
            <a:prstGeom prst="rect">
              <a:avLst/>
            </a:prstGeom>
            <a:solidFill>
              <a:srgbClr val="82C7A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298" name="Google Shape;298;p26"/>
          <p:cNvPicPr preferRelativeResize="0"/>
          <p:nvPr/>
        </p:nvPicPr>
        <p:blipFill rotWithShape="1">
          <a:blip r:embed="rId4">
            <a:alphaModFix/>
          </a:blip>
          <a:srcRect b="0" l="0" r="0" t="0"/>
          <a:stretch/>
        </p:blipFill>
        <p:spPr>
          <a:xfrm>
            <a:off x="6976872" y="199722"/>
            <a:ext cx="2052900" cy="757800"/>
          </a:xfrm>
          <a:prstGeom prst="rect">
            <a:avLst/>
          </a:prstGeom>
          <a:noFill/>
          <a:ln>
            <a:noFill/>
          </a:ln>
        </p:spPr>
      </p:pic>
      <p:cxnSp>
        <p:nvCxnSpPr>
          <p:cNvPr id="299" name="Google Shape;299;p26"/>
          <p:cNvCxnSpPr/>
          <p:nvPr/>
        </p:nvCxnSpPr>
        <p:spPr>
          <a:xfrm>
            <a:off x="475500" y="1548490"/>
            <a:ext cx="8193000" cy="0"/>
          </a:xfrm>
          <a:prstGeom prst="straightConnector1">
            <a:avLst/>
          </a:prstGeom>
          <a:noFill/>
          <a:ln cap="flat" cmpd="sng" w="10150">
            <a:solidFill>
              <a:srgbClr val="364255"/>
            </a:solidFill>
            <a:prstDash val="solid"/>
            <a:round/>
            <a:headEnd len="sm" w="sm" type="none"/>
            <a:tailEnd len="sm" w="sm" type="none"/>
          </a:ln>
        </p:spPr>
      </p:cxnSp>
      <p:sp>
        <p:nvSpPr>
          <p:cNvPr id="300" name="Google Shape;300;p26"/>
          <p:cNvSpPr txBox="1"/>
          <p:nvPr/>
        </p:nvSpPr>
        <p:spPr>
          <a:xfrm>
            <a:off x="480070" y="1633220"/>
            <a:ext cx="8193000" cy="39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900"/>
              <a:buFont typeface="Arial"/>
              <a:buNone/>
            </a:pPr>
            <a:r>
              <a:rPr b="1" i="0" lang="es" sz="1900" u="none" cap="none" strike="noStrike">
                <a:solidFill>
                  <a:srgbClr val="FFFFFF"/>
                </a:solidFill>
                <a:latin typeface="Arial"/>
                <a:ea typeface="Arial"/>
                <a:cs typeface="Arial"/>
                <a:sym typeface="Arial"/>
              </a:rPr>
              <a:t>Entregables y límites de lo desarrollado</a:t>
            </a:r>
            <a:endParaRPr b="0" i="0" sz="1900" u="none" cap="none" strike="noStrike">
              <a:solidFill>
                <a:srgbClr val="000000"/>
              </a:solidFill>
              <a:latin typeface="Arial"/>
              <a:ea typeface="Arial"/>
              <a:cs typeface="Arial"/>
              <a:sym typeface="Arial"/>
            </a:endParaRPr>
          </a:p>
        </p:txBody>
      </p:sp>
      <p:sp>
        <p:nvSpPr>
          <p:cNvPr id="301" name="Google Shape;301;p26"/>
          <p:cNvSpPr/>
          <p:nvPr/>
        </p:nvSpPr>
        <p:spPr>
          <a:xfrm>
            <a:off x="480070" y="2245868"/>
            <a:ext cx="4590300" cy="2788800"/>
          </a:xfrm>
          <a:prstGeom prst="roundRect">
            <a:avLst>
              <a:gd fmla="val 3279" name="adj"/>
            </a:avLst>
          </a:prstGeom>
          <a:solidFill>
            <a:srgbClr val="212937"/>
          </a:solidFill>
          <a:ln cap="flat" cmpd="sng" w="12700">
            <a:solidFill>
              <a:srgbClr val="2129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6"/>
          <p:cNvSpPr txBox="1"/>
          <p:nvPr/>
        </p:nvSpPr>
        <p:spPr>
          <a:xfrm>
            <a:off x="681238" y="2428748"/>
            <a:ext cx="4069200" cy="173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040"/>
              <a:buFont typeface="Arial"/>
              <a:buNone/>
            </a:pPr>
            <a:r>
              <a:rPr b="1" i="0" lang="es" sz="1040" u="none" cap="none" strike="noStrike">
                <a:solidFill>
                  <a:srgbClr val="82C7A5"/>
                </a:solidFill>
                <a:latin typeface="Arial"/>
                <a:ea typeface="Arial"/>
                <a:cs typeface="Arial"/>
                <a:sym typeface="Arial"/>
              </a:rPr>
              <a:t>PRODUCTOS DOCUMENTADOS</a:t>
            </a:r>
            <a:endParaRPr b="0" i="0" sz="1040" u="none" cap="none" strike="noStrike">
              <a:solidFill>
                <a:srgbClr val="000000"/>
              </a:solidFill>
              <a:latin typeface="Arial"/>
              <a:ea typeface="Arial"/>
              <a:cs typeface="Arial"/>
              <a:sym typeface="Arial"/>
            </a:endParaRPr>
          </a:p>
        </p:txBody>
      </p:sp>
      <p:sp>
        <p:nvSpPr>
          <p:cNvPr id="303" name="Google Shape;303;p26"/>
          <p:cNvSpPr txBox="1"/>
          <p:nvPr/>
        </p:nvSpPr>
        <p:spPr>
          <a:xfrm>
            <a:off x="681238" y="2794508"/>
            <a:ext cx="320100" cy="19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280"/>
              <a:buFont typeface="Arial"/>
              <a:buNone/>
            </a:pPr>
            <a:r>
              <a:rPr b="1" i="0" lang="es" sz="1280" u="none" cap="none" strike="noStrike">
                <a:solidFill>
                  <a:srgbClr val="82C7A5"/>
                </a:solidFill>
                <a:latin typeface="Arial"/>
                <a:ea typeface="Arial"/>
                <a:cs typeface="Arial"/>
                <a:sym typeface="Arial"/>
              </a:rPr>
              <a:t>01</a:t>
            </a:r>
            <a:endParaRPr b="0" i="0" sz="1280" u="none" cap="none" strike="noStrike">
              <a:solidFill>
                <a:srgbClr val="000000"/>
              </a:solidFill>
              <a:latin typeface="Arial"/>
              <a:ea typeface="Arial"/>
              <a:cs typeface="Arial"/>
              <a:sym typeface="Arial"/>
            </a:endParaRPr>
          </a:p>
        </p:txBody>
      </p:sp>
      <p:sp>
        <p:nvSpPr>
          <p:cNvPr id="304" name="Google Shape;304;p26"/>
          <p:cNvSpPr txBox="1"/>
          <p:nvPr/>
        </p:nvSpPr>
        <p:spPr>
          <a:xfrm>
            <a:off x="1111006" y="2771648"/>
            <a:ext cx="3657600" cy="265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10"/>
              <a:buFont typeface="Arial"/>
              <a:buNone/>
            </a:pPr>
            <a:r>
              <a:rPr b="1" i="0" lang="es" sz="1410" u="none" cap="none" strike="noStrike">
                <a:solidFill>
                  <a:srgbClr val="FFFFFF"/>
                </a:solidFill>
                <a:latin typeface="Arial"/>
                <a:ea typeface="Arial"/>
                <a:cs typeface="Arial"/>
                <a:sym typeface="Arial"/>
              </a:rPr>
              <a:t>Corpus preparado</a:t>
            </a:r>
            <a:endParaRPr b="0" i="0" sz="1410" u="none" cap="none" strike="noStrike">
              <a:solidFill>
                <a:srgbClr val="000000"/>
              </a:solidFill>
              <a:latin typeface="Arial"/>
              <a:ea typeface="Arial"/>
              <a:cs typeface="Arial"/>
              <a:sym typeface="Arial"/>
            </a:endParaRPr>
          </a:p>
        </p:txBody>
      </p:sp>
      <p:sp>
        <p:nvSpPr>
          <p:cNvPr id="305" name="Google Shape;305;p26"/>
          <p:cNvSpPr txBox="1"/>
          <p:nvPr/>
        </p:nvSpPr>
        <p:spPr>
          <a:xfrm>
            <a:off x="1111006" y="3077972"/>
            <a:ext cx="3657600" cy="34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210"/>
              <a:buFont typeface="Arial"/>
              <a:buNone/>
            </a:pPr>
            <a:r>
              <a:rPr b="0" i="0" lang="es" sz="1210" u="none" cap="none" strike="noStrike">
                <a:solidFill>
                  <a:srgbClr val="C9D2DF"/>
                </a:solidFill>
                <a:latin typeface="Arial"/>
                <a:ea typeface="Arial"/>
                <a:cs typeface="Arial"/>
                <a:sym typeface="Arial"/>
              </a:rPr>
              <a:t>CSV con texto original y limpio, etiquetas y metadatos.</a:t>
            </a:r>
            <a:endParaRPr b="0" i="0" sz="1210" u="none" cap="none" strike="noStrike">
              <a:solidFill>
                <a:srgbClr val="000000"/>
              </a:solidFill>
              <a:latin typeface="Arial"/>
              <a:ea typeface="Arial"/>
              <a:cs typeface="Arial"/>
              <a:sym typeface="Arial"/>
            </a:endParaRPr>
          </a:p>
        </p:txBody>
      </p:sp>
      <p:sp>
        <p:nvSpPr>
          <p:cNvPr id="306" name="Google Shape;306;p26"/>
          <p:cNvSpPr txBox="1"/>
          <p:nvPr/>
        </p:nvSpPr>
        <p:spPr>
          <a:xfrm>
            <a:off x="681238" y="3480308"/>
            <a:ext cx="320100" cy="19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280"/>
              <a:buFont typeface="Arial"/>
              <a:buNone/>
            </a:pPr>
            <a:r>
              <a:rPr b="1" i="0" lang="es" sz="1280" u="none" cap="none" strike="noStrike">
                <a:solidFill>
                  <a:srgbClr val="82C7A5"/>
                </a:solidFill>
                <a:latin typeface="Arial"/>
                <a:ea typeface="Arial"/>
                <a:cs typeface="Arial"/>
                <a:sym typeface="Arial"/>
              </a:rPr>
              <a:t>02</a:t>
            </a:r>
            <a:endParaRPr b="0" i="0" sz="1280" u="none" cap="none" strike="noStrike">
              <a:solidFill>
                <a:srgbClr val="000000"/>
              </a:solidFill>
              <a:latin typeface="Arial"/>
              <a:ea typeface="Arial"/>
              <a:cs typeface="Arial"/>
              <a:sym typeface="Arial"/>
            </a:endParaRPr>
          </a:p>
        </p:txBody>
      </p:sp>
      <p:sp>
        <p:nvSpPr>
          <p:cNvPr id="307" name="Google Shape;307;p26"/>
          <p:cNvSpPr txBox="1"/>
          <p:nvPr/>
        </p:nvSpPr>
        <p:spPr>
          <a:xfrm>
            <a:off x="1111006" y="3457448"/>
            <a:ext cx="3657600" cy="265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10"/>
              <a:buFont typeface="Arial"/>
              <a:buNone/>
            </a:pPr>
            <a:r>
              <a:rPr b="1" i="0" lang="es" sz="1410" u="none" cap="none" strike="noStrike">
                <a:solidFill>
                  <a:srgbClr val="FFFFFF"/>
                </a:solidFill>
                <a:latin typeface="Arial"/>
                <a:ea typeface="Arial"/>
                <a:cs typeface="Arial"/>
                <a:sym typeface="Arial"/>
              </a:rPr>
              <a:t>Representaciones y modelos</a:t>
            </a:r>
            <a:endParaRPr b="0" i="0" sz="1410" u="none" cap="none" strike="noStrike">
              <a:solidFill>
                <a:srgbClr val="000000"/>
              </a:solidFill>
              <a:latin typeface="Arial"/>
              <a:ea typeface="Arial"/>
              <a:cs typeface="Arial"/>
              <a:sym typeface="Arial"/>
            </a:endParaRPr>
          </a:p>
        </p:txBody>
      </p:sp>
      <p:sp>
        <p:nvSpPr>
          <p:cNvPr id="308" name="Google Shape;308;p26"/>
          <p:cNvSpPr txBox="1"/>
          <p:nvPr/>
        </p:nvSpPr>
        <p:spPr>
          <a:xfrm>
            <a:off x="1111006" y="3763772"/>
            <a:ext cx="3657600" cy="34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210"/>
              <a:buFont typeface="Arial"/>
              <a:buNone/>
            </a:pPr>
            <a:r>
              <a:rPr b="0" i="0" lang="es" sz="1210" u="none" cap="none" strike="noStrike">
                <a:solidFill>
                  <a:srgbClr val="C9D2DF"/>
                </a:solidFill>
                <a:latin typeface="Arial"/>
                <a:ea typeface="Arial"/>
                <a:cs typeface="Arial"/>
                <a:sym typeface="Arial"/>
              </a:rPr>
              <a:t>Comparación de métodos, clasificación y probabilidades por clase en el notebook.</a:t>
            </a:r>
            <a:endParaRPr b="0" i="0" sz="1210" u="none" cap="none" strike="noStrike">
              <a:solidFill>
                <a:srgbClr val="000000"/>
              </a:solidFill>
              <a:latin typeface="Arial"/>
              <a:ea typeface="Arial"/>
              <a:cs typeface="Arial"/>
              <a:sym typeface="Arial"/>
            </a:endParaRPr>
          </a:p>
        </p:txBody>
      </p:sp>
      <p:sp>
        <p:nvSpPr>
          <p:cNvPr id="309" name="Google Shape;309;p26"/>
          <p:cNvSpPr txBox="1"/>
          <p:nvPr/>
        </p:nvSpPr>
        <p:spPr>
          <a:xfrm>
            <a:off x="681238" y="4248404"/>
            <a:ext cx="320100" cy="192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280"/>
              <a:buFont typeface="Arial"/>
              <a:buNone/>
            </a:pPr>
            <a:r>
              <a:rPr b="1" i="0" lang="es" sz="1280" u="none" cap="none" strike="noStrike">
                <a:solidFill>
                  <a:srgbClr val="82C7A5"/>
                </a:solidFill>
                <a:latin typeface="Arial"/>
                <a:ea typeface="Arial"/>
                <a:cs typeface="Arial"/>
                <a:sym typeface="Arial"/>
              </a:rPr>
              <a:t>03</a:t>
            </a:r>
            <a:endParaRPr b="0" i="0" sz="1280" u="none" cap="none" strike="noStrike">
              <a:solidFill>
                <a:srgbClr val="000000"/>
              </a:solidFill>
              <a:latin typeface="Arial"/>
              <a:ea typeface="Arial"/>
              <a:cs typeface="Arial"/>
              <a:sym typeface="Arial"/>
            </a:endParaRPr>
          </a:p>
        </p:txBody>
      </p:sp>
      <p:sp>
        <p:nvSpPr>
          <p:cNvPr id="310" name="Google Shape;310;p26"/>
          <p:cNvSpPr txBox="1"/>
          <p:nvPr/>
        </p:nvSpPr>
        <p:spPr>
          <a:xfrm>
            <a:off x="1111006" y="4225544"/>
            <a:ext cx="3657600" cy="265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410"/>
              <a:buFont typeface="Arial"/>
              <a:buNone/>
            </a:pPr>
            <a:r>
              <a:rPr b="1" i="0" lang="es" sz="1410" u="none" cap="none" strike="noStrike">
                <a:solidFill>
                  <a:srgbClr val="FFFFFF"/>
                </a:solidFill>
                <a:latin typeface="Arial"/>
                <a:ea typeface="Arial"/>
                <a:cs typeface="Arial"/>
                <a:sym typeface="Arial"/>
              </a:rPr>
              <a:t>Evaluación experimental</a:t>
            </a:r>
            <a:endParaRPr b="0" i="0" sz="1410" u="none" cap="none" strike="noStrike">
              <a:solidFill>
                <a:srgbClr val="000000"/>
              </a:solidFill>
              <a:latin typeface="Arial"/>
              <a:ea typeface="Arial"/>
              <a:cs typeface="Arial"/>
              <a:sym typeface="Arial"/>
            </a:endParaRPr>
          </a:p>
        </p:txBody>
      </p:sp>
      <p:sp>
        <p:nvSpPr>
          <p:cNvPr id="311" name="Google Shape;311;p26"/>
          <p:cNvSpPr txBox="1"/>
          <p:nvPr/>
        </p:nvSpPr>
        <p:spPr>
          <a:xfrm>
            <a:off x="1111006" y="4531868"/>
            <a:ext cx="3657600" cy="347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210"/>
              <a:buFont typeface="Arial"/>
              <a:buNone/>
            </a:pPr>
            <a:r>
              <a:rPr b="0" i="0" lang="es" sz="1210" u="none" cap="none" strike="noStrike">
                <a:solidFill>
                  <a:srgbClr val="C9D2DF"/>
                </a:solidFill>
                <a:latin typeface="Arial"/>
                <a:ea typeface="Arial"/>
                <a:cs typeface="Arial"/>
                <a:sym typeface="Arial"/>
              </a:rPr>
              <a:t>Validación cruzada de 5 particiones; prueba del 15%; macro-F1 y matriz de confusión.</a:t>
            </a:r>
            <a:endParaRPr b="0" i="0" sz="1210" u="none" cap="none" strike="noStrike">
              <a:solidFill>
                <a:srgbClr val="000000"/>
              </a:solidFill>
              <a:latin typeface="Arial"/>
              <a:ea typeface="Arial"/>
              <a:cs typeface="Arial"/>
              <a:sym typeface="Arial"/>
            </a:endParaRPr>
          </a:p>
        </p:txBody>
      </p:sp>
      <p:sp>
        <p:nvSpPr>
          <p:cNvPr id="312" name="Google Shape;312;p26"/>
          <p:cNvSpPr/>
          <p:nvPr/>
        </p:nvSpPr>
        <p:spPr>
          <a:xfrm>
            <a:off x="5289814" y="2245868"/>
            <a:ext cx="3365100" cy="2788800"/>
          </a:xfrm>
          <a:prstGeom prst="roundRect">
            <a:avLst>
              <a:gd fmla="val 3279" name="adj"/>
            </a:avLst>
          </a:prstGeom>
          <a:solidFill>
            <a:srgbClr val="1D3038"/>
          </a:solidFill>
          <a:ln cap="flat" cmpd="sng" w="12700">
            <a:solidFill>
              <a:srgbClr val="1D30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6"/>
          <p:cNvSpPr txBox="1"/>
          <p:nvPr/>
        </p:nvSpPr>
        <p:spPr>
          <a:xfrm>
            <a:off x="5500126" y="2428748"/>
            <a:ext cx="2944500" cy="173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2C7A5"/>
              </a:buClr>
              <a:buSzPts val="1040"/>
              <a:buFont typeface="Arial"/>
              <a:buNone/>
            </a:pPr>
            <a:r>
              <a:rPr b="1" i="0" lang="es" sz="1040" u="none" cap="none" strike="noStrike">
                <a:solidFill>
                  <a:srgbClr val="82C7A5"/>
                </a:solidFill>
                <a:latin typeface="Arial"/>
                <a:ea typeface="Arial"/>
                <a:cs typeface="Arial"/>
                <a:sym typeface="Arial"/>
              </a:rPr>
              <a:t>LÍMITES DEL ALCANCE</a:t>
            </a:r>
            <a:endParaRPr b="0" i="0" sz="1040" u="none" cap="none" strike="noStrike">
              <a:solidFill>
                <a:srgbClr val="000000"/>
              </a:solidFill>
              <a:latin typeface="Arial"/>
              <a:ea typeface="Arial"/>
              <a:cs typeface="Arial"/>
              <a:sym typeface="Arial"/>
            </a:endParaRPr>
          </a:p>
        </p:txBody>
      </p:sp>
      <p:sp>
        <p:nvSpPr>
          <p:cNvPr id="314" name="Google Shape;314;p26"/>
          <p:cNvSpPr txBox="1"/>
          <p:nvPr/>
        </p:nvSpPr>
        <p:spPr>
          <a:xfrm>
            <a:off x="5500126" y="2771648"/>
            <a:ext cx="29445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80"/>
              <a:buFont typeface="Arial"/>
              <a:buNone/>
            </a:pPr>
            <a:r>
              <a:rPr b="1" i="0" lang="es" sz="1380" u="none" cap="none" strike="noStrike">
                <a:solidFill>
                  <a:srgbClr val="FFFFFF"/>
                </a:solidFill>
                <a:latin typeface="Arial"/>
                <a:ea typeface="Arial"/>
                <a:cs typeface="Arial"/>
                <a:sym typeface="Arial"/>
              </a:rPr>
              <a:t>Idioma y dominio</a:t>
            </a:r>
            <a:endParaRPr b="0" i="0" sz="1380" u="none" cap="none" strike="noStrike">
              <a:solidFill>
                <a:srgbClr val="000000"/>
              </a:solidFill>
              <a:latin typeface="Arial"/>
              <a:ea typeface="Arial"/>
              <a:cs typeface="Arial"/>
              <a:sym typeface="Arial"/>
            </a:endParaRPr>
          </a:p>
        </p:txBody>
      </p:sp>
      <p:sp>
        <p:nvSpPr>
          <p:cNvPr id="315" name="Google Shape;315;p26"/>
          <p:cNvSpPr txBox="1"/>
          <p:nvPr/>
        </p:nvSpPr>
        <p:spPr>
          <a:xfrm>
            <a:off x="5500126" y="3059684"/>
            <a:ext cx="29445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200"/>
              <a:buFont typeface="Arial"/>
              <a:buNone/>
            </a:pPr>
            <a:r>
              <a:rPr b="0" i="0" lang="es" sz="1200" u="none" cap="none" strike="noStrike">
                <a:solidFill>
                  <a:srgbClr val="C9D2DF"/>
                </a:solidFill>
                <a:latin typeface="Arial"/>
                <a:ea typeface="Arial"/>
                <a:cs typeface="Arial"/>
                <a:sym typeface="Arial"/>
              </a:rPr>
              <a:t>Evaluación restringida al corpus financiero en español.</a:t>
            </a:r>
            <a:endParaRPr b="0" i="0" sz="1200" u="none" cap="none" strike="noStrike">
              <a:solidFill>
                <a:srgbClr val="000000"/>
              </a:solidFill>
              <a:latin typeface="Arial"/>
              <a:ea typeface="Arial"/>
              <a:cs typeface="Arial"/>
              <a:sym typeface="Arial"/>
            </a:endParaRPr>
          </a:p>
        </p:txBody>
      </p:sp>
      <p:sp>
        <p:nvSpPr>
          <p:cNvPr id="316" name="Google Shape;316;p26"/>
          <p:cNvSpPr txBox="1"/>
          <p:nvPr/>
        </p:nvSpPr>
        <p:spPr>
          <a:xfrm>
            <a:off x="5500126" y="3466592"/>
            <a:ext cx="29445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80"/>
              <a:buFont typeface="Arial"/>
              <a:buNone/>
            </a:pPr>
            <a:r>
              <a:rPr b="1" i="0" lang="es" sz="1380" u="none" cap="none" strike="noStrike">
                <a:solidFill>
                  <a:srgbClr val="FFFFFF"/>
                </a:solidFill>
                <a:latin typeface="Arial"/>
                <a:ea typeface="Arial"/>
                <a:cs typeface="Arial"/>
                <a:sym typeface="Arial"/>
              </a:rPr>
              <a:t>Qué representa la etiqueta</a:t>
            </a:r>
            <a:endParaRPr b="0" i="0" sz="1380" u="none" cap="none" strike="noStrike">
              <a:solidFill>
                <a:srgbClr val="000000"/>
              </a:solidFill>
              <a:latin typeface="Arial"/>
              <a:ea typeface="Arial"/>
              <a:cs typeface="Arial"/>
              <a:sym typeface="Arial"/>
            </a:endParaRPr>
          </a:p>
        </p:txBody>
      </p:sp>
      <p:sp>
        <p:nvSpPr>
          <p:cNvPr id="317" name="Google Shape;317;p26"/>
          <p:cNvSpPr txBox="1"/>
          <p:nvPr/>
        </p:nvSpPr>
        <p:spPr>
          <a:xfrm>
            <a:off x="5500126" y="3754628"/>
            <a:ext cx="29445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200"/>
              <a:buFont typeface="Arial"/>
              <a:buNone/>
            </a:pPr>
            <a:r>
              <a:rPr b="0" i="0" lang="es" sz="1200" u="none" cap="none" strike="noStrike">
                <a:solidFill>
                  <a:srgbClr val="C9D2DF"/>
                </a:solidFill>
                <a:latin typeface="Arial"/>
                <a:ea typeface="Arial"/>
                <a:cs typeface="Arial"/>
                <a:sym typeface="Arial"/>
              </a:rPr>
              <a:t>Polaridad del texto, no una medición directa de la opinión de los lectores.</a:t>
            </a:r>
            <a:endParaRPr b="0" i="0" sz="1200" u="none" cap="none" strike="noStrike">
              <a:solidFill>
                <a:srgbClr val="000000"/>
              </a:solidFill>
              <a:latin typeface="Arial"/>
              <a:ea typeface="Arial"/>
              <a:cs typeface="Arial"/>
              <a:sym typeface="Arial"/>
            </a:endParaRPr>
          </a:p>
        </p:txBody>
      </p:sp>
      <p:sp>
        <p:nvSpPr>
          <p:cNvPr id="318" name="Google Shape;318;p26"/>
          <p:cNvSpPr txBox="1"/>
          <p:nvPr/>
        </p:nvSpPr>
        <p:spPr>
          <a:xfrm>
            <a:off x="5500126" y="4243832"/>
            <a:ext cx="2944500" cy="246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380"/>
              <a:buFont typeface="Arial"/>
              <a:buNone/>
            </a:pPr>
            <a:r>
              <a:rPr b="1" i="0" lang="es" sz="1380" u="none" cap="none" strike="noStrike">
                <a:solidFill>
                  <a:srgbClr val="FFFFFF"/>
                </a:solidFill>
                <a:latin typeface="Arial"/>
                <a:ea typeface="Arial"/>
                <a:cs typeface="Arial"/>
                <a:sym typeface="Arial"/>
              </a:rPr>
              <a:t>Nivel de entrega</a:t>
            </a:r>
            <a:endParaRPr b="0" i="0" sz="1380" u="none" cap="none" strike="noStrike">
              <a:solidFill>
                <a:srgbClr val="000000"/>
              </a:solidFill>
              <a:latin typeface="Arial"/>
              <a:ea typeface="Arial"/>
              <a:cs typeface="Arial"/>
              <a:sym typeface="Arial"/>
            </a:endParaRPr>
          </a:p>
        </p:txBody>
      </p:sp>
      <p:sp>
        <p:nvSpPr>
          <p:cNvPr id="319" name="Google Shape;319;p26"/>
          <p:cNvSpPr txBox="1"/>
          <p:nvPr/>
        </p:nvSpPr>
        <p:spPr>
          <a:xfrm>
            <a:off x="5500126" y="4531868"/>
            <a:ext cx="29445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9D2DF"/>
              </a:buClr>
              <a:buSzPts val="1200"/>
              <a:buFont typeface="Arial"/>
              <a:buNone/>
            </a:pPr>
            <a:r>
              <a:rPr b="0" i="0" lang="es" sz="1200" u="none" cap="none" strike="noStrike">
                <a:solidFill>
                  <a:srgbClr val="C9D2DF"/>
                </a:solidFill>
                <a:latin typeface="Arial"/>
                <a:ea typeface="Arial"/>
                <a:cs typeface="Arial"/>
                <a:sym typeface="Arial"/>
              </a:rPr>
              <a:t>Experimentación en notebooks. No se documenta un servicio desplegado.</a:t>
            </a:r>
            <a:endParaRPr b="0" i="0" sz="1200" u="none" cap="none" strike="noStrike">
              <a:solidFill>
                <a:srgbClr val="000000"/>
              </a:solidFill>
              <a:latin typeface="Arial"/>
              <a:ea typeface="Arial"/>
              <a:cs typeface="Arial"/>
              <a:sym typeface="Arial"/>
            </a:endParaRPr>
          </a:p>
        </p:txBody>
      </p:sp>
      <p:sp>
        <p:nvSpPr>
          <p:cNvPr id="320" name="Google Shape;320;p26"/>
          <p:cNvSpPr txBox="1"/>
          <p:nvPr/>
        </p:nvSpPr>
        <p:spPr>
          <a:xfrm>
            <a:off x="1235868" y="692915"/>
            <a:ext cx="6364200" cy="475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900"/>
              <a:buFont typeface="Arial"/>
              <a:buNone/>
            </a:pPr>
            <a:r>
              <a:rPr b="1" i="0" lang="es" sz="3600" u="none" cap="none" strike="noStrike">
                <a:solidFill>
                  <a:srgbClr val="FFFFFF"/>
                </a:solidFill>
                <a:latin typeface="Arial"/>
                <a:ea typeface="Arial"/>
                <a:cs typeface="Arial"/>
                <a:sym typeface="Arial"/>
              </a:rPr>
              <a:t>ALCANCE</a:t>
            </a:r>
            <a:endParaRPr b="0" i="0" sz="36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4" name="Shape 324"/>
        <p:cNvGrpSpPr/>
        <p:nvPr/>
      </p:nvGrpSpPr>
      <p:grpSpPr>
        <a:xfrm>
          <a:off x="0" y="0"/>
          <a:ext cx="0" cy="0"/>
          <a:chOff x="0" y="0"/>
          <a:chExt cx="0" cy="0"/>
        </a:xfrm>
      </p:grpSpPr>
      <p:grpSp>
        <p:nvGrpSpPr>
          <p:cNvPr id="325" name="Google Shape;325;p27"/>
          <p:cNvGrpSpPr/>
          <p:nvPr/>
        </p:nvGrpSpPr>
        <p:grpSpPr>
          <a:xfrm>
            <a:off x="0" y="381001"/>
            <a:ext cx="1037850" cy="1016288"/>
            <a:chOff x="0" y="381001"/>
            <a:chExt cx="1037850" cy="1016288"/>
          </a:xfrm>
        </p:grpSpPr>
        <p:sp>
          <p:nvSpPr>
            <p:cNvPr id="326" name="Google Shape;326;p2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7"/>
            <p:cNvSpPr/>
            <p:nvPr/>
          </p:nvSpPr>
          <p:spPr>
            <a:xfrm rot="-5400000">
              <a:off x="0" y="381001"/>
              <a:ext cx="808800" cy="808800"/>
            </a:xfrm>
            <a:prstGeom prst="rect">
              <a:avLst/>
            </a:prstGeom>
            <a:solidFill>
              <a:srgbClr val="0145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27"/>
            <p:cNvSpPr/>
            <p:nvPr/>
          </p:nvSpPr>
          <p:spPr>
            <a:xfrm>
              <a:off x="229050" y="588489"/>
              <a:ext cx="808800" cy="808800"/>
            </a:xfrm>
            <a:prstGeom prst="rect">
              <a:avLst/>
            </a:prstGeom>
            <a:solidFill>
              <a:srgbClr val="82C7A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330" name="Google Shape;330;p27"/>
          <p:cNvPicPr preferRelativeResize="0"/>
          <p:nvPr/>
        </p:nvPicPr>
        <p:blipFill rotWithShape="1">
          <a:blip r:embed="rId4">
            <a:alphaModFix/>
          </a:blip>
          <a:srcRect b="0" l="0" r="0" t="0"/>
          <a:stretch/>
        </p:blipFill>
        <p:spPr>
          <a:xfrm>
            <a:off x="6976872" y="199722"/>
            <a:ext cx="2052900" cy="757800"/>
          </a:xfrm>
          <a:prstGeom prst="rect">
            <a:avLst/>
          </a:prstGeom>
          <a:noFill/>
          <a:ln>
            <a:noFill/>
          </a:ln>
        </p:spPr>
      </p:pic>
      <p:sp>
        <p:nvSpPr>
          <p:cNvPr id="331" name="Google Shape;331;p27"/>
          <p:cNvSpPr txBox="1"/>
          <p:nvPr>
            <p:ph type="title"/>
          </p:nvPr>
        </p:nvSpPr>
        <p:spPr>
          <a:xfrm>
            <a:off x="1297505" y="393750"/>
            <a:ext cx="7038900" cy="9141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b="1" lang="es" sz="3600">
                <a:solidFill>
                  <a:srgbClr val="FFFFFF"/>
                </a:solidFill>
                <a:latin typeface="Montserrat"/>
                <a:ea typeface="Montserrat"/>
                <a:cs typeface="Montserrat"/>
                <a:sym typeface="Montserrat"/>
              </a:rPr>
              <a:t>CORPUS</a:t>
            </a:r>
            <a:endParaRPr b="1" sz="3600">
              <a:solidFill>
                <a:srgbClr val="FFFFFF"/>
              </a:solidFill>
              <a:latin typeface="Montserrat"/>
              <a:ea typeface="Montserrat"/>
              <a:cs typeface="Montserrat"/>
              <a:sym typeface="Montserrat"/>
            </a:endParaRPr>
          </a:p>
        </p:txBody>
      </p:sp>
      <p:sp>
        <p:nvSpPr>
          <p:cNvPr id="332" name="Google Shape;332;p27"/>
          <p:cNvSpPr/>
          <p:nvPr/>
        </p:nvSpPr>
        <p:spPr>
          <a:xfrm>
            <a:off x="762000" y="1307850"/>
            <a:ext cx="7620000" cy="3359400"/>
          </a:xfrm>
          <a:prstGeom prst="roundRect">
            <a:avLst>
              <a:gd fmla="val 5882" name="adj"/>
            </a:avLst>
          </a:prstGeom>
          <a:solidFill>
            <a:srgbClr val="2D3748">
              <a:alpha val="4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33" name="Google Shape;333;p27"/>
          <p:cNvGrpSpPr/>
          <p:nvPr/>
        </p:nvGrpSpPr>
        <p:grpSpPr>
          <a:xfrm>
            <a:off x="887400" y="1233573"/>
            <a:ext cx="3684600" cy="3147927"/>
            <a:chOff x="887400" y="1233573"/>
            <a:chExt cx="3684600" cy="3147927"/>
          </a:xfrm>
        </p:grpSpPr>
        <p:sp>
          <p:nvSpPr>
            <p:cNvPr id="334" name="Google Shape;334;p27"/>
            <p:cNvSpPr/>
            <p:nvPr/>
          </p:nvSpPr>
          <p:spPr>
            <a:xfrm>
              <a:off x="1047750" y="1714500"/>
              <a:ext cx="3048000" cy="2667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27"/>
            <p:cNvSpPr txBox="1"/>
            <p:nvPr/>
          </p:nvSpPr>
          <p:spPr>
            <a:xfrm>
              <a:off x="887400" y="1233573"/>
              <a:ext cx="3684600" cy="1408500"/>
            </a:xfrm>
            <a:prstGeom prst="rect">
              <a:avLst/>
            </a:prstGeom>
            <a:noFill/>
            <a:ln>
              <a:noFill/>
            </a:ln>
          </p:spPr>
          <p:txBody>
            <a:bodyPr anchorCtr="0" anchor="ctr" bIns="0" lIns="0" spcFirstLastPara="1" rIns="0" wrap="square" tIns="0">
              <a:noAutofit/>
            </a:bodyPr>
            <a:lstStyle/>
            <a:p>
              <a:pPr indent="0" lvl="0" marL="0" rtl="0" algn="just">
                <a:spcBef>
                  <a:spcPts val="0"/>
                </a:spcBef>
                <a:spcAft>
                  <a:spcPts val="0"/>
                </a:spcAft>
                <a:buNone/>
              </a:pPr>
              <a:r>
                <a:rPr lang="es">
                  <a:solidFill>
                    <a:srgbClr val="CBD5E1"/>
                  </a:solidFill>
                  <a:latin typeface="Lato"/>
                  <a:ea typeface="Lato"/>
                  <a:cs typeface="Lato"/>
                  <a:sym typeface="Lato"/>
                </a:rPr>
                <a:t>El Corpus seleccionado para realizar el proyecto será el subconjunto datos en español del dataset Multilingual Financial Sentiment disponible en Hugging Face</a:t>
              </a:r>
              <a:endParaRPr b="0" sz="1400">
                <a:solidFill>
                  <a:srgbClr val="CBD5E1"/>
                </a:solidFill>
                <a:latin typeface="Lato"/>
                <a:ea typeface="Lato"/>
                <a:cs typeface="Lato"/>
                <a:sym typeface="Lato"/>
              </a:endParaRPr>
            </a:p>
          </p:txBody>
        </p:sp>
      </p:grpSp>
      <p:pic>
        <p:nvPicPr>
          <p:cNvPr id="336" name="Google Shape;336;p27"/>
          <p:cNvPicPr preferRelativeResize="0"/>
          <p:nvPr/>
        </p:nvPicPr>
        <p:blipFill>
          <a:blip r:embed="rId5">
            <a:alphaModFix/>
          </a:blip>
          <a:stretch>
            <a:fillRect/>
          </a:stretch>
        </p:blipFill>
        <p:spPr>
          <a:xfrm>
            <a:off x="4731843" y="1458103"/>
            <a:ext cx="3523026" cy="1171025"/>
          </a:xfrm>
          <a:prstGeom prst="rect">
            <a:avLst/>
          </a:prstGeom>
          <a:noFill/>
          <a:ln>
            <a:noFill/>
          </a:ln>
        </p:spPr>
      </p:pic>
      <p:grpSp>
        <p:nvGrpSpPr>
          <p:cNvPr id="337" name="Google Shape;337;p27"/>
          <p:cNvGrpSpPr/>
          <p:nvPr/>
        </p:nvGrpSpPr>
        <p:grpSpPr>
          <a:xfrm>
            <a:off x="1756576" y="2828130"/>
            <a:ext cx="1539984" cy="1740732"/>
            <a:chOff x="1085850" y="1714500"/>
            <a:chExt cx="2190900" cy="2476500"/>
          </a:xfrm>
        </p:grpSpPr>
        <p:sp>
          <p:nvSpPr>
            <p:cNvPr id="338" name="Google Shape;338;p27"/>
            <p:cNvSpPr/>
            <p:nvPr/>
          </p:nvSpPr>
          <p:spPr>
            <a:xfrm>
              <a:off x="108585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265"/>
            </a:p>
          </p:txBody>
        </p:sp>
        <p:sp>
          <p:nvSpPr>
            <p:cNvPr id="339" name="Google Shape;339;p27"/>
            <p:cNvSpPr txBox="1"/>
            <p:nvPr/>
          </p:nvSpPr>
          <p:spPr>
            <a:xfrm>
              <a:off x="122872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362">
                  <a:solidFill>
                    <a:srgbClr val="82C7A5"/>
                  </a:solidFill>
                  <a:latin typeface="Material Icons"/>
                  <a:ea typeface="Material Icons"/>
                  <a:cs typeface="Material Icons"/>
                  <a:sym typeface="Material Icons"/>
                </a:rPr>
                <a:t>layers</a:t>
              </a:r>
              <a:endParaRPr sz="2362">
                <a:solidFill>
                  <a:srgbClr val="82C7A5"/>
                </a:solidFill>
                <a:latin typeface="Material Icons"/>
                <a:ea typeface="Material Icons"/>
                <a:cs typeface="Material Icons"/>
                <a:sym typeface="Material Icons"/>
              </a:endParaRPr>
            </a:p>
          </p:txBody>
        </p:sp>
        <p:sp>
          <p:nvSpPr>
            <p:cNvPr id="340" name="Google Shape;340;p27"/>
            <p:cNvSpPr txBox="1"/>
            <p:nvPr/>
          </p:nvSpPr>
          <p:spPr>
            <a:xfrm>
              <a:off x="122872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265">
                  <a:solidFill>
                    <a:srgbClr val="FFFFFF"/>
                  </a:solidFill>
                  <a:latin typeface="Lato"/>
                  <a:ea typeface="Lato"/>
                  <a:cs typeface="Lato"/>
                  <a:sym typeface="Lato"/>
                </a:rPr>
                <a:t>39.829 Oraciones</a:t>
              </a:r>
              <a:endParaRPr b="1" sz="1265">
                <a:solidFill>
                  <a:srgbClr val="FFFFFF"/>
                </a:solidFill>
                <a:latin typeface="Lato"/>
                <a:ea typeface="Lato"/>
                <a:cs typeface="Lato"/>
                <a:sym typeface="Lato"/>
              </a:endParaRPr>
            </a:p>
            <a:p>
              <a:pPr indent="0" lvl="0" marL="0" rtl="0" algn="ctr">
                <a:spcBef>
                  <a:spcPts val="422"/>
                </a:spcBef>
                <a:spcAft>
                  <a:spcPts val="0"/>
                </a:spcAft>
                <a:buNone/>
              </a:pPr>
              <a:r>
                <a:t/>
              </a:r>
              <a:endParaRPr sz="1054">
                <a:solidFill>
                  <a:srgbClr val="CBD5E1"/>
                </a:solidFill>
                <a:latin typeface="Lato"/>
                <a:ea typeface="Lato"/>
                <a:cs typeface="Lato"/>
                <a:sym typeface="Lato"/>
              </a:endParaRPr>
            </a:p>
            <a:p>
              <a:pPr indent="0" lvl="0" marL="0" rtl="0" algn="ctr">
                <a:spcBef>
                  <a:spcPts val="0"/>
                </a:spcBef>
                <a:spcAft>
                  <a:spcPts val="0"/>
                </a:spcAft>
                <a:buNone/>
              </a:pPr>
              <a:r>
                <a:rPr lang="es" sz="1054">
                  <a:solidFill>
                    <a:srgbClr val="CBD5E1"/>
                  </a:solidFill>
                  <a:latin typeface="Lato"/>
                  <a:ea typeface="Lato"/>
                  <a:cs typeface="Lato"/>
                  <a:sym typeface="Lato"/>
                </a:rPr>
                <a:t>Noticias financieras</a:t>
              </a:r>
              <a:endParaRPr sz="1054">
                <a:solidFill>
                  <a:srgbClr val="CBD5E1"/>
                </a:solidFill>
                <a:latin typeface="Lato"/>
                <a:ea typeface="Lato"/>
                <a:cs typeface="Lato"/>
                <a:sym typeface="Lato"/>
              </a:endParaRPr>
            </a:p>
          </p:txBody>
        </p:sp>
      </p:grpSp>
      <p:grpSp>
        <p:nvGrpSpPr>
          <p:cNvPr id="341" name="Google Shape;341;p27"/>
          <p:cNvGrpSpPr/>
          <p:nvPr/>
        </p:nvGrpSpPr>
        <p:grpSpPr>
          <a:xfrm>
            <a:off x="3747039" y="2828130"/>
            <a:ext cx="1539984" cy="1740732"/>
            <a:chOff x="3476625" y="1714500"/>
            <a:chExt cx="2190900" cy="2476500"/>
          </a:xfrm>
        </p:grpSpPr>
        <p:sp>
          <p:nvSpPr>
            <p:cNvPr id="342" name="Google Shape;342;p27"/>
            <p:cNvSpPr/>
            <p:nvPr/>
          </p:nvSpPr>
          <p:spPr>
            <a:xfrm>
              <a:off x="3476625" y="1714500"/>
              <a:ext cx="2190900" cy="2476500"/>
            </a:xfrm>
            <a:prstGeom prst="roundRect">
              <a:avLst>
                <a:gd fmla="val 6521" name="adj"/>
              </a:avLst>
            </a:prstGeom>
            <a:solidFill>
              <a:srgbClr val="0145AC">
                <a:alpha val="30000"/>
              </a:srgbClr>
            </a:solidFill>
            <a:ln cap="flat" cmpd="sng" w="13400">
              <a:solidFill>
                <a:srgbClr val="0145A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265"/>
            </a:p>
          </p:txBody>
        </p:sp>
        <p:sp>
          <p:nvSpPr>
            <p:cNvPr id="343" name="Google Shape;343;p27"/>
            <p:cNvSpPr txBox="1"/>
            <p:nvPr/>
          </p:nvSpPr>
          <p:spPr>
            <a:xfrm>
              <a:off x="3619500"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362">
                  <a:solidFill>
                    <a:srgbClr val="0145AC"/>
                  </a:solidFill>
                  <a:latin typeface="Material Icons"/>
                  <a:ea typeface="Material Icons"/>
                  <a:cs typeface="Material Icons"/>
                  <a:sym typeface="Material Icons"/>
                </a:rPr>
                <a:t>insights</a:t>
              </a:r>
              <a:endParaRPr sz="2362">
                <a:solidFill>
                  <a:srgbClr val="0145AC"/>
                </a:solidFill>
                <a:latin typeface="Material Icons"/>
                <a:ea typeface="Material Icons"/>
                <a:cs typeface="Material Icons"/>
                <a:sym typeface="Material Icons"/>
              </a:endParaRPr>
            </a:p>
          </p:txBody>
        </p:sp>
        <p:sp>
          <p:nvSpPr>
            <p:cNvPr id="344" name="Google Shape;344;p27"/>
            <p:cNvSpPr txBox="1"/>
            <p:nvPr/>
          </p:nvSpPr>
          <p:spPr>
            <a:xfrm>
              <a:off x="3619500"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265">
                  <a:solidFill>
                    <a:srgbClr val="FFFFFF"/>
                  </a:solidFill>
                  <a:latin typeface="Lato"/>
                  <a:ea typeface="Lato"/>
                  <a:cs typeface="Lato"/>
                  <a:sym typeface="Lato"/>
                </a:rPr>
                <a:t>80 FUENTES</a:t>
              </a:r>
              <a:endParaRPr b="1" sz="1265">
                <a:solidFill>
                  <a:srgbClr val="FFFFFF"/>
                </a:solidFill>
                <a:latin typeface="Lato"/>
                <a:ea typeface="Lato"/>
                <a:cs typeface="Lato"/>
                <a:sym typeface="Lato"/>
              </a:endParaRPr>
            </a:p>
            <a:p>
              <a:pPr indent="0" lvl="0" marL="0" rtl="0" algn="ctr">
                <a:spcBef>
                  <a:spcPts val="422"/>
                </a:spcBef>
                <a:spcAft>
                  <a:spcPts val="0"/>
                </a:spcAft>
                <a:buNone/>
              </a:pPr>
              <a:r>
                <a:t/>
              </a:r>
              <a:endParaRPr sz="1054">
                <a:solidFill>
                  <a:srgbClr val="CBD5E1"/>
                </a:solidFill>
                <a:latin typeface="Lato"/>
                <a:ea typeface="Lato"/>
                <a:cs typeface="Lato"/>
                <a:sym typeface="Lato"/>
              </a:endParaRPr>
            </a:p>
            <a:p>
              <a:pPr indent="0" lvl="0" marL="0" rtl="0" algn="ctr">
                <a:spcBef>
                  <a:spcPts val="0"/>
                </a:spcBef>
                <a:spcAft>
                  <a:spcPts val="0"/>
                </a:spcAft>
                <a:buNone/>
              </a:pPr>
              <a:r>
                <a:rPr lang="es" sz="1054">
                  <a:solidFill>
                    <a:srgbClr val="CBD5E1"/>
                  </a:solidFill>
                  <a:latin typeface="Lato"/>
                  <a:ea typeface="Lato"/>
                  <a:cs typeface="Lato"/>
                  <a:sym typeface="Lato"/>
                </a:rPr>
                <a:t>Noticias financieras de todo el mundo</a:t>
              </a:r>
              <a:endParaRPr sz="1054">
                <a:solidFill>
                  <a:srgbClr val="CBD5E1"/>
                </a:solidFill>
                <a:latin typeface="Lato"/>
                <a:ea typeface="Lato"/>
                <a:cs typeface="Lato"/>
                <a:sym typeface="Lato"/>
              </a:endParaRPr>
            </a:p>
          </p:txBody>
        </p:sp>
      </p:grpSp>
      <p:grpSp>
        <p:nvGrpSpPr>
          <p:cNvPr id="345" name="Google Shape;345;p27"/>
          <p:cNvGrpSpPr/>
          <p:nvPr/>
        </p:nvGrpSpPr>
        <p:grpSpPr>
          <a:xfrm>
            <a:off x="5783427" y="2828130"/>
            <a:ext cx="1539984" cy="1740732"/>
            <a:chOff x="5867400" y="1714500"/>
            <a:chExt cx="2190900" cy="2476500"/>
          </a:xfrm>
        </p:grpSpPr>
        <p:sp>
          <p:nvSpPr>
            <p:cNvPr id="346" name="Google Shape;346;p27"/>
            <p:cNvSpPr/>
            <p:nvPr/>
          </p:nvSpPr>
          <p:spPr>
            <a:xfrm>
              <a:off x="586740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336"/>
            </a:p>
          </p:txBody>
        </p:sp>
        <p:sp>
          <p:nvSpPr>
            <p:cNvPr id="347" name="Google Shape;347;p27"/>
            <p:cNvSpPr txBox="1"/>
            <p:nvPr/>
          </p:nvSpPr>
          <p:spPr>
            <a:xfrm>
              <a:off x="601027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432">
                  <a:solidFill>
                    <a:srgbClr val="82C7A5"/>
                  </a:solidFill>
                  <a:latin typeface="Material Icons"/>
                  <a:ea typeface="Material Icons"/>
                  <a:cs typeface="Material Icons"/>
                  <a:sym typeface="Material Icons"/>
                </a:rPr>
                <a:t>account_tree</a:t>
              </a:r>
              <a:endParaRPr sz="2432">
                <a:solidFill>
                  <a:srgbClr val="82C7A5"/>
                </a:solidFill>
                <a:latin typeface="Material Icons"/>
                <a:ea typeface="Material Icons"/>
                <a:cs typeface="Material Icons"/>
                <a:sym typeface="Material Icons"/>
              </a:endParaRPr>
            </a:p>
          </p:txBody>
        </p:sp>
        <p:sp>
          <p:nvSpPr>
            <p:cNvPr id="348" name="Google Shape;348;p27"/>
            <p:cNvSpPr txBox="1"/>
            <p:nvPr/>
          </p:nvSpPr>
          <p:spPr>
            <a:xfrm>
              <a:off x="601027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336">
                  <a:solidFill>
                    <a:srgbClr val="FFFFFF"/>
                  </a:solidFill>
                  <a:latin typeface="Lato"/>
                  <a:ea typeface="Lato"/>
                  <a:cs typeface="Lato"/>
                  <a:sym typeface="Lato"/>
                </a:rPr>
                <a:t>7 IDIOMAS</a:t>
              </a:r>
              <a:endParaRPr b="1" sz="1336">
                <a:solidFill>
                  <a:srgbClr val="FFFFFF"/>
                </a:solidFill>
                <a:latin typeface="Lato"/>
                <a:ea typeface="Lato"/>
                <a:cs typeface="Lato"/>
                <a:sym typeface="Lato"/>
              </a:endParaRPr>
            </a:p>
            <a:p>
              <a:pPr indent="0" lvl="0" marL="0" rtl="0" algn="ctr">
                <a:spcBef>
                  <a:spcPts val="422"/>
                </a:spcBef>
                <a:spcAft>
                  <a:spcPts val="0"/>
                </a:spcAft>
                <a:buNone/>
              </a:pPr>
              <a:r>
                <a:t/>
              </a:r>
              <a:endParaRPr sz="1125">
                <a:solidFill>
                  <a:srgbClr val="CBD5E1"/>
                </a:solidFill>
                <a:latin typeface="Lato"/>
                <a:ea typeface="Lato"/>
                <a:cs typeface="Lato"/>
                <a:sym typeface="Lato"/>
              </a:endParaRPr>
            </a:p>
            <a:p>
              <a:pPr indent="0" lvl="0" marL="0" rtl="0" algn="ctr">
                <a:spcBef>
                  <a:spcPts val="0"/>
                </a:spcBef>
                <a:spcAft>
                  <a:spcPts val="0"/>
                </a:spcAft>
                <a:buNone/>
              </a:pPr>
              <a:r>
                <a:rPr lang="es" sz="1125">
                  <a:solidFill>
                    <a:srgbClr val="CBD5E1"/>
                  </a:solidFill>
                  <a:latin typeface="Lato"/>
                  <a:ea typeface="Lato"/>
                  <a:cs typeface="Lato"/>
                  <a:sym typeface="Lato"/>
                </a:rPr>
                <a:t>EN, ZH, JA, DE, FR, ES, AR</a:t>
              </a:r>
              <a:endParaRPr sz="1125">
                <a:solidFill>
                  <a:srgbClr val="CBD5E1"/>
                </a:solidFill>
                <a:latin typeface="Lato"/>
                <a:ea typeface="Lato"/>
                <a:cs typeface="Lato"/>
                <a:sym typeface="Lato"/>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2" name="Shape 352"/>
        <p:cNvGrpSpPr/>
        <p:nvPr/>
      </p:nvGrpSpPr>
      <p:grpSpPr>
        <a:xfrm>
          <a:off x="0" y="0"/>
          <a:ext cx="0" cy="0"/>
          <a:chOff x="0" y="0"/>
          <a:chExt cx="0" cy="0"/>
        </a:xfrm>
      </p:grpSpPr>
      <p:grpSp>
        <p:nvGrpSpPr>
          <p:cNvPr id="353" name="Google Shape;353;p28"/>
          <p:cNvGrpSpPr/>
          <p:nvPr/>
        </p:nvGrpSpPr>
        <p:grpSpPr>
          <a:xfrm>
            <a:off x="0" y="381001"/>
            <a:ext cx="1037850" cy="1016288"/>
            <a:chOff x="0" y="381001"/>
            <a:chExt cx="1037850" cy="1016288"/>
          </a:xfrm>
        </p:grpSpPr>
        <p:sp>
          <p:nvSpPr>
            <p:cNvPr id="354" name="Google Shape;354;p2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8"/>
            <p:cNvSpPr/>
            <p:nvPr/>
          </p:nvSpPr>
          <p:spPr>
            <a:xfrm rot="-5400000">
              <a:off x="0" y="381001"/>
              <a:ext cx="808800" cy="808800"/>
            </a:xfrm>
            <a:prstGeom prst="rect">
              <a:avLst/>
            </a:prstGeom>
            <a:solidFill>
              <a:srgbClr val="0145A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7" name="Google Shape;357;p28"/>
            <p:cNvSpPr/>
            <p:nvPr/>
          </p:nvSpPr>
          <p:spPr>
            <a:xfrm>
              <a:off x="229050" y="588489"/>
              <a:ext cx="808800" cy="808800"/>
            </a:xfrm>
            <a:prstGeom prst="rect">
              <a:avLst/>
            </a:prstGeom>
            <a:solidFill>
              <a:srgbClr val="82C7A5"/>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pic>
        <p:nvPicPr>
          <p:cNvPr id="358" name="Google Shape;358;p28"/>
          <p:cNvPicPr preferRelativeResize="0"/>
          <p:nvPr/>
        </p:nvPicPr>
        <p:blipFill rotWithShape="1">
          <a:blip r:embed="rId4">
            <a:alphaModFix/>
          </a:blip>
          <a:srcRect b="0" l="0" r="0" t="0"/>
          <a:stretch/>
        </p:blipFill>
        <p:spPr>
          <a:xfrm>
            <a:off x="6976872" y="199722"/>
            <a:ext cx="2052900" cy="757800"/>
          </a:xfrm>
          <a:prstGeom prst="rect">
            <a:avLst/>
          </a:prstGeom>
          <a:noFill/>
          <a:ln>
            <a:noFill/>
          </a:ln>
        </p:spPr>
      </p:pic>
      <p:sp>
        <p:nvSpPr>
          <p:cNvPr id="359" name="Google Shape;359;p28"/>
          <p:cNvSpPr txBox="1"/>
          <p:nvPr>
            <p:ph type="title"/>
          </p:nvPr>
        </p:nvSpPr>
        <p:spPr>
          <a:xfrm>
            <a:off x="1297505" y="393750"/>
            <a:ext cx="7038900" cy="9141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b="1" lang="es" sz="3600">
                <a:solidFill>
                  <a:srgbClr val="FFFFFF"/>
                </a:solidFill>
                <a:latin typeface="Montserrat"/>
                <a:ea typeface="Montserrat"/>
                <a:cs typeface="Montserrat"/>
                <a:sym typeface="Montserrat"/>
              </a:rPr>
              <a:t>CORPUS</a:t>
            </a:r>
            <a:endParaRPr b="1" sz="3600">
              <a:solidFill>
                <a:srgbClr val="FFFFFF"/>
              </a:solidFill>
              <a:latin typeface="Montserrat"/>
              <a:ea typeface="Montserrat"/>
              <a:cs typeface="Montserrat"/>
              <a:sym typeface="Montserrat"/>
            </a:endParaRPr>
          </a:p>
        </p:txBody>
      </p:sp>
      <p:grpSp>
        <p:nvGrpSpPr>
          <p:cNvPr id="360" name="Google Shape;360;p28"/>
          <p:cNvGrpSpPr/>
          <p:nvPr/>
        </p:nvGrpSpPr>
        <p:grpSpPr>
          <a:xfrm>
            <a:off x="476250" y="1428750"/>
            <a:ext cx="3952800" cy="3238500"/>
            <a:chOff x="476250" y="1428750"/>
            <a:chExt cx="3952800" cy="3238500"/>
          </a:xfrm>
        </p:grpSpPr>
        <p:sp>
          <p:nvSpPr>
            <p:cNvPr id="361" name="Google Shape;361;p28"/>
            <p:cNvSpPr/>
            <p:nvPr/>
          </p:nvSpPr>
          <p:spPr>
            <a:xfrm>
              <a:off x="476250" y="1428750"/>
              <a:ext cx="3952800" cy="3238500"/>
            </a:xfrm>
            <a:prstGeom prst="roundRect">
              <a:avLst>
                <a:gd fmla="val 5882"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28"/>
            <p:cNvSpPr txBox="1"/>
            <p:nvPr/>
          </p:nvSpPr>
          <p:spPr>
            <a:xfrm>
              <a:off x="666750" y="1619250"/>
              <a:ext cx="35718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800">
                  <a:solidFill>
                    <a:srgbClr val="82C7A5"/>
                  </a:solidFill>
                  <a:latin typeface="Lato"/>
                  <a:ea typeface="Lato"/>
                  <a:cs typeface="Lato"/>
                  <a:sym typeface="Lato"/>
                </a:rPr>
                <a:t>Variables Clave</a:t>
              </a:r>
              <a:endParaRPr b="1" sz="1800">
                <a:solidFill>
                  <a:srgbClr val="82C7A5"/>
                </a:solidFill>
                <a:latin typeface="Lato"/>
                <a:ea typeface="Lato"/>
                <a:cs typeface="Lato"/>
                <a:sym typeface="Lato"/>
              </a:endParaRPr>
            </a:p>
            <a:p>
              <a:pPr indent="0" lvl="0" marL="0" rtl="0" algn="l">
                <a:spcBef>
                  <a:spcPts val="1125"/>
                </a:spcBef>
                <a:spcAft>
                  <a:spcPts val="0"/>
                </a:spcAft>
                <a:buNone/>
              </a:pPr>
              <a:r>
                <a:rPr lang="es" sz="1300">
                  <a:solidFill>
                    <a:srgbClr val="CBD5E1"/>
                  </a:solidFill>
                  <a:latin typeface="Lato"/>
                  <a:ea typeface="Lato"/>
                  <a:cs typeface="Lato"/>
                  <a:sym typeface="Lato"/>
                </a:rPr>
                <a:t>Variables esenciales presentes en el dataset:</a:t>
              </a:r>
              <a:endParaRPr sz="1300">
                <a:solidFill>
                  <a:srgbClr val="CBD5E1"/>
                </a:solidFill>
                <a:latin typeface="Lato"/>
                <a:ea typeface="Lato"/>
                <a:cs typeface="Lato"/>
                <a:sym typeface="Lato"/>
              </a:endParaRPr>
            </a:p>
            <a:p>
              <a:pPr indent="-317500" lvl="0" marL="457200" rtl="0" algn="l">
                <a:spcBef>
                  <a:spcPts val="1125"/>
                </a:spcBef>
                <a:spcAft>
                  <a:spcPts val="0"/>
                </a:spcAft>
                <a:buClr>
                  <a:srgbClr val="FFFFFF"/>
                </a:buClr>
                <a:buSzPts val="1400"/>
                <a:buFont typeface="Lato"/>
                <a:buChar char="●"/>
              </a:pPr>
              <a:r>
                <a:rPr b="1" lang="es">
                  <a:solidFill>
                    <a:srgbClr val="FFFFFF"/>
                  </a:solidFill>
                  <a:latin typeface="Lato"/>
                  <a:ea typeface="Lato"/>
                  <a:cs typeface="Lato"/>
                  <a:sym typeface="Lato"/>
                </a:rPr>
                <a:t>Sentence:</a:t>
              </a:r>
              <a:r>
                <a:rPr lang="es">
                  <a:solidFill>
                    <a:srgbClr val="FFFFFF"/>
                  </a:solidFill>
                  <a:latin typeface="Lato"/>
                  <a:ea typeface="Lato"/>
                  <a:cs typeface="Lato"/>
                  <a:sym typeface="Lato"/>
                </a:rPr>
                <a:t> Texto de Noticias Financieras.</a:t>
              </a:r>
              <a:endParaRPr>
                <a:solidFill>
                  <a:srgbClr val="FFFFFF"/>
                </a:solidFill>
                <a:latin typeface="Lato"/>
                <a:ea typeface="Lato"/>
                <a:cs typeface="Lato"/>
                <a:sym typeface="Lato"/>
              </a:endParaRPr>
            </a:p>
            <a:p>
              <a:pPr indent="-317500" lvl="0" marL="457200" rtl="0" algn="l">
                <a:spcBef>
                  <a:spcPts val="750"/>
                </a:spcBef>
                <a:spcAft>
                  <a:spcPts val="0"/>
                </a:spcAft>
                <a:buClr>
                  <a:srgbClr val="FFFFFF"/>
                </a:buClr>
                <a:buSzPts val="1400"/>
                <a:buFont typeface="Lato"/>
                <a:buChar char="●"/>
              </a:pPr>
              <a:r>
                <a:rPr b="1" lang="es">
                  <a:solidFill>
                    <a:srgbClr val="FFFFFF"/>
                  </a:solidFill>
                  <a:latin typeface="Lato"/>
                  <a:ea typeface="Lato"/>
                  <a:cs typeface="Lato"/>
                  <a:sym typeface="Lato"/>
                </a:rPr>
                <a:t>Label:</a:t>
              </a:r>
              <a:r>
                <a:rPr lang="es">
                  <a:solidFill>
                    <a:srgbClr val="FFFFFF"/>
                  </a:solidFill>
                  <a:latin typeface="Lato"/>
                  <a:ea typeface="Lato"/>
                  <a:cs typeface="Lato"/>
                  <a:sym typeface="Lato"/>
                </a:rPr>
                <a:t> Etiqueta de sentimiento: negativa, neutral o positiva</a:t>
              </a:r>
              <a:endParaRPr>
                <a:solidFill>
                  <a:srgbClr val="FFFFFF"/>
                </a:solidFill>
                <a:latin typeface="Lato"/>
                <a:ea typeface="Lato"/>
                <a:cs typeface="Lato"/>
                <a:sym typeface="Lato"/>
              </a:endParaRPr>
            </a:p>
            <a:p>
              <a:pPr indent="-317500" lvl="0" marL="457200" rtl="0" algn="l">
                <a:spcBef>
                  <a:spcPts val="750"/>
                </a:spcBef>
                <a:spcAft>
                  <a:spcPts val="0"/>
                </a:spcAft>
                <a:buClr>
                  <a:srgbClr val="FFFFFF"/>
                </a:buClr>
                <a:buSzPts val="1400"/>
                <a:buFont typeface="Lato"/>
                <a:buChar char="●"/>
              </a:pPr>
              <a:r>
                <a:rPr b="1" lang="es">
                  <a:solidFill>
                    <a:srgbClr val="FFFFFF"/>
                  </a:solidFill>
                  <a:latin typeface="Lato"/>
                  <a:ea typeface="Lato"/>
                  <a:cs typeface="Lato"/>
                  <a:sym typeface="Lato"/>
                </a:rPr>
                <a:t>Source:</a:t>
              </a:r>
              <a:r>
                <a:rPr lang="es">
                  <a:solidFill>
                    <a:srgbClr val="FFFFFF"/>
                  </a:solidFill>
                  <a:latin typeface="Lato"/>
                  <a:ea typeface="Lato"/>
                  <a:cs typeface="Lato"/>
                  <a:sym typeface="Lato"/>
                </a:rPr>
                <a:t> Identificador de la fuente de la noticia</a:t>
              </a:r>
              <a:endParaRPr>
                <a:solidFill>
                  <a:srgbClr val="FFFFFF"/>
                </a:solidFill>
                <a:latin typeface="Lato"/>
                <a:ea typeface="Lato"/>
                <a:cs typeface="Lato"/>
                <a:sym typeface="Lato"/>
              </a:endParaRPr>
            </a:p>
            <a:p>
              <a:pPr indent="-317500" lvl="0" marL="457200" rtl="0" algn="l">
                <a:spcBef>
                  <a:spcPts val="750"/>
                </a:spcBef>
                <a:spcAft>
                  <a:spcPts val="0"/>
                </a:spcAft>
                <a:buClr>
                  <a:srgbClr val="FFFFFF"/>
                </a:buClr>
                <a:buSzPts val="1400"/>
                <a:buFont typeface="Lato"/>
                <a:buChar char="●"/>
              </a:pPr>
              <a:r>
                <a:rPr b="1" lang="es">
                  <a:solidFill>
                    <a:srgbClr val="FFFFFF"/>
                  </a:solidFill>
                  <a:latin typeface="Lato"/>
                  <a:ea typeface="Lato"/>
                  <a:cs typeface="Lato"/>
                  <a:sym typeface="Lato"/>
                </a:rPr>
                <a:t>Language:</a:t>
              </a:r>
              <a:r>
                <a:rPr lang="es">
                  <a:solidFill>
                    <a:srgbClr val="FFFFFF"/>
                  </a:solidFill>
                  <a:latin typeface="Lato"/>
                  <a:ea typeface="Lato"/>
                  <a:cs typeface="Lato"/>
                  <a:sym typeface="Lato"/>
                </a:rPr>
                <a:t> </a:t>
              </a:r>
              <a:r>
                <a:rPr lang="es">
                  <a:solidFill>
                    <a:srgbClr val="FFFFFF"/>
                  </a:solidFill>
                  <a:latin typeface="Lato"/>
                  <a:ea typeface="Lato"/>
                  <a:cs typeface="Lato"/>
                  <a:sym typeface="Lato"/>
                </a:rPr>
                <a:t>Código</a:t>
              </a:r>
              <a:r>
                <a:rPr lang="es">
                  <a:solidFill>
                    <a:srgbClr val="FFFFFF"/>
                  </a:solidFill>
                  <a:latin typeface="Lato"/>
                  <a:ea typeface="Lato"/>
                  <a:cs typeface="Lato"/>
                  <a:sym typeface="Lato"/>
                </a:rPr>
                <a:t> de idioma </a:t>
              </a:r>
              <a:r>
                <a:rPr lang="es">
                  <a:solidFill>
                    <a:srgbClr val="FFFFFF"/>
                  </a:solidFill>
                  <a:latin typeface="Lato"/>
                  <a:ea typeface="Lato"/>
                  <a:cs typeface="Lato"/>
                  <a:sym typeface="Lato"/>
                </a:rPr>
                <a:t>según</a:t>
              </a:r>
              <a:r>
                <a:rPr lang="es">
                  <a:solidFill>
                    <a:srgbClr val="FFFFFF"/>
                  </a:solidFill>
                  <a:latin typeface="Lato"/>
                  <a:ea typeface="Lato"/>
                  <a:cs typeface="Lato"/>
                  <a:sym typeface="Lato"/>
                </a:rPr>
                <a:t> ISO 639-1</a:t>
              </a:r>
              <a:endParaRPr>
                <a:solidFill>
                  <a:srgbClr val="FFFFFF"/>
                </a:solidFill>
                <a:latin typeface="Lato"/>
                <a:ea typeface="Lato"/>
                <a:cs typeface="Lato"/>
                <a:sym typeface="Lato"/>
              </a:endParaRPr>
            </a:p>
            <a:p>
              <a:pPr indent="0" lvl="0" marL="457200" rtl="0" algn="l">
                <a:spcBef>
                  <a:spcPts val="750"/>
                </a:spcBef>
                <a:spcAft>
                  <a:spcPts val="750"/>
                </a:spcAft>
                <a:buNone/>
              </a:pPr>
              <a:r>
                <a:t/>
              </a:r>
              <a:endParaRPr b="1">
                <a:solidFill>
                  <a:srgbClr val="FFFFFF"/>
                </a:solidFill>
                <a:latin typeface="Lato"/>
                <a:ea typeface="Lato"/>
                <a:cs typeface="Lato"/>
                <a:sym typeface="Lato"/>
              </a:endParaRPr>
            </a:p>
          </p:txBody>
        </p:sp>
      </p:grpSp>
      <p:grpSp>
        <p:nvGrpSpPr>
          <p:cNvPr id="363" name="Google Shape;363;p28"/>
          <p:cNvGrpSpPr/>
          <p:nvPr/>
        </p:nvGrpSpPr>
        <p:grpSpPr>
          <a:xfrm>
            <a:off x="4714875" y="1428750"/>
            <a:ext cx="3952800" cy="3238500"/>
            <a:chOff x="4714875" y="1428750"/>
            <a:chExt cx="3952800" cy="3238500"/>
          </a:xfrm>
        </p:grpSpPr>
        <p:sp>
          <p:nvSpPr>
            <p:cNvPr id="364" name="Google Shape;364;p28"/>
            <p:cNvSpPr/>
            <p:nvPr/>
          </p:nvSpPr>
          <p:spPr>
            <a:xfrm>
              <a:off x="4714875" y="1428750"/>
              <a:ext cx="3952800" cy="3238500"/>
            </a:xfrm>
            <a:prstGeom prst="roundRect">
              <a:avLst>
                <a:gd fmla="val 5882" name="adj"/>
              </a:avLst>
            </a:prstGeom>
            <a:solidFill>
              <a:srgbClr val="0145AC">
                <a:alpha val="20000"/>
              </a:srgbClr>
            </a:solidFill>
            <a:ln cap="flat" cmpd="sng" w="9525">
              <a:solidFill>
                <a:srgbClr val="0145A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28"/>
            <p:cNvSpPr txBox="1"/>
            <p:nvPr/>
          </p:nvSpPr>
          <p:spPr>
            <a:xfrm>
              <a:off x="4905375" y="1561845"/>
              <a:ext cx="35718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800">
                  <a:solidFill>
                    <a:srgbClr val="FFFFFF"/>
                  </a:solidFill>
                  <a:latin typeface="Lato"/>
                  <a:ea typeface="Lato"/>
                  <a:cs typeface="Lato"/>
                  <a:sym typeface="Lato"/>
                </a:rPr>
                <a:t>Desafíos</a:t>
              </a:r>
              <a:endParaRPr b="1" sz="1800">
                <a:solidFill>
                  <a:srgbClr val="FFFFFF"/>
                </a:solidFill>
                <a:latin typeface="Lato"/>
                <a:ea typeface="Lato"/>
                <a:cs typeface="Lato"/>
                <a:sym typeface="Lato"/>
              </a:endParaRPr>
            </a:p>
            <a:p>
              <a:pPr indent="0" lvl="0" marL="0" rtl="0" algn="l">
                <a:spcBef>
                  <a:spcPts val="1125"/>
                </a:spcBef>
                <a:spcAft>
                  <a:spcPts val="0"/>
                </a:spcAft>
                <a:buNone/>
              </a:pPr>
              <a:r>
                <a:rPr lang="es" sz="1300">
                  <a:solidFill>
                    <a:srgbClr val="CBD5E1"/>
                  </a:solidFill>
                  <a:latin typeface="Lato"/>
                  <a:ea typeface="Lato"/>
                  <a:cs typeface="Lato"/>
                  <a:sym typeface="Lato"/>
                </a:rPr>
                <a:t>Desafíos</a:t>
              </a:r>
              <a:r>
                <a:rPr lang="es" sz="1300">
                  <a:solidFill>
                    <a:srgbClr val="CBD5E1"/>
                  </a:solidFill>
                  <a:latin typeface="Lato"/>
                  <a:ea typeface="Lato"/>
                  <a:cs typeface="Lato"/>
                  <a:sym typeface="Lato"/>
                </a:rPr>
                <a:t> identificados</a:t>
              </a:r>
              <a:r>
                <a:rPr lang="es" sz="1300">
                  <a:solidFill>
                    <a:srgbClr val="CBD5E1"/>
                  </a:solidFill>
                  <a:latin typeface="Lato"/>
                  <a:ea typeface="Lato"/>
                  <a:cs typeface="Lato"/>
                  <a:sym typeface="Lato"/>
                </a:rPr>
                <a:t>:</a:t>
              </a:r>
              <a:endParaRPr sz="1300">
                <a:solidFill>
                  <a:srgbClr val="CBD5E1"/>
                </a:solidFill>
                <a:latin typeface="Lato"/>
                <a:ea typeface="Lato"/>
                <a:cs typeface="Lato"/>
                <a:sym typeface="Lato"/>
              </a:endParaRPr>
            </a:p>
            <a:p>
              <a:pPr indent="0" lvl="0" marL="0" rtl="0" algn="l">
                <a:spcBef>
                  <a:spcPts val="1875"/>
                </a:spcBef>
                <a:spcAft>
                  <a:spcPts val="0"/>
                </a:spcAft>
                <a:buNone/>
              </a:pPr>
              <a:r>
                <a:rPr lang="es" sz="2400">
                  <a:solidFill>
                    <a:srgbClr val="82C7A5"/>
                  </a:solidFill>
                  <a:latin typeface="Material Icons"/>
                  <a:ea typeface="Material Icons"/>
                  <a:cs typeface="Material Icons"/>
                  <a:sym typeface="Material Icons"/>
                </a:rPr>
                <a:t>trending_down</a:t>
              </a:r>
              <a:r>
                <a:rPr lang="es">
                  <a:solidFill>
                    <a:srgbClr val="FFFFFF"/>
                  </a:solidFill>
                  <a:latin typeface="Lato"/>
                  <a:ea typeface="Lato"/>
                  <a:cs typeface="Lato"/>
                  <a:sym typeface="Lato"/>
                </a:rPr>
                <a:t>  Clasificación del sentimiento de los usuarios con respecto a una noticia financiera</a:t>
              </a:r>
              <a:endParaRPr>
                <a:solidFill>
                  <a:srgbClr val="FFFFFF"/>
                </a:solidFill>
                <a:latin typeface="Lato"/>
                <a:ea typeface="Lato"/>
                <a:cs typeface="Lato"/>
                <a:sym typeface="Lato"/>
              </a:endParaRPr>
            </a:p>
            <a:p>
              <a:pPr indent="0" lvl="0" marL="0" rtl="0" algn="l">
                <a:spcBef>
                  <a:spcPts val="1500"/>
                </a:spcBef>
                <a:spcAft>
                  <a:spcPts val="0"/>
                </a:spcAft>
                <a:buNone/>
              </a:pPr>
              <a:r>
                <a:rPr lang="es" sz="2400">
                  <a:solidFill>
                    <a:srgbClr val="82C7A5"/>
                  </a:solidFill>
                  <a:latin typeface="Material Icons"/>
                  <a:ea typeface="Material Icons"/>
                  <a:cs typeface="Material Icons"/>
                  <a:sym typeface="Material Icons"/>
                </a:rPr>
                <a:t>hourglass_empty</a:t>
              </a:r>
              <a:r>
                <a:rPr lang="es">
                  <a:solidFill>
                    <a:srgbClr val="FFFFFF"/>
                  </a:solidFill>
                  <a:latin typeface="Lato"/>
                  <a:ea typeface="Lato"/>
                  <a:cs typeface="Lato"/>
                  <a:sym typeface="Lato"/>
                </a:rPr>
                <a:t>  </a:t>
              </a:r>
              <a:r>
                <a:rPr lang="es">
                  <a:solidFill>
                    <a:srgbClr val="FFFFFF"/>
                  </a:solidFill>
                  <a:latin typeface="Lato"/>
                  <a:ea typeface="Lato"/>
                  <a:cs typeface="Lato"/>
                  <a:sym typeface="Lato"/>
                </a:rPr>
                <a:t>Selección</a:t>
              </a:r>
              <a:r>
                <a:rPr lang="es">
                  <a:solidFill>
                    <a:srgbClr val="FFFFFF"/>
                  </a:solidFill>
                  <a:latin typeface="Lato"/>
                  <a:ea typeface="Lato"/>
                  <a:cs typeface="Lato"/>
                  <a:sym typeface="Lato"/>
                </a:rPr>
                <a:t> de la </a:t>
              </a:r>
              <a:r>
                <a:rPr lang="es">
                  <a:solidFill>
                    <a:srgbClr val="FFFFFF"/>
                  </a:solidFill>
                  <a:latin typeface="Lato"/>
                  <a:ea typeface="Lato"/>
                  <a:cs typeface="Lato"/>
                  <a:sym typeface="Lato"/>
                </a:rPr>
                <a:t>técnica</a:t>
              </a:r>
              <a:r>
                <a:rPr lang="es">
                  <a:solidFill>
                    <a:srgbClr val="FFFFFF"/>
                  </a:solidFill>
                  <a:latin typeface="Lato"/>
                  <a:ea typeface="Lato"/>
                  <a:cs typeface="Lato"/>
                  <a:sym typeface="Lato"/>
                </a:rPr>
                <a:t> </a:t>
              </a:r>
              <a:r>
                <a:rPr lang="es">
                  <a:solidFill>
                    <a:srgbClr val="FFFFFF"/>
                  </a:solidFill>
                  <a:latin typeface="Lato"/>
                  <a:ea typeface="Lato"/>
                  <a:cs typeface="Lato"/>
                  <a:sym typeface="Lato"/>
                </a:rPr>
                <a:t>más</a:t>
              </a:r>
              <a:r>
                <a:rPr lang="es">
                  <a:solidFill>
                    <a:srgbClr val="FFFFFF"/>
                  </a:solidFill>
                  <a:latin typeface="Lato"/>
                  <a:ea typeface="Lato"/>
                  <a:cs typeface="Lato"/>
                  <a:sym typeface="Lato"/>
                </a:rPr>
                <a:t> apropiada de Machine Learning para la </a:t>
              </a:r>
              <a:r>
                <a:rPr lang="es">
                  <a:solidFill>
                    <a:srgbClr val="FFFFFF"/>
                  </a:solidFill>
                  <a:latin typeface="Lato"/>
                  <a:ea typeface="Lato"/>
                  <a:cs typeface="Lato"/>
                  <a:sym typeface="Lato"/>
                </a:rPr>
                <a:t>solución</a:t>
              </a:r>
              <a:r>
                <a:rPr lang="es">
                  <a:solidFill>
                    <a:srgbClr val="FFFFFF"/>
                  </a:solidFill>
                  <a:latin typeface="Lato"/>
                  <a:ea typeface="Lato"/>
                  <a:cs typeface="Lato"/>
                  <a:sym typeface="Lato"/>
                </a:rPr>
                <a:t> del problema</a:t>
              </a:r>
              <a:endParaRPr>
                <a:solidFill>
                  <a:srgbClr val="FFFFFF"/>
                </a:solidFill>
                <a:latin typeface="Lato"/>
                <a:ea typeface="Lato"/>
                <a:cs typeface="Lato"/>
                <a:sym typeface="Lato"/>
              </a:endParaRPr>
            </a:p>
            <a:p>
              <a:pPr indent="0" lvl="0" marL="0" rtl="0" algn="l">
                <a:spcBef>
                  <a:spcPts val="1500"/>
                </a:spcBef>
                <a:spcAft>
                  <a:spcPts val="0"/>
                </a:spcAft>
                <a:buNone/>
              </a:pPr>
              <a:r>
                <a:rPr lang="es" sz="2400">
                  <a:solidFill>
                    <a:srgbClr val="82C7A5"/>
                  </a:solidFill>
                  <a:latin typeface="Material Icons"/>
                  <a:ea typeface="Material Icons"/>
                  <a:cs typeface="Material Icons"/>
                  <a:sym typeface="Material Icons"/>
                </a:rPr>
                <a:t>sp</a:t>
              </a:r>
              <a:endParaRPr>
                <a:solidFill>
                  <a:srgbClr val="FFFFFF"/>
                </a:solidFill>
                <a:latin typeface="Lato"/>
                <a:ea typeface="Lato"/>
                <a:cs typeface="Lato"/>
                <a:sym typeface="La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grpSp>
        <p:nvGrpSpPr>
          <p:cNvPr id="370" name="Google Shape;370;p29"/>
          <p:cNvGrpSpPr/>
          <p:nvPr/>
        </p:nvGrpSpPr>
        <p:grpSpPr>
          <a:xfrm>
            <a:off x="0" y="381001"/>
            <a:ext cx="1037850" cy="1016287"/>
            <a:chOff x="0" y="381001"/>
            <a:chExt cx="1037850" cy="1016287"/>
          </a:xfrm>
        </p:grpSpPr>
        <p:sp>
          <p:nvSpPr>
            <p:cNvPr id="371" name="Google Shape;371;p2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3" name="Google Shape;373;p29"/>
          <p:cNvSpPr txBox="1"/>
          <p:nvPr>
            <p:ph type="title"/>
          </p:nvPr>
        </p:nvSpPr>
        <p:spPr>
          <a:xfrm>
            <a:off x="1297505" y="393750"/>
            <a:ext cx="7038900" cy="9141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b="1" i="0" lang="es" sz="3600">
                <a:solidFill>
                  <a:srgbClr val="FFFFFF"/>
                </a:solidFill>
                <a:latin typeface="Montserrat"/>
                <a:ea typeface="Montserrat"/>
                <a:cs typeface="Montserrat"/>
                <a:sym typeface="Montserrat"/>
              </a:rPr>
              <a:t>IMPLEMENTACIÓN</a:t>
            </a:r>
            <a:endParaRPr b="1" i="0" sz="3600">
              <a:solidFill>
                <a:srgbClr val="FFFFFF"/>
              </a:solidFill>
              <a:latin typeface="Montserrat"/>
              <a:ea typeface="Montserrat"/>
              <a:cs typeface="Montserrat"/>
              <a:sym typeface="Montserrat"/>
            </a:endParaRPr>
          </a:p>
        </p:txBody>
      </p:sp>
      <p:grpSp>
        <p:nvGrpSpPr>
          <p:cNvPr id="374" name="Google Shape;374;p29"/>
          <p:cNvGrpSpPr/>
          <p:nvPr/>
        </p:nvGrpSpPr>
        <p:grpSpPr>
          <a:xfrm>
            <a:off x="925100" y="1468575"/>
            <a:ext cx="4762500" cy="3243175"/>
            <a:chOff x="1085850" y="1333500"/>
            <a:chExt cx="4762500" cy="3243175"/>
          </a:xfrm>
        </p:grpSpPr>
        <p:sp>
          <p:nvSpPr>
            <p:cNvPr id="375" name="Google Shape;375;p29"/>
            <p:cNvSpPr/>
            <p:nvPr/>
          </p:nvSpPr>
          <p:spPr>
            <a:xfrm>
              <a:off x="1085850" y="1333500"/>
              <a:ext cx="4762500" cy="3048000"/>
            </a:xfrm>
            <a:prstGeom prst="roundRect">
              <a:avLst>
                <a:gd fmla="val 4687"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9"/>
            <p:cNvSpPr txBox="1"/>
            <p:nvPr/>
          </p:nvSpPr>
          <p:spPr>
            <a:xfrm>
              <a:off x="1085850" y="1528675"/>
              <a:ext cx="4762500" cy="30480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lang="es" sz="1865">
                  <a:solidFill>
                    <a:srgbClr val="FFFFFF"/>
                  </a:solidFill>
                  <a:latin typeface="Lato"/>
                  <a:ea typeface="Lato"/>
                  <a:cs typeface="Lato"/>
                  <a:sym typeface="Lato"/>
                </a:rPr>
                <a:t>Se </a:t>
              </a:r>
              <a:r>
                <a:rPr lang="es" sz="1865">
                  <a:solidFill>
                    <a:srgbClr val="FFFFFF"/>
                  </a:solidFill>
                  <a:latin typeface="Lato"/>
                  <a:ea typeface="Lato"/>
                  <a:cs typeface="Lato"/>
                  <a:sym typeface="Lato"/>
                </a:rPr>
                <a:t>utilizó</a:t>
              </a:r>
              <a:r>
                <a:rPr lang="es" sz="1865">
                  <a:solidFill>
                    <a:srgbClr val="FFFFFF"/>
                  </a:solidFill>
                  <a:latin typeface="Lato"/>
                  <a:ea typeface="Lato"/>
                  <a:cs typeface="Lato"/>
                  <a:sym typeface="Lato"/>
                </a:rPr>
                <a:t> la </a:t>
              </a:r>
              <a:r>
                <a:rPr lang="es" sz="1865">
                  <a:solidFill>
                    <a:srgbClr val="FFFFFF"/>
                  </a:solidFill>
                  <a:latin typeface="Lato"/>
                  <a:ea typeface="Lato"/>
                  <a:cs typeface="Lato"/>
                  <a:sym typeface="Lato"/>
                </a:rPr>
                <a:t>metodología</a:t>
              </a:r>
              <a:r>
                <a:rPr lang="es" sz="1865">
                  <a:solidFill>
                    <a:srgbClr val="FFFFFF"/>
                  </a:solidFill>
                  <a:latin typeface="Lato"/>
                  <a:ea typeface="Lato"/>
                  <a:cs typeface="Lato"/>
                  <a:sym typeface="Lato"/>
                </a:rPr>
                <a:t> CRISP-DM, la cual contempla una serie de fases:</a:t>
              </a:r>
              <a:endParaRPr sz="1865">
                <a:solidFill>
                  <a:srgbClr val="FFFFFF"/>
                </a:solidFill>
                <a:latin typeface="Lato"/>
                <a:ea typeface="Lato"/>
                <a:cs typeface="Lato"/>
                <a:sym typeface="Lato"/>
              </a:endParaRPr>
            </a:p>
            <a:p>
              <a:pPr indent="-347028" lvl="0" marL="457200" rtl="0" algn="l">
                <a:spcBef>
                  <a:spcPts val="1125"/>
                </a:spcBef>
                <a:spcAft>
                  <a:spcPts val="0"/>
                </a:spcAft>
                <a:buClr>
                  <a:srgbClr val="FFFFFF"/>
                </a:buClr>
                <a:buSzPts val="1865"/>
                <a:buFont typeface="Lato"/>
                <a:buAutoNum type="arabicPeriod"/>
              </a:pPr>
              <a:r>
                <a:rPr lang="es" sz="1865">
                  <a:solidFill>
                    <a:srgbClr val="FFFFFF"/>
                  </a:solidFill>
                  <a:latin typeface="Lato"/>
                  <a:ea typeface="Lato"/>
                  <a:cs typeface="Lato"/>
                  <a:sym typeface="Lato"/>
                </a:rPr>
                <a:t>Entendimiento del negocio</a:t>
              </a:r>
              <a:endParaRPr sz="1865">
                <a:solidFill>
                  <a:srgbClr val="FFFFFF"/>
                </a:solidFill>
                <a:latin typeface="Lato"/>
                <a:ea typeface="Lato"/>
                <a:cs typeface="Lato"/>
                <a:sym typeface="Lato"/>
              </a:endParaRPr>
            </a:p>
            <a:p>
              <a:pPr indent="-347028" lvl="0" marL="457200" rtl="0" algn="l">
                <a:spcBef>
                  <a:spcPts val="0"/>
                </a:spcBef>
                <a:spcAft>
                  <a:spcPts val="0"/>
                </a:spcAft>
                <a:buClr>
                  <a:srgbClr val="FFFFFF"/>
                </a:buClr>
                <a:buSzPts val="1865"/>
                <a:buFont typeface="Lato"/>
                <a:buAutoNum type="arabicPeriod"/>
              </a:pPr>
              <a:r>
                <a:rPr lang="es" sz="1865">
                  <a:solidFill>
                    <a:srgbClr val="FFFFFF"/>
                  </a:solidFill>
                  <a:latin typeface="Lato"/>
                  <a:ea typeface="Lato"/>
                  <a:cs typeface="Lato"/>
                  <a:sym typeface="Lato"/>
                </a:rPr>
                <a:t>Entendimiento de los datos</a:t>
              </a:r>
              <a:endParaRPr sz="1865">
                <a:solidFill>
                  <a:srgbClr val="FFFFFF"/>
                </a:solidFill>
                <a:latin typeface="Lato"/>
                <a:ea typeface="Lato"/>
                <a:cs typeface="Lato"/>
                <a:sym typeface="Lato"/>
              </a:endParaRPr>
            </a:p>
            <a:p>
              <a:pPr indent="-347028" lvl="0" marL="457200" rtl="0" algn="l">
                <a:spcBef>
                  <a:spcPts val="0"/>
                </a:spcBef>
                <a:spcAft>
                  <a:spcPts val="0"/>
                </a:spcAft>
                <a:buClr>
                  <a:srgbClr val="FFFFFF"/>
                </a:buClr>
                <a:buSzPts val="1865"/>
                <a:buFont typeface="Lato"/>
                <a:buAutoNum type="arabicPeriod"/>
              </a:pPr>
              <a:r>
                <a:rPr lang="es" sz="1865">
                  <a:solidFill>
                    <a:srgbClr val="FFFFFF"/>
                  </a:solidFill>
                  <a:latin typeface="Lato"/>
                  <a:ea typeface="Lato"/>
                  <a:cs typeface="Lato"/>
                  <a:sym typeface="Lato"/>
                </a:rPr>
                <a:t>Preparación</a:t>
              </a:r>
              <a:r>
                <a:rPr lang="es" sz="1865">
                  <a:solidFill>
                    <a:srgbClr val="FFFFFF"/>
                  </a:solidFill>
                  <a:latin typeface="Lato"/>
                  <a:ea typeface="Lato"/>
                  <a:cs typeface="Lato"/>
                  <a:sym typeface="Lato"/>
                </a:rPr>
                <a:t> de los datos</a:t>
              </a:r>
              <a:endParaRPr sz="1865">
                <a:solidFill>
                  <a:srgbClr val="FFFFFF"/>
                </a:solidFill>
                <a:latin typeface="Lato"/>
                <a:ea typeface="Lato"/>
                <a:cs typeface="Lato"/>
                <a:sym typeface="Lato"/>
              </a:endParaRPr>
            </a:p>
            <a:p>
              <a:pPr indent="-347028" lvl="0" marL="457200" rtl="0" algn="l">
                <a:spcBef>
                  <a:spcPts val="0"/>
                </a:spcBef>
                <a:spcAft>
                  <a:spcPts val="0"/>
                </a:spcAft>
                <a:buClr>
                  <a:srgbClr val="FFFFFF"/>
                </a:buClr>
                <a:buSzPts val="1865"/>
                <a:buFont typeface="Lato"/>
                <a:buAutoNum type="arabicPeriod"/>
              </a:pPr>
              <a:r>
                <a:rPr lang="es" sz="1865">
                  <a:solidFill>
                    <a:srgbClr val="FFFFFF"/>
                  </a:solidFill>
                  <a:latin typeface="Lato"/>
                  <a:ea typeface="Lato"/>
                  <a:cs typeface="Lato"/>
                  <a:sym typeface="Lato"/>
                </a:rPr>
                <a:t>Modelado</a:t>
              </a:r>
              <a:endParaRPr sz="1865">
                <a:solidFill>
                  <a:srgbClr val="FFFFFF"/>
                </a:solidFill>
                <a:latin typeface="Lato"/>
                <a:ea typeface="Lato"/>
                <a:cs typeface="Lato"/>
                <a:sym typeface="Lato"/>
              </a:endParaRPr>
            </a:p>
            <a:p>
              <a:pPr indent="-347028" lvl="0" marL="457200" rtl="0" algn="l">
                <a:spcBef>
                  <a:spcPts val="0"/>
                </a:spcBef>
                <a:spcAft>
                  <a:spcPts val="0"/>
                </a:spcAft>
                <a:buClr>
                  <a:srgbClr val="FFFFFF"/>
                </a:buClr>
                <a:buSzPts val="1865"/>
                <a:buFont typeface="Lato"/>
                <a:buAutoNum type="arabicPeriod"/>
              </a:pPr>
              <a:r>
                <a:rPr lang="es" sz="1865">
                  <a:solidFill>
                    <a:srgbClr val="FFFFFF"/>
                  </a:solidFill>
                  <a:latin typeface="Lato"/>
                  <a:ea typeface="Lato"/>
                  <a:cs typeface="Lato"/>
                  <a:sym typeface="Lato"/>
                </a:rPr>
                <a:t>Evaluación</a:t>
              </a:r>
              <a:endParaRPr sz="1865">
                <a:solidFill>
                  <a:srgbClr val="FFFFFF"/>
                </a:solidFill>
                <a:latin typeface="Lato"/>
                <a:ea typeface="Lato"/>
                <a:cs typeface="Lato"/>
                <a:sym typeface="Lato"/>
              </a:endParaRPr>
            </a:p>
            <a:p>
              <a:pPr indent="-347028" lvl="0" marL="457200" rtl="0" algn="l">
                <a:spcBef>
                  <a:spcPts val="0"/>
                </a:spcBef>
                <a:spcAft>
                  <a:spcPts val="0"/>
                </a:spcAft>
                <a:buClr>
                  <a:srgbClr val="FFFFFF"/>
                </a:buClr>
                <a:buSzPts val="1865"/>
                <a:buFont typeface="Lato"/>
                <a:buAutoNum type="arabicPeriod"/>
              </a:pPr>
              <a:r>
                <a:rPr lang="es" sz="1865">
                  <a:solidFill>
                    <a:srgbClr val="FFFFFF"/>
                  </a:solidFill>
                  <a:latin typeface="Lato"/>
                  <a:ea typeface="Lato"/>
                  <a:cs typeface="Lato"/>
                  <a:sym typeface="Lato"/>
                </a:rPr>
                <a:t>Despliegue</a:t>
              </a:r>
              <a:endParaRPr sz="1865">
                <a:solidFill>
                  <a:srgbClr val="FFFFFF"/>
                </a:solidFill>
                <a:latin typeface="Lato"/>
                <a:ea typeface="Lato"/>
                <a:cs typeface="Lato"/>
                <a:sym typeface="Lato"/>
              </a:endParaRPr>
            </a:p>
            <a:p>
              <a:pPr indent="0" lvl="0" marL="0" rtl="0" algn="l">
                <a:spcBef>
                  <a:spcPts val="1125"/>
                </a:spcBef>
                <a:spcAft>
                  <a:spcPts val="1125"/>
                </a:spcAft>
                <a:buNone/>
              </a:pPr>
              <a:r>
                <a:t/>
              </a:r>
              <a:endParaRPr sz="1865">
                <a:solidFill>
                  <a:srgbClr val="FFFFFF"/>
                </a:solidFill>
                <a:latin typeface="Lato"/>
                <a:ea typeface="Lato"/>
                <a:cs typeface="Lato"/>
                <a:sym typeface="Lato"/>
              </a:endParaRPr>
            </a:p>
          </p:txBody>
        </p:sp>
      </p:grpSp>
      <p:pic>
        <p:nvPicPr>
          <p:cNvPr id="377" name="Google Shape;377;p29"/>
          <p:cNvPicPr preferRelativeResize="0"/>
          <p:nvPr/>
        </p:nvPicPr>
        <p:blipFill>
          <a:blip r:embed="rId3">
            <a:alphaModFix/>
          </a:blip>
          <a:stretch>
            <a:fillRect/>
          </a:stretch>
        </p:blipFill>
        <p:spPr>
          <a:xfrm>
            <a:off x="6976875" y="199722"/>
            <a:ext cx="2052826" cy="757775"/>
          </a:xfrm>
          <a:prstGeom prst="rect">
            <a:avLst/>
          </a:prstGeom>
          <a:noFill/>
          <a:ln>
            <a:noFill/>
          </a:ln>
        </p:spPr>
      </p:pic>
      <p:pic>
        <p:nvPicPr>
          <p:cNvPr id="378" name="Google Shape;378;p29"/>
          <p:cNvPicPr preferRelativeResize="0"/>
          <p:nvPr/>
        </p:nvPicPr>
        <p:blipFill>
          <a:blip r:embed="rId4">
            <a:alphaModFix/>
          </a:blip>
          <a:stretch>
            <a:fillRect/>
          </a:stretch>
        </p:blipFill>
        <p:spPr>
          <a:xfrm>
            <a:off x="6000750" y="1460250"/>
            <a:ext cx="2990852" cy="299670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grpSp>
        <p:nvGrpSpPr>
          <p:cNvPr id="383" name="Google Shape;383;p30"/>
          <p:cNvGrpSpPr/>
          <p:nvPr/>
        </p:nvGrpSpPr>
        <p:grpSpPr>
          <a:xfrm>
            <a:off x="0" y="381001"/>
            <a:ext cx="1037850" cy="1016287"/>
            <a:chOff x="0" y="381001"/>
            <a:chExt cx="1037850" cy="1016287"/>
          </a:xfrm>
        </p:grpSpPr>
        <p:sp>
          <p:nvSpPr>
            <p:cNvPr id="384" name="Google Shape;384;p3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6" name="Google Shape;386;p30"/>
          <p:cNvSpPr txBox="1"/>
          <p:nvPr>
            <p:ph type="title"/>
          </p:nvPr>
        </p:nvSpPr>
        <p:spPr>
          <a:xfrm>
            <a:off x="1297505" y="393750"/>
            <a:ext cx="7038900" cy="9141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b="1" i="0" lang="es" sz="3600">
                <a:solidFill>
                  <a:srgbClr val="FFFFFF"/>
                </a:solidFill>
                <a:latin typeface="Montserrat"/>
                <a:ea typeface="Montserrat"/>
                <a:cs typeface="Montserrat"/>
                <a:sym typeface="Montserrat"/>
              </a:rPr>
              <a:t>IMPLEMENTACIÓN</a:t>
            </a:r>
            <a:endParaRPr b="1" i="0" sz="3600">
              <a:solidFill>
                <a:srgbClr val="FFFFFF"/>
              </a:solidFill>
              <a:latin typeface="Montserrat"/>
              <a:ea typeface="Montserrat"/>
              <a:cs typeface="Montserrat"/>
              <a:sym typeface="Montserrat"/>
            </a:endParaRPr>
          </a:p>
        </p:txBody>
      </p:sp>
      <p:grpSp>
        <p:nvGrpSpPr>
          <p:cNvPr id="387" name="Google Shape;387;p30"/>
          <p:cNvGrpSpPr/>
          <p:nvPr/>
        </p:nvGrpSpPr>
        <p:grpSpPr>
          <a:xfrm>
            <a:off x="190325" y="1468575"/>
            <a:ext cx="4585819" cy="3048000"/>
            <a:chOff x="1085842" y="1333500"/>
            <a:chExt cx="4762508" cy="3048000"/>
          </a:xfrm>
        </p:grpSpPr>
        <p:sp>
          <p:nvSpPr>
            <p:cNvPr id="388" name="Google Shape;388;p30"/>
            <p:cNvSpPr/>
            <p:nvPr/>
          </p:nvSpPr>
          <p:spPr>
            <a:xfrm>
              <a:off x="1085850" y="1333500"/>
              <a:ext cx="4762500" cy="3048000"/>
            </a:xfrm>
            <a:prstGeom prst="roundRect">
              <a:avLst>
                <a:gd fmla="val 4687"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30"/>
            <p:cNvSpPr txBox="1"/>
            <p:nvPr/>
          </p:nvSpPr>
          <p:spPr>
            <a:xfrm>
              <a:off x="1085842" y="1965950"/>
              <a:ext cx="4762500" cy="23076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lang="es" sz="1865">
                  <a:solidFill>
                    <a:srgbClr val="FFFFFF"/>
                  </a:solidFill>
                  <a:latin typeface="Lato"/>
                  <a:ea typeface="Lato"/>
                  <a:cs typeface="Lato"/>
                  <a:sym typeface="Lato"/>
                </a:rPr>
                <a:t>F</a:t>
              </a:r>
              <a:r>
                <a:rPr lang="es" sz="1865">
                  <a:solidFill>
                    <a:srgbClr val="FFFFFF"/>
                  </a:solidFill>
                  <a:latin typeface="Lato"/>
                  <a:ea typeface="Lato"/>
                  <a:cs typeface="Lato"/>
                  <a:sym typeface="Lato"/>
                </a:rPr>
                <a:t>ase:</a:t>
              </a:r>
              <a:endParaRPr sz="1865">
                <a:solidFill>
                  <a:srgbClr val="FFFFFF"/>
                </a:solidFill>
                <a:latin typeface="Lato"/>
                <a:ea typeface="Lato"/>
                <a:cs typeface="Lato"/>
                <a:sym typeface="Lato"/>
              </a:endParaRPr>
            </a:p>
            <a:p>
              <a:pPr indent="-347028" lvl="0" marL="457200" rtl="0" algn="l">
                <a:spcBef>
                  <a:spcPts val="1125"/>
                </a:spcBef>
                <a:spcAft>
                  <a:spcPts val="0"/>
                </a:spcAft>
                <a:buClr>
                  <a:srgbClr val="FFFFFF"/>
                </a:buClr>
                <a:buSzPts val="1865"/>
                <a:buFont typeface="Lato"/>
                <a:buAutoNum type="arabicPeriod"/>
              </a:pPr>
              <a:r>
                <a:rPr lang="es" sz="1865">
                  <a:solidFill>
                    <a:srgbClr val="FFFFFF"/>
                  </a:solidFill>
                  <a:latin typeface="Lato"/>
                  <a:ea typeface="Lato"/>
                  <a:cs typeface="Lato"/>
                  <a:sym typeface="Lato"/>
                </a:rPr>
                <a:t>Entendimiento del negocio</a:t>
              </a:r>
              <a:endParaRPr sz="1865">
                <a:solidFill>
                  <a:srgbClr val="FFFFFF"/>
                </a:solidFill>
                <a:latin typeface="Lato"/>
                <a:ea typeface="Lato"/>
                <a:cs typeface="Lato"/>
                <a:sym typeface="Lato"/>
              </a:endParaRPr>
            </a:p>
            <a:p>
              <a:pPr indent="0" lvl="0" marL="0" rtl="0" algn="l">
                <a:spcBef>
                  <a:spcPts val="1125"/>
                </a:spcBef>
                <a:spcAft>
                  <a:spcPts val="0"/>
                </a:spcAft>
                <a:buNone/>
              </a:pPr>
              <a:r>
                <a:rPr lang="es" sz="1865">
                  <a:solidFill>
                    <a:srgbClr val="FFFFFF"/>
                  </a:solidFill>
                  <a:latin typeface="Lato"/>
                  <a:ea typeface="Lato"/>
                  <a:cs typeface="Lato"/>
                  <a:sym typeface="Lato"/>
                </a:rPr>
                <a:t>Las noticias financieras puede influir en la percepción y valoración de empresas, sectores y mercados.</a:t>
              </a:r>
              <a:endParaRPr sz="1865">
                <a:solidFill>
                  <a:srgbClr val="FFFFFF"/>
                </a:solidFill>
                <a:latin typeface="Lato"/>
                <a:ea typeface="Lato"/>
                <a:cs typeface="Lato"/>
                <a:sym typeface="Lato"/>
              </a:endParaRPr>
            </a:p>
            <a:p>
              <a:pPr indent="0" lvl="0" marL="0" rtl="0" algn="l">
                <a:spcBef>
                  <a:spcPts val="1125"/>
                </a:spcBef>
                <a:spcAft>
                  <a:spcPts val="0"/>
                </a:spcAft>
                <a:buNone/>
              </a:pPr>
              <a:r>
                <a:rPr lang="es" sz="1865">
                  <a:solidFill>
                    <a:srgbClr val="FFFFFF"/>
                  </a:solidFill>
                  <a:latin typeface="Lato"/>
                  <a:ea typeface="Lato"/>
                  <a:cs typeface="Lato"/>
                  <a:sym typeface="Lato"/>
                </a:rPr>
                <a:t>“Conocer la </a:t>
              </a:r>
              <a:r>
                <a:rPr lang="es" sz="1865">
                  <a:solidFill>
                    <a:srgbClr val="FFFFFF"/>
                  </a:solidFill>
                  <a:latin typeface="Lato"/>
                  <a:ea typeface="Lato"/>
                  <a:cs typeface="Lato"/>
                  <a:sym typeface="Lato"/>
                </a:rPr>
                <a:t>percepción</a:t>
              </a:r>
              <a:r>
                <a:rPr lang="es" sz="1865">
                  <a:solidFill>
                    <a:srgbClr val="FFFFFF"/>
                  </a:solidFill>
                  <a:latin typeface="Lato"/>
                  <a:ea typeface="Lato"/>
                  <a:cs typeface="Lato"/>
                  <a:sym typeface="Lato"/>
                </a:rPr>
                <a:t> que tienen las personas sobre una noticia financiera es clave para empresas, entidades y gobiernos”</a:t>
              </a:r>
              <a:endParaRPr sz="1865">
                <a:solidFill>
                  <a:srgbClr val="FFFFFF"/>
                </a:solidFill>
                <a:latin typeface="Lato"/>
                <a:ea typeface="Lato"/>
                <a:cs typeface="Lato"/>
                <a:sym typeface="Lato"/>
              </a:endParaRPr>
            </a:p>
            <a:p>
              <a:pPr indent="0" lvl="0" marL="0" rtl="0" algn="l">
                <a:spcBef>
                  <a:spcPts val="1125"/>
                </a:spcBef>
                <a:spcAft>
                  <a:spcPts val="1125"/>
                </a:spcAft>
                <a:buNone/>
              </a:pPr>
              <a:r>
                <a:t/>
              </a:r>
              <a:endParaRPr sz="1865">
                <a:solidFill>
                  <a:srgbClr val="FFFFFF"/>
                </a:solidFill>
                <a:latin typeface="Lato"/>
                <a:ea typeface="Lato"/>
                <a:cs typeface="Lato"/>
                <a:sym typeface="Lato"/>
              </a:endParaRPr>
            </a:p>
          </p:txBody>
        </p:sp>
      </p:grpSp>
      <p:pic>
        <p:nvPicPr>
          <p:cNvPr id="390" name="Google Shape;390;p30"/>
          <p:cNvPicPr preferRelativeResize="0"/>
          <p:nvPr/>
        </p:nvPicPr>
        <p:blipFill>
          <a:blip r:embed="rId3">
            <a:alphaModFix/>
          </a:blip>
          <a:stretch>
            <a:fillRect/>
          </a:stretch>
        </p:blipFill>
        <p:spPr>
          <a:xfrm>
            <a:off x="6976875" y="199722"/>
            <a:ext cx="2052826" cy="757775"/>
          </a:xfrm>
          <a:prstGeom prst="rect">
            <a:avLst/>
          </a:prstGeom>
          <a:noFill/>
          <a:ln>
            <a:noFill/>
          </a:ln>
        </p:spPr>
      </p:pic>
      <p:pic>
        <p:nvPicPr>
          <p:cNvPr id="391" name="Google Shape;391;p30"/>
          <p:cNvPicPr preferRelativeResize="0"/>
          <p:nvPr/>
        </p:nvPicPr>
        <p:blipFill>
          <a:blip r:embed="rId4">
            <a:alphaModFix/>
          </a:blip>
          <a:stretch>
            <a:fillRect/>
          </a:stretch>
        </p:blipFill>
        <p:spPr>
          <a:xfrm>
            <a:off x="4848725" y="1489150"/>
            <a:ext cx="4049449" cy="3027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grpSp>
        <p:nvGrpSpPr>
          <p:cNvPr id="396" name="Google Shape;396;p31"/>
          <p:cNvGrpSpPr/>
          <p:nvPr/>
        </p:nvGrpSpPr>
        <p:grpSpPr>
          <a:xfrm>
            <a:off x="0" y="381001"/>
            <a:ext cx="1037850" cy="1016287"/>
            <a:chOff x="0" y="381001"/>
            <a:chExt cx="1037850" cy="1016287"/>
          </a:xfrm>
        </p:grpSpPr>
        <p:sp>
          <p:nvSpPr>
            <p:cNvPr id="397" name="Google Shape;397;p3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9" name="Google Shape;399;p31"/>
          <p:cNvSpPr txBox="1"/>
          <p:nvPr>
            <p:ph type="title"/>
          </p:nvPr>
        </p:nvSpPr>
        <p:spPr>
          <a:xfrm>
            <a:off x="1297505" y="393750"/>
            <a:ext cx="7038900" cy="9141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b="1" i="0" lang="es" sz="3600">
                <a:solidFill>
                  <a:srgbClr val="FFFFFF"/>
                </a:solidFill>
                <a:latin typeface="Montserrat"/>
                <a:ea typeface="Montserrat"/>
                <a:cs typeface="Montserrat"/>
                <a:sym typeface="Montserrat"/>
              </a:rPr>
              <a:t>IMPLEMENTACIÓN</a:t>
            </a:r>
            <a:endParaRPr b="1" i="0" sz="3600">
              <a:solidFill>
                <a:srgbClr val="FFFFFF"/>
              </a:solidFill>
              <a:latin typeface="Montserrat"/>
              <a:ea typeface="Montserrat"/>
              <a:cs typeface="Montserrat"/>
              <a:sym typeface="Montserrat"/>
            </a:endParaRPr>
          </a:p>
        </p:txBody>
      </p:sp>
      <p:grpSp>
        <p:nvGrpSpPr>
          <p:cNvPr id="400" name="Google Shape;400;p31"/>
          <p:cNvGrpSpPr/>
          <p:nvPr/>
        </p:nvGrpSpPr>
        <p:grpSpPr>
          <a:xfrm>
            <a:off x="190325" y="1468575"/>
            <a:ext cx="4585819" cy="3048000"/>
            <a:chOff x="1085842" y="1333500"/>
            <a:chExt cx="4762508" cy="3048000"/>
          </a:xfrm>
        </p:grpSpPr>
        <p:sp>
          <p:nvSpPr>
            <p:cNvPr id="401" name="Google Shape;401;p31"/>
            <p:cNvSpPr/>
            <p:nvPr/>
          </p:nvSpPr>
          <p:spPr>
            <a:xfrm>
              <a:off x="1085850" y="1333500"/>
              <a:ext cx="4762500" cy="3048000"/>
            </a:xfrm>
            <a:prstGeom prst="roundRect">
              <a:avLst>
                <a:gd fmla="val 4687"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2" name="Google Shape;402;p31"/>
            <p:cNvSpPr txBox="1"/>
            <p:nvPr/>
          </p:nvSpPr>
          <p:spPr>
            <a:xfrm>
              <a:off x="1085842" y="1690400"/>
              <a:ext cx="4762500" cy="26910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lang="es" sz="1865">
                  <a:solidFill>
                    <a:srgbClr val="FFFFFF"/>
                  </a:solidFill>
                  <a:latin typeface="Lato"/>
                  <a:ea typeface="Lato"/>
                  <a:cs typeface="Lato"/>
                  <a:sym typeface="Lato"/>
                </a:rPr>
                <a:t>Fase:</a:t>
              </a:r>
              <a:endParaRPr sz="1865">
                <a:solidFill>
                  <a:srgbClr val="FFFFFF"/>
                </a:solidFill>
                <a:latin typeface="Lato"/>
                <a:ea typeface="Lato"/>
                <a:cs typeface="Lato"/>
                <a:sym typeface="Lato"/>
              </a:endParaRPr>
            </a:p>
            <a:p>
              <a:pPr indent="0" lvl="0" marL="0" rtl="0" algn="l">
                <a:spcBef>
                  <a:spcPts val="1125"/>
                </a:spcBef>
                <a:spcAft>
                  <a:spcPts val="0"/>
                </a:spcAft>
                <a:buNone/>
              </a:pPr>
              <a:r>
                <a:rPr lang="es" sz="1865">
                  <a:solidFill>
                    <a:srgbClr val="FFFFFF"/>
                  </a:solidFill>
                  <a:latin typeface="Lato"/>
                  <a:ea typeface="Lato"/>
                  <a:cs typeface="Lato"/>
                  <a:sym typeface="Lato"/>
                </a:rPr>
                <a:t>2. Entendimiento de los datos</a:t>
              </a:r>
              <a:endParaRPr sz="1865">
                <a:solidFill>
                  <a:srgbClr val="FFFFFF"/>
                </a:solidFill>
                <a:latin typeface="Lato"/>
                <a:ea typeface="Lato"/>
                <a:cs typeface="Lato"/>
                <a:sym typeface="Lato"/>
              </a:endParaRPr>
            </a:p>
            <a:p>
              <a:pPr indent="0" lvl="0" marL="0" rtl="0" algn="l">
                <a:spcBef>
                  <a:spcPts val="1125"/>
                </a:spcBef>
                <a:spcAft>
                  <a:spcPts val="0"/>
                </a:spcAft>
                <a:buNone/>
              </a:pPr>
              <a:r>
                <a:rPr lang="es" sz="1865">
                  <a:solidFill>
                    <a:srgbClr val="FFFFFF"/>
                  </a:solidFill>
                  <a:latin typeface="Lato"/>
                  <a:ea typeface="Lato"/>
                  <a:cs typeface="Lato"/>
                  <a:sym typeface="Lato"/>
                </a:rPr>
                <a:t>El dataset seleccionado nos aporta </a:t>
              </a:r>
              <a:r>
                <a:rPr lang="es" sz="1865">
                  <a:solidFill>
                    <a:srgbClr val="FFFFFF"/>
                  </a:solidFill>
                  <a:latin typeface="Lato"/>
                  <a:ea typeface="Lato"/>
                  <a:cs typeface="Lato"/>
                  <a:sym typeface="Lato"/>
                </a:rPr>
                <a:t>información</a:t>
              </a:r>
              <a:r>
                <a:rPr lang="es" sz="1865">
                  <a:solidFill>
                    <a:srgbClr val="FFFFFF"/>
                  </a:solidFill>
                  <a:latin typeface="Lato"/>
                  <a:ea typeface="Lato"/>
                  <a:cs typeface="Lato"/>
                  <a:sym typeface="Lato"/>
                </a:rPr>
                <a:t> sobre: </a:t>
              </a:r>
              <a:endParaRPr sz="1865">
                <a:solidFill>
                  <a:srgbClr val="FFFFFF"/>
                </a:solidFill>
                <a:latin typeface="Lato"/>
                <a:ea typeface="Lato"/>
                <a:cs typeface="Lato"/>
                <a:sym typeface="Lato"/>
              </a:endParaRPr>
            </a:p>
            <a:p>
              <a:pPr indent="-347028" lvl="0" marL="457200" rtl="0" algn="l">
                <a:spcBef>
                  <a:spcPts val="1125"/>
                </a:spcBef>
                <a:spcAft>
                  <a:spcPts val="0"/>
                </a:spcAft>
                <a:buClr>
                  <a:srgbClr val="00FF00"/>
                </a:buClr>
                <a:buSzPts val="1865"/>
                <a:buFont typeface="Lato"/>
                <a:buChar char="●"/>
              </a:pPr>
              <a:r>
                <a:rPr lang="es" sz="1865">
                  <a:solidFill>
                    <a:srgbClr val="00FF00"/>
                  </a:solidFill>
                  <a:latin typeface="Lato"/>
                  <a:ea typeface="Lato"/>
                  <a:cs typeface="Lato"/>
                  <a:sym typeface="Lato"/>
                </a:rPr>
                <a:t>Titulo noticia financiera</a:t>
              </a:r>
              <a:endParaRPr sz="1865">
                <a:solidFill>
                  <a:srgbClr val="00FF00"/>
                </a:solidFill>
                <a:latin typeface="Lato"/>
                <a:ea typeface="Lato"/>
                <a:cs typeface="Lato"/>
                <a:sym typeface="Lato"/>
              </a:endParaRPr>
            </a:p>
            <a:p>
              <a:pPr indent="-347028" lvl="0" marL="457200" rtl="0" algn="l">
                <a:spcBef>
                  <a:spcPts val="0"/>
                </a:spcBef>
                <a:spcAft>
                  <a:spcPts val="0"/>
                </a:spcAft>
                <a:buClr>
                  <a:srgbClr val="00FFFF"/>
                </a:buClr>
                <a:buSzPts val="1865"/>
                <a:buFont typeface="Lato"/>
                <a:buChar char="●"/>
              </a:pPr>
              <a:r>
                <a:rPr lang="es" sz="1865">
                  <a:solidFill>
                    <a:srgbClr val="00FFFF"/>
                  </a:solidFill>
                  <a:latin typeface="Lato"/>
                  <a:ea typeface="Lato"/>
                  <a:cs typeface="Lato"/>
                  <a:sym typeface="Lato"/>
                </a:rPr>
                <a:t>Etiqueta</a:t>
              </a:r>
              <a:endParaRPr sz="1865">
                <a:solidFill>
                  <a:srgbClr val="00FFFF"/>
                </a:solidFill>
                <a:latin typeface="Lato"/>
                <a:ea typeface="Lato"/>
                <a:cs typeface="Lato"/>
                <a:sym typeface="Lato"/>
              </a:endParaRPr>
            </a:p>
            <a:p>
              <a:pPr indent="-347028" lvl="0" marL="457200" rtl="0" algn="l">
                <a:spcBef>
                  <a:spcPts val="0"/>
                </a:spcBef>
                <a:spcAft>
                  <a:spcPts val="0"/>
                </a:spcAft>
                <a:buClr>
                  <a:srgbClr val="FFFFFF"/>
                </a:buClr>
                <a:buSzPts val="1865"/>
                <a:buFont typeface="Lato"/>
                <a:buChar char="●"/>
              </a:pPr>
              <a:r>
                <a:rPr lang="es" sz="1865">
                  <a:solidFill>
                    <a:srgbClr val="FFFFFF"/>
                  </a:solidFill>
                  <a:latin typeface="Lato"/>
                  <a:ea typeface="Lato"/>
                  <a:cs typeface="Lato"/>
                  <a:sym typeface="Lato"/>
                </a:rPr>
                <a:t>Fuente</a:t>
              </a:r>
              <a:endParaRPr sz="1865">
                <a:solidFill>
                  <a:srgbClr val="FFFFFF"/>
                </a:solidFill>
                <a:latin typeface="Lato"/>
                <a:ea typeface="Lato"/>
                <a:cs typeface="Lato"/>
                <a:sym typeface="Lato"/>
              </a:endParaRPr>
            </a:p>
            <a:p>
              <a:pPr indent="-347028" lvl="0" marL="457200" rtl="0" algn="l">
                <a:spcBef>
                  <a:spcPts val="0"/>
                </a:spcBef>
                <a:spcAft>
                  <a:spcPts val="0"/>
                </a:spcAft>
                <a:buClr>
                  <a:srgbClr val="FFFFFF"/>
                </a:buClr>
                <a:buSzPts val="1865"/>
                <a:buFont typeface="Lato"/>
                <a:buChar char="●"/>
              </a:pPr>
              <a:r>
                <a:rPr lang="es" sz="1865">
                  <a:solidFill>
                    <a:srgbClr val="FFFFFF"/>
                  </a:solidFill>
                  <a:latin typeface="Lato"/>
                  <a:ea typeface="Lato"/>
                  <a:cs typeface="Lato"/>
                  <a:sym typeface="Lato"/>
                </a:rPr>
                <a:t>Lenguaje</a:t>
              </a:r>
              <a:endParaRPr sz="1865">
                <a:solidFill>
                  <a:srgbClr val="FFFFFF"/>
                </a:solidFill>
                <a:latin typeface="Lato"/>
                <a:ea typeface="Lato"/>
                <a:cs typeface="Lato"/>
                <a:sym typeface="Lato"/>
              </a:endParaRPr>
            </a:p>
            <a:p>
              <a:pPr indent="0" lvl="0" marL="0" rtl="0" algn="l">
                <a:spcBef>
                  <a:spcPts val="1125"/>
                </a:spcBef>
                <a:spcAft>
                  <a:spcPts val="1125"/>
                </a:spcAft>
                <a:buNone/>
              </a:pPr>
              <a:r>
                <a:t/>
              </a:r>
              <a:endParaRPr sz="1865">
                <a:solidFill>
                  <a:srgbClr val="FFFFFF"/>
                </a:solidFill>
                <a:latin typeface="Lato"/>
                <a:ea typeface="Lato"/>
                <a:cs typeface="Lato"/>
                <a:sym typeface="Lato"/>
              </a:endParaRPr>
            </a:p>
          </p:txBody>
        </p:sp>
      </p:grpSp>
      <p:pic>
        <p:nvPicPr>
          <p:cNvPr id="403" name="Google Shape;403;p31"/>
          <p:cNvPicPr preferRelativeResize="0"/>
          <p:nvPr/>
        </p:nvPicPr>
        <p:blipFill>
          <a:blip r:embed="rId3">
            <a:alphaModFix/>
          </a:blip>
          <a:stretch>
            <a:fillRect/>
          </a:stretch>
        </p:blipFill>
        <p:spPr>
          <a:xfrm>
            <a:off x="6976875" y="199722"/>
            <a:ext cx="2052826" cy="757775"/>
          </a:xfrm>
          <a:prstGeom prst="rect">
            <a:avLst/>
          </a:prstGeom>
          <a:noFill/>
          <a:ln>
            <a:noFill/>
          </a:ln>
        </p:spPr>
      </p:pic>
      <p:pic>
        <p:nvPicPr>
          <p:cNvPr id="404" name="Google Shape;404;p31"/>
          <p:cNvPicPr preferRelativeResize="0"/>
          <p:nvPr/>
        </p:nvPicPr>
        <p:blipFill>
          <a:blip r:embed="rId4">
            <a:alphaModFix/>
          </a:blip>
          <a:stretch>
            <a:fillRect/>
          </a:stretch>
        </p:blipFill>
        <p:spPr>
          <a:xfrm>
            <a:off x="4776150" y="1468575"/>
            <a:ext cx="4253549" cy="1207425"/>
          </a:xfrm>
          <a:prstGeom prst="rect">
            <a:avLst/>
          </a:prstGeom>
          <a:noFill/>
          <a:ln>
            <a:noFill/>
          </a:ln>
        </p:spPr>
      </p:pic>
      <p:pic>
        <p:nvPicPr>
          <p:cNvPr id="405" name="Google Shape;405;p31"/>
          <p:cNvPicPr preferRelativeResize="0"/>
          <p:nvPr/>
        </p:nvPicPr>
        <p:blipFill>
          <a:blip r:embed="rId5">
            <a:alphaModFix/>
          </a:blip>
          <a:stretch>
            <a:fillRect/>
          </a:stretch>
        </p:blipFill>
        <p:spPr>
          <a:xfrm>
            <a:off x="4776150" y="3091054"/>
            <a:ext cx="4253550" cy="13998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grpSp>
        <p:nvGrpSpPr>
          <p:cNvPr id="410" name="Google Shape;410;p32"/>
          <p:cNvGrpSpPr/>
          <p:nvPr/>
        </p:nvGrpSpPr>
        <p:grpSpPr>
          <a:xfrm>
            <a:off x="0" y="381001"/>
            <a:ext cx="1037850" cy="1016287"/>
            <a:chOff x="0" y="381001"/>
            <a:chExt cx="1037850" cy="1016287"/>
          </a:xfrm>
        </p:grpSpPr>
        <p:sp>
          <p:nvSpPr>
            <p:cNvPr id="411" name="Google Shape;411;p3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3" name="Google Shape;413;p3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t>IMPLEMENTACIÓN</a:t>
            </a:r>
            <a:endParaRPr sz="3000"/>
          </a:p>
        </p:txBody>
      </p:sp>
      <p:pic>
        <p:nvPicPr>
          <p:cNvPr id="414" name="Google Shape;414;p32"/>
          <p:cNvPicPr preferRelativeResize="0"/>
          <p:nvPr/>
        </p:nvPicPr>
        <p:blipFill>
          <a:blip r:embed="rId3">
            <a:alphaModFix/>
          </a:blip>
          <a:stretch>
            <a:fillRect/>
          </a:stretch>
        </p:blipFill>
        <p:spPr>
          <a:xfrm>
            <a:off x="6976875" y="199722"/>
            <a:ext cx="2052826" cy="757775"/>
          </a:xfrm>
          <a:prstGeom prst="rect">
            <a:avLst/>
          </a:prstGeom>
          <a:noFill/>
          <a:ln>
            <a:noFill/>
          </a:ln>
        </p:spPr>
      </p:pic>
      <p:grpSp>
        <p:nvGrpSpPr>
          <p:cNvPr id="415" name="Google Shape;415;p32"/>
          <p:cNvGrpSpPr/>
          <p:nvPr/>
        </p:nvGrpSpPr>
        <p:grpSpPr>
          <a:xfrm>
            <a:off x="2399476" y="1639963"/>
            <a:ext cx="1451252" cy="1016356"/>
            <a:chOff x="1085850" y="1714500"/>
            <a:chExt cx="2190900" cy="2476500"/>
          </a:xfrm>
        </p:grpSpPr>
        <p:sp>
          <p:nvSpPr>
            <p:cNvPr id="416" name="Google Shape;416;p32"/>
            <p:cNvSpPr/>
            <p:nvPr/>
          </p:nvSpPr>
          <p:spPr>
            <a:xfrm>
              <a:off x="108585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192"/>
            </a:p>
          </p:txBody>
        </p:sp>
        <p:sp>
          <p:nvSpPr>
            <p:cNvPr id="417" name="Google Shape;417;p32"/>
            <p:cNvSpPr txBox="1"/>
            <p:nvPr/>
          </p:nvSpPr>
          <p:spPr>
            <a:xfrm>
              <a:off x="122872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226">
                  <a:solidFill>
                    <a:srgbClr val="82C7A5"/>
                  </a:solidFill>
                  <a:latin typeface="Material Icons"/>
                  <a:ea typeface="Material Icons"/>
                  <a:cs typeface="Material Icons"/>
                  <a:sym typeface="Material Icons"/>
                </a:rPr>
                <a:t>layers</a:t>
              </a:r>
              <a:endParaRPr sz="2226">
                <a:solidFill>
                  <a:srgbClr val="82C7A5"/>
                </a:solidFill>
                <a:latin typeface="Material Icons"/>
                <a:ea typeface="Material Icons"/>
                <a:cs typeface="Material Icons"/>
                <a:sym typeface="Material Icons"/>
              </a:endParaRPr>
            </a:p>
          </p:txBody>
        </p:sp>
        <p:sp>
          <p:nvSpPr>
            <p:cNvPr id="418" name="Google Shape;418;p32"/>
            <p:cNvSpPr txBox="1"/>
            <p:nvPr/>
          </p:nvSpPr>
          <p:spPr>
            <a:xfrm>
              <a:off x="122872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192">
                  <a:solidFill>
                    <a:srgbClr val="FFFFFF"/>
                  </a:solidFill>
                  <a:latin typeface="Lato"/>
                  <a:ea typeface="Lato"/>
                  <a:cs typeface="Lato"/>
                  <a:sym typeface="Lato"/>
                </a:rPr>
                <a:t>7.125</a:t>
              </a:r>
              <a:endParaRPr b="1" sz="1192">
                <a:solidFill>
                  <a:srgbClr val="FFFFFF"/>
                </a:solidFill>
                <a:latin typeface="Lato"/>
                <a:ea typeface="Lato"/>
                <a:cs typeface="Lato"/>
                <a:sym typeface="Lato"/>
              </a:endParaRPr>
            </a:p>
            <a:p>
              <a:pPr indent="0" lvl="0" marL="0" rtl="0" algn="ctr">
                <a:spcBef>
                  <a:spcPts val="397"/>
                </a:spcBef>
                <a:spcAft>
                  <a:spcPts val="0"/>
                </a:spcAft>
                <a:buNone/>
              </a:pPr>
              <a:r>
                <a:rPr lang="es" sz="994">
                  <a:solidFill>
                    <a:srgbClr val="CBD5E1"/>
                  </a:solidFill>
                  <a:latin typeface="Lato"/>
                  <a:ea typeface="Lato"/>
                  <a:cs typeface="Lato"/>
                  <a:sym typeface="Lato"/>
                </a:rPr>
                <a:t>Documentos en español</a:t>
              </a:r>
              <a:endParaRPr sz="994">
                <a:solidFill>
                  <a:srgbClr val="CBD5E1"/>
                </a:solidFill>
                <a:latin typeface="Lato"/>
                <a:ea typeface="Lato"/>
                <a:cs typeface="Lato"/>
                <a:sym typeface="Lato"/>
              </a:endParaRPr>
            </a:p>
          </p:txBody>
        </p:sp>
      </p:grpSp>
      <p:grpSp>
        <p:nvGrpSpPr>
          <p:cNvPr id="419" name="Google Shape;419;p32"/>
          <p:cNvGrpSpPr/>
          <p:nvPr/>
        </p:nvGrpSpPr>
        <p:grpSpPr>
          <a:xfrm>
            <a:off x="493735" y="1605538"/>
            <a:ext cx="1757102" cy="1016356"/>
            <a:chOff x="3476625" y="1714500"/>
            <a:chExt cx="2190900" cy="2476500"/>
          </a:xfrm>
        </p:grpSpPr>
        <p:sp>
          <p:nvSpPr>
            <p:cNvPr id="420" name="Google Shape;420;p32"/>
            <p:cNvSpPr/>
            <p:nvPr/>
          </p:nvSpPr>
          <p:spPr>
            <a:xfrm>
              <a:off x="3476625" y="1714500"/>
              <a:ext cx="2190900" cy="2476500"/>
            </a:xfrm>
            <a:prstGeom prst="roundRect">
              <a:avLst>
                <a:gd fmla="val 6521" name="adj"/>
              </a:avLst>
            </a:prstGeom>
            <a:solidFill>
              <a:srgbClr val="0145AC">
                <a:alpha val="30000"/>
              </a:srgbClr>
            </a:solidFill>
            <a:ln cap="flat" cmpd="sng" w="12275">
              <a:solidFill>
                <a:srgbClr val="0145A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160"/>
            </a:p>
          </p:txBody>
        </p:sp>
        <p:sp>
          <p:nvSpPr>
            <p:cNvPr id="421" name="Google Shape;421;p32"/>
            <p:cNvSpPr txBox="1"/>
            <p:nvPr/>
          </p:nvSpPr>
          <p:spPr>
            <a:xfrm>
              <a:off x="3619500"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166">
                  <a:solidFill>
                    <a:srgbClr val="0145AC"/>
                  </a:solidFill>
                  <a:latin typeface="Material Icons"/>
                  <a:ea typeface="Material Icons"/>
                  <a:cs typeface="Material Icons"/>
                  <a:sym typeface="Material Icons"/>
                </a:rPr>
                <a:t>insights</a:t>
              </a:r>
              <a:endParaRPr sz="2166">
                <a:solidFill>
                  <a:srgbClr val="0145AC"/>
                </a:solidFill>
                <a:latin typeface="Material Icons"/>
                <a:ea typeface="Material Icons"/>
                <a:cs typeface="Material Icons"/>
                <a:sym typeface="Material Icons"/>
              </a:endParaRPr>
            </a:p>
          </p:txBody>
        </p:sp>
        <p:sp>
          <p:nvSpPr>
            <p:cNvPr id="422" name="Google Shape;422;p32"/>
            <p:cNvSpPr txBox="1"/>
            <p:nvPr/>
          </p:nvSpPr>
          <p:spPr>
            <a:xfrm>
              <a:off x="3619500"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160">
                  <a:solidFill>
                    <a:srgbClr val="FFFFFF"/>
                  </a:solidFill>
                  <a:latin typeface="Lato"/>
                  <a:ea typeface="Lato"/>
                  <a:cs typeface="Lato"/>
                  <a:sym typeface="Lato"/>
                </a:rPr>
                <a:t>Distribución Etiquetas por lenguaje</a:t>
              </a:r>
              <a:endParaRPr b="1" sz="1160">
                <a:solidFill>
                  <a:srgbClr val="FFFFFF"/>
                </a:solidFill>
                <a:latin typeface="Lato"/>
                <a:ea typeface="Lato"/>
                <a:cs typeface="Lato"/>
                <a:sym typeface="Lato"/>
              </a:endParaRPr>
            </a:p>
            <a:p>
              <a:pPr indent="0" lvl="0" marL="0" rtl="0" algn="ctr">
                <a:spcBef>
                  <a:spcPts val="387"/>
                </a:spcBef>
                <a:spcAft>
                  <a:spcPts val="0"/>
                </a:spcAft>
                <a:buNone/>
              </a:pPr>
              <a:r>
                <a:t/>
              </a:r>
              <a:endParaRPr sz="967">
                <a:solidFill>
                  <a:srgbClr val="CBD5E1"/>
                </a:solidFill>
                <a:latin typeface="Lato"/>
                <a:ea typeface="Lato"/>
                <a:cs typeface="Lato"/>
                <a:sym typeface="Lato"/>
              </a:endParaRPr>
            </a:p>
          </p:txBody>
        </p:sp>
      </p:grpSp>
      <p:grpSp>
        <p:nvGrpSpPr>
          <p:cNvPr id="423" name="Google Shape;423;p32"/>
          <p:cNvGrpSpPr/>
          <p:nvPr/>
        </p:nvGrpSpPr>
        <p:grpSpPr>
          <a:xfrm>
            <a:off x="5643693" y="1605632"/>
            <a:ext cx="3353172" cy="1016356"/>
            <a:chOff x="5867400" y="1714500"/>
            <a:chExt cx="2190900" cy="2476500"/>
          </a:xfrm>
        </p:grpSpPr>
        <p:sp>
          <p:nvSpPr>
            <p:cNvPr id="424" name="Google Shape;424;p32"/>
            <p:cNvSpPr/>
            <p:nvPr/>
          </p:nvSpPr>
          <p:spPr>
            <a:xfrm>
              <a:off x="586740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697"/>
            </a:p>
          </p:txBody>
        </p:sp>
        <p:sp>
          <p:nvSpPr>
            <p:cNvPr id="425" name="Google Shape;425;p32"/>
            <p:cNvSpPr txBox="1"/>
            <p:nvPr/>
          </p:nvSpPr>
          <p:spPr>
            <a:xfrm>
              <a:off x="601027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091">
                  <a:solidFill>
                    <a:srgbClr val="82C7A5"/>
                  </a:solidFill>
                  <a:latin typeface="Material Icons"/>
                  <a:ea typeface="Material Icons"/>
                  <a:cs typeface="Material Icons"/>
                  <a:sym typeface="Material Icons"/>
                </a:rPr>
                <a:t>account_tree</a:t>
              </a:r>
              <a:endParaRPr sz="3091">
                <a:solidFill>
                  <a:srgbClr val="82C7A5"/>
                </a:solidFill>
                <a:latin typeface="Material Icons"/>
                <a:ea typeface="Material Icons"/>
                <a:cs typeface="Material Icons"/>
                <a:sym typeface="Material Icons"/>
              </a:endParaRPr>
            </a:p>
          </p:txBody>
        </p:sp>
        <p:sp>
          <p:nvSpPr>
            <p:cNvPr id="426" name="Google Shape;426;p32"/>
            <p:cNvSpPr txBox="1"/>
            <p:nvPr/>
          </p:nvSpPr>
          <p:spPr>
            <a:xfrm>
              <a:off x="601027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697">
                  <a:solidFill>
                    <a:srgbClr val="FFFFFF"/>
                  </a:solidFill>
                  <a:latin typeface="Lato"/>
                  <a:ea typeface="Lato"/>
                  <a:cs typeface="Lato"/>
                  <a:sym typeface="Lato"/>
                </a:rPr>
                <a:t>Fuentes en Español</a:t>
              </a:r>
              <a:endParaRPr b="1" sz="1697">
                <a:solidFill>
                  <a:srgbClr val="FFFFFF"/>
                </a:solidFill>
                <a:latin typeface="Lato"/>
                <a:ea typeface="Lato"/>
                <a:cs typeface="Lato"/>
                <a:sym typeface="Lato"/>
              </a:endParaRPr>
            </a:p>
            <a:p>
              <a:pPr indent="0" lvl="0" marL="0" rtl="0" algn="ctr">
                <a:spcBef>
                  <a:spcPts val="536"/>
                </a:spcBef>
                <a:spcAft>
                  <a:spcPts val="0"/>
                </a:spcAft>
                <a:buNone/>
              </a:pPr>
              <a:r>
                <a:rPr lang="es" sz="1429">
                  <a:solidFill>
                    <a:srgbClr val="CBD5E1"/>
                  </a:solidFill>
                  <a:latin typeface="Lato"/>
                  <a:ea typeface="Lato"/>
                  <a:cs typeface="Lato"/>
                  <a:sym typeface="Lato"/>
                </a:rPr>
                <a:t>Detalle de las fuentes en español y el </a:t>
              </a:r>
              <a:r>
                <a:rPr lang="es" sz="1429">
                  <a:solidFill>
                    <a:srgbClr val="CBD5E1"/>
                  </a:solidFill>
                  <a:latin typeface="Lato"/>
                  <a:ea typeface="Lato"/>
                  <a:cs typeface="Lato"/>
                  <a:sym typeface="Lato"/>
                </a:rPr>
                <a:t>número</a:t>
              </a:r>
              <a:r>
                <a:rPr lang="es" sz="1429">
                  <a:solidFill>
                    <a:srgbClr val="CBD5E1"/>
                  </a:solidFill>
                  <a:latin typeface="Lato"/>
                  <a:ea typeface="Lato"/>
                  <a:cs typeface="Lato"/>
                  <a:sym typeface="Lato"/>
                </a:rPr>
                <a:t> de documentos </a:t>
              </a:r>
              <a:endParaRPr sz="1429">
                <a:solidFill>
                  <a:srgbClr val="CBD5E1"/>
                </a:solidFill>
                <a:latin typeface="Lato"/>
                <a:ea typeface="Lato"/>
                <a:cs typeface="Lato"/>
                <a:sym typeface="Lato"/>
              </a:endParaRPr>
            </a:p>
          </p:txBody>
        </p:sp>
      </p:grpSp>
      <p:sp>
        <p:nvSpPr>
          <p:cNvPr id="427" name="Google Shape;427;p32"/>
          <p:cNvSpPr/>
          <p:nvPr/>
        </p:nvSpPr>
        <p:spPr>
          <a:xfrm>
            <a:off x="1150500" y="964404"/>
            <a:ext cx="5543100" cy="446700"/>
          </a:xfrm>
          <a:prstGeom prst="roundRect">
            <a:avLst>
              <a:gd fmla="val 4687"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1125"/>
              </a:spcAft>
              <a:buNone/>
            </a:pPr>
            <a:r>
              <a:rPr lang="es" sz="1865">
                <a:solidFill>
                  <a:schemeClr val="lt1"/>
                </a:solidFill>
                <a:latin typeface="Lato"/>
                <a:ea typeface="Lato"/>
                <a:cs typeface="Lato"/>
                <a:sym typeface="Lato"/>
              </a:rPr>
              <a:t>Fase </a:t>
            </a:r>
            <a:r>
              <a:rPr lang="es" sz="1865">
                <a:solidFill>
                  <a:schemeClr val="lt1"/>
                </a:solidFill>
                <a:latin typeface="Lato"/>
                <a:ea typeface="Lato"/>
                <a:cs typeface="Lato"/>
                <a:sym typeface="Lato"/>
              </a:rPr>
              <a:t>2. Entendimiento de los datos</a:t>
            </a:r>
            <a:endParaRPr sz="1865">
              <a:solidFill>
                <a:schemeClr val="lt1"/>
              </a:solidFill>
              <a:latin typeface="Lato"/>
              <a:ea typeface="Lato"/>
              <a:cs typeface="Lato"/>
              <a:sym typeface="Lato"/>
            </a:endParaRPr>
          </a:p>
        </p:txBody>
      </p:sp>
      <p:pic>
        <p:nvPicPr>
          <p:cNvPr id="428" name="Google Shape;428;p32"/>
          <p:cNvPicPr preferRelativeResize="0"/>
          <p:nvPr/>
        </p:nvPicPr>
        <p:blipFill>
          <a:blip r:embed="rId4">
            <a:alphaModFix/>
          </a:blip>
          <a:stretch>
            <a:fillRect/>
          </a:stretch>
        </p:blipFill>
        <p:spPr>
          <a:xfrm>
            <a:off x="493625" y="2713975"/>
            <a:ext cx="1757100" cy="2052175"/>
          </a:xfrm>
          <a:prstGeom prst="rect">
            <a:avLst/>
          </a:prstGeom>
          <a:noFill/>
          <a:ln>
            <a:noFill/>
          </a:ln>
        </p:spPr>
      </p:pic>
      <p:pic>
        <p:nvPicPr>
          <p:cNvPr id="429" name="Google Shape;429;p32"/>
          <p:cNvPicPr preferRelativeResize="0"/>
          <p:nvPr/>
        </p:nvPicPr>
        <p:blipFill>
          <a:blip r:embed="rId5">
            <a:alphaModFix/>
          </a:blip>
          <a:stretch>
            <a:fillRect/>
          </a:stretch>
        </p:blipFill>
        <p:spPr>
          <a:xfrm>
            <a:off x="2399475" y="2816200"/>
            <a:ext cx="3065500" cy="1949950"/>
          </a:xfrm>
          <a:prstGeom prst="rect">
            <a:avLst/>
          </a:prstGeom>
          <a:noFill/>
          <a:ln>
            <a:noFill/>
          </a:ln>
        </p:spPr>
      </p:pic>
      <p:grpSp>
        <p:nvGrpSpPr>
          <p:cNvPr id="430" name="Google Shape;430;p32"/>
          <p:cNvGrpSpPr/>
          <p:nvPr/>
        </p:nvGrpSpPr>
        <p:grpSpPr>
          <a:xfrm>
            <a:off x="4021448" y="1643069"/>
            <a:ext cx="1451252" cy="1016356"/>
            <a:chOff x="1085850" y="1714500"/>
            <a:chExt cx="2190900" cy="2476500"/>
          </a:xfrm>
        </p:grpSpPr>
        <p:sp>
          <p:nvSpPr>
            <p:cNvPr id="431" name="Google Shape;431;p32"/>
            <p:cNvSpPr/>
            <p:nvPr/>
          </p:nvSpPr>
          <p:spPr>
            <a:xfrm>
              <a:off x="108585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192"/>
            </a:p>
          </p:txBody>
        </p:sp>
        <p:sp>
          <p:nvSpPr>
            <p:cNvPr id="432" name="Google Shape;432;p32"/>
            <p:cNvSpPr txBox="1"/>
            <p:nvPr/>
          </p:nvSpPr>
          <p:spPr>
            <a:xfrm>
              <a:off x="122872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226">
                  <a:solidFill>
                    <a:srgbClr val="82C7A5"/>
                  </a:solidFill>
                  <a:latin typeface="Material Icons"/>
                  <a:ea typeface="Material Icons"/>
                  <a:cs typeface="Material Icons"/>
                  <a:sym typeface="Material Icons"/>
                </a:rPr>
                <a:t>layers</a:t>
              </a:r>
              <a:endParaRPr sz="2226">
                <a:solidFill>
                  <a:srgbClr val="82C7A5"/>
                </a:solidFill>
                <a:latin typeface="Material Icons"/>
                <a:ea typeface="Material Icons"/>
                <a:cs typeface="Material Icons"/>
                <a:sym typeface="Material Icons"/>
              </a:endParaRPr>
            </a:p>
          </p:txBody>
        </p:sp>
        <p:sp>
          <p:nvSpPr>
            <p:cNvPr id="433" name="Google Shape;433;p32"/>
            <p:cNvSpPr txBox="1"/>
            <p:nvPr/>
          </p:nvSpPr>
          <p:spPr>
            <a:xfrm>
              <a:off x="122872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192">
                  <a:solidFill>
                    <a:srgbClr val="FFFFFF"/>
                  </a:solidFill>
                  <a:latin typeface="Lato"/>
                  <a:ea typeface="Lato"/>
                  <a:cs typeface="Lato"/>
                  <a:sym typeface="Lato"/>
                </a:rPr>
                <a:t>15.35 MB</a:t>
              </a:r>
              <a:endParaRPr b="1" sz="1192">
                <a:solidFill>
                  <a:srgbClr val="FFFFFF"/>
                </a:solidFill>
                <a:latin typeface="Lato"/>
                <a:ea typeface="Lato"/>
                <a:cs typeface="Lato"/>
                <a:sym typeface="Lato"/>
              </a:endParaRPr>
            </a:p>
            <a:p>
              <a:pPr indent="0" lvl="0" marL="0" rtl="0" algn="ctr">
                <a:spcBef>
                  <a:spcPts val="397"/>
                </a:spcBef>
                <a:spcAft>
                  <a:spcPts val="0"/>
                </a:spcAft>
                <a:buNone/>
              </a:pPr>
              <a:r>
                <a:rPr lang="es" sz="994">
                  <a:solidFill>
                    <a:srgbClr val="CBD5E1"/>
                  </a:solidFill>
                  <a:latin typeface="Lato"/>
                  <a:ea typeface="Lato"/>
                  <a:cs typeface="Lato"/>
                  <a:sym typeface="Lato"/>
                </a:rPr>
                <a:t>Espacio usado en memoria</a:t>
              </a:r>
              <a:endParaRPr sz="994">
                <a:solidFill>
                  <a:srgbClr val="CBD5E1"/>
                </a:solidFill>
                <a:latin typeface="Lato"/>
                <a:ea typeface="Lato"/>
                <a:cs typeface="Lato"/>
                <a:sym typeface="Lato"/>
              </a:endParaRPr>
            </a:p>
          </p:txBody>
        </p:sp>
      </p:grpSp>
      <p:pic>
        <p:nvPicPr>
          <p:cNvPr id="434" name="Google Shape;434;p32"/>
          <p:cNvPicPr preferRelativeResize="0"/>
          <p:nvPr/>
        </p:nvPicPr>
        <p:blipFill>
          <a:blip r:embed="rId6">
            <a:alphaModFix/>
          </a:blip>
          <a:stretch>
            <a:fillRect/>
          </a:stretch>
        </p:blipFill>
        <p:spPr>
          <a:xfrm>
            <a:off x="5613725" y="2816201"/>
            <a:ext cx="3353150" cy="1949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grpSp>
        <p:nvGrpSpPr>
          <p:cNvPr id="439" name="Google Shape;439;p33"/>
          <p:cNvGrpSpPr/>
          <p:nvPr/>
        </p:nvGrpSpPr>
        <p:grpSpPr>
          <a:xfrm>
            <a:off x="0" y="-32316"/>
            <a:ext cx="1037850" cy="1016287"/>
            <a:chOff x="0" y="381001"/>
            <a:chExt cx="1037850" cy="1016287"/>
          </a:xfrm>
        </p:grpSpPr>
        <p:sp>
          <p:nvSpPr>
            <p:cNvPr id="440" name="Google Shape;440;p33"/>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3"/>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2" name="Google Shape;442;p33"/>
          <p:cNvSpPr txBox="1"/>
          <p:nvPr>
            <p:ph type="title"/>
          </p:nvPr>
        </p:nvSpPr>
        <p:spPr>
          <a:xfrm>
            <a:off x="1297505" y="3395"/>
            <a:ext cx="7038900" cy="9141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b="1" i="0" lang="es" sz="3600">
                <a:solidFill>
                  <a:srgbClr val="FFFFFF"/>
                </a:solidFill>
                <a:latin typeface="Montserrat"/>
                <a:ea typeface="Montserrat"/>
                <a:cs typeface="Montserrat"/>
                <a:sym typeface="Montserrat"/>
              </a:rPr>
              <a:t>IMPLEMENTACIÓN</a:t>
            </a:r>
            <a:endParaRPr b="1" i="0" sz="3600">
              <a:solidFill>
                <a:srgbClr val="FFFFFF"/>
              </a:solidFill>
              <a:latin typeface="Montserrat"/>
              <a:ea typeface="Montserrat"/>
              <a:cs typeface="Montserrat"/>
              <a:sym typeface="Montserrat"/>
            </a:endParaRPr>
          </a:p>
        </p:txBody>
      </p:sp>
      <p:grpSp>
        <p:nvGrpSpPr>
          <p:cNvPr id="443" name="Google Shape;443;p33"/>
          <p:cNvGrpSpPr/>
          <p:nvPr/>
        </p:nvGrpSpPr>
        <p:grpSpPr>
          <a:xfrm>
            <a:off x="190325" y="983949"/>
            <a:ext cx="8661580" cy="4056302"/>
            <a:chOff x="1085838" y="1262227"/>
            <a:chExt cx="4762512" cy="3119273"/>
          </a:xfrm>
        </p:grpSpPr>
        <p:sp>
          <p:nvSpPr>
            <p:cNvPr id="444" name="Google Shape;444;p33"/>
            <p:cNvSpPr/>
            <p:nvPr/>
          </p:nvSpPr>
          <p:spPr>
            <a:xfrm>
              <a:off x="1085850" y="1333500"/>
              <a:ext cx="4762500" cy="3048000"/>
            </a:xfrm>
            <a:prstGeom prst="roundRect">
              <a:avLst>
                <a:gd fmla="val 4687"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5" name="Google Shape;445;p33"/>
            <p:cNvSpPr txBox="1"/>
            <p:nvPr/>
          </p:nvSpPr>
          <p:spPr>
            <a:xfrm>
              <a:off x="1085838" y="1262227"/>
              <a:ext cx="4762500" cy="13977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lang="es" sz="1865">
                  <a:solidFill>
                    <a:srgbClr val="FFFFFF"/>
                  </a:solidFill>
                  <a:latin typeface="Lato"/>
                  <a:ea typeface="Lato"/>
                  <a:cs typeface="Lato"/>
                  <a:sym typeface="Lato"/>
                </a:rPr>
                <a:t>Fase 3:  Preparación de los datos</a:t>
              </a:r>
              <a:endParaRPr sz="1865">
                <a:solidFill>
                  <a:srgbClr val="FFFFFF"/>
                </a:solidFill>
                <a:latin typeface="Lato"/>
                <a:ea typeface="Lato"/>
                <a:cs typeface="Lato"/>
                <a:sym typeface="Lato"/>
              </a:endParaRPr>
            </a:p>
            <a:p>
              <a:pPr indent="0" lvl="0" marL="0" rtl="0" algn="l">
                <a:spcBef>
                  <a:spcPts val="1125"/>
                </a:spcBef>
                <a:spcAft>
                  <a:spcPts val="0"/>
                </a:spcAft>
                <a:buNone/>
              </a:pPr>
              <a:r>
                <a:rPr lang="es" sz="1865">
                  <a:solidFill>
                    <a:srgbClr val="FFFFFF"/>
                  </a:solidFill>
                  <a:latin typeface="Lato"/>
                  <a:ea typeface="Lato"/>
                  <a:cs typeface="Lato"/>
                  <a:sym typeface="Lato"/>
                </a:rPr>
                <a:t>I</a:t>
              </a:r>
              <a:r>
                <a:rPr lang="es" sz="1865">
                  <a:solidFill>
                    <a:srgbClr val="FFFFFF"/>
                  </a:solidFill>
                  <a:latin typeface="Lato"/>
                  <a:ea typeface="Lato"/>
                  <a:cs typeface="Lato"/>
                  <a:sym typeface="Lato"/>
                </a:rPr>
                <a:t>dentificación de las características más relevantes para clasificar correctamente los textos en función de la variable objetivo label</a:t>
              </a:r>
              <a:endParaRPr sz="1865">
                <a:solidFill>
                  <a:srgbClr val="FFFFFF"/>
                </a:solidFill>
                <a:latin typeface="Lato"/>
                <a:ea typeface="Lato"/>
                <a:cs typeface="Lato"/>
                <a:sym typeface="Lato"/>
              </a:endParaRPr>
            </a:p>
            <a:p>
              <a:pPr indent="0" lvl="0" marL="0" rtl="0" algn="l">
                <a:spcBef>
                  <a:spcPts val="1125"/>
                </a:spcBef>
                <a:spcAft>
                  <a:spcPts val="1125"/>
                </a:spcAft>
                <a:buNone/>
              </a:pPr>
              <a:r>
                <a:t/>
              </a:r>
              <a:endParaRPr sz="1865">
                <a:solidFill>
                  <a:srgbClr val="FFFFFF"/>
                </a:solidFill>
                <a:latin typeface="Lato"/>
                <a:ea typeface="Lato"/>
                <a:cs typeface="Lato"/>
                <a:sym typeface="Lato"/>
              </a:endParaRPr>
            </a:p>
          </p:txBody>
        </p:sp>
      </p:grpSp>
      <p:pic>
        <p:nvPicPr>
          <p:cNvPr id="446" name="Google Shape;446;p33"/>
          <p:cNvPicPr preferRelativeResize="0"/>
          <p:nvPr/>
        </p:nvPicPr>
        <p:blipFill>
          <a:blip r:embed="rId3">
            <a:alphaModFix/>
          </a:blip>
          <a:stretch>
            <a:fillRect/>
          </a:stretch>
        </p:blipFill>
        <p:spPr>
          <a:xfrm>
            <a:off x="6976875" y="199722"/>
            <a:ext cx="2052826" cy="757775"/>
          </a:xfrm>
          <a:prstGeom prst="rect">
            <a:avLst/>
          </a:prstGeom>
          <a:noFill/>
          <a:ln>
            <a:noFill/>
          </a:ln>
        </p:spPr>
      </p:pic>
      <p:grpSp>
        <p:nvGrpSpPr>
          <p:cNvPr id="447" name="Google Shape;447;p33"/>
          <p:cNvGrpSpPr/>
          <p:nvPr/>
        </p:nvGrpSpPr>
        <p:grpSpPr>
          <a:xfrm>
            <a:off x="1085850" y="2380400"/>
            <a:ext cx="2190900" cy="2476500"/>
            <a:chOff x="1085850" y="1714500"/>
            <a:chExt cx="2190900" cy="2476500"/>
          </a:xfrm>
        </p:grpSpPr>
        <p:sp>
          <p:nvSpPr>
            <p:cNvPr id="448" name="Google Shape;448;p33"/>
            <p:cNvSpPr/>
            <p:nvPr/>
          </p:nvSpPr>
          <p:spPr>
            <a:xfrm>
              <a:off x="108585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449" name="Google Shape;449;p33"/>
            <p:cNvSpPr txBox="1"/>
            <p:nvPr/>
          </p:nvSpPr>
          <p:spPr>
            <a:xfrm>
              <a:off x="122872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360">
                  <a:solidFill>
                    <a:srgbClr val="82C7A5"/>
                  </a:solidFill>
                  <a:latin typeface="Material Icons"/>
                  <a:ea typeface="Material Icons"/>
                  <a:cs typeface="Material Icons"/>
                  <a:sym typeface="Material Icons"/>
                </a:rPr>
                <a:t>layers</a:t>
              </a:r>
              <a:endParaRPr sz="3360">
                <a:solidFill>
                  <a:srgbClr val="82C7A5"/>
                </a:solidFill>
                <a:latin typeface="Material Icons"/>
                <a:ea typeface="Material Icons"/>
                <a:cs typeface="Material Icons"/>
                <a:sym typeface="Material Icons"/>
              </a:endParaRPr>
            </a:p>
          </p:txBody>
        </p:sp>
        <p:sp>
          <p:nvSpPr>
            <p:cNvPr id="450" name="Google Shape;450;p33"/>
            <p:cNvSpPr txBox="1"/>
            <p:nvPr/>
          </p:nvSpPr>
          <p:spPr>
            <a:xfrm>
              <a:off x="122872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800">
                  <a:solidFill>
                    <a:srgbClr val="FFFFFF"/>
                  </a:solidFill>
                  <a:latin typeface="Lato"/>
                  <a:ea typeface="Lato"/>
                  <a:cs typeface="Lato"/>
                  <a:sym typeface="Lato"/>
                </a:rPr>
                <a:t>Selección del Embedding</a:t>
              </a:r>
              <a:endParaRPr b="1" sz="1800">
                <a:solidFill>
                  <a:srgbClr val="FFFFFF"/>
                </a:solidFill>
                <a:latin typeface="Lato"/>
                <a:ea typeface="Lato"/>
                <a:cs typeface="Lato"/>
                <a:sym typeface="Lato"/>
              </a:endParaRPr>
            </a:p>
            <a:p>
              <a:pPr indent="0" lvl="0" marL="0" rtl="0" algn="ctr">
                <a:spcBef>
                  <a:spcPts val="600"/>
                </a:spcBef>
                <a:spcAft>
                  <a:spcPts val="0"/>
                </a:spcAft>
                <a:buNone/>
              </a:pPr>
              <a:r>
                <a:rPr lang="es" sz="1500">
                  <a:solidFill>
                    <a:srgbClr val="CBD5E1"/>
                  </a:solidFill>
                  <a:latin typeface="Lato"/>
                  <a:ea typeface="Lato"/>
                  <a:cs typeface="Lato"/>
                  <a:sym typeface="Lato"/>
                </a:rPr>
                <a:t>Según la unidad a representar y el volumen del conjunto de datos.</a:t>
              </a:r>
              <a:endParaRPr sz="1500">
                <a:solidFill>
                  <a:srgbClr val="CBD5E1"/>
                </a:solidFill>
                <a:latin typeface="Lato"/>
                <a:ea typeface="Lato"/>
                <a:cs typeface="Lato"/>
                <a:sym typeface="Lato"/>
              </a:endParaRPr>
            </a:p>
          </p:txBody>
        </p:sp>
      </p:grpSp>
      <p:pic>
        <p:nvPicPr>
          <p:cNvPr id="451" name="Google Shape;451;p33"/>
          <p:cNvPicPr preferRelativeResize="0"/>
          <p:nvPr/>
        </p:nvPicPr>
        <p:blipFill>
          <a:blip r:embed="rId4">
            <a:alphaModFix/>
          </a:blip>
          <a:stretch>
            <a:fillRect/>
          </a:stretch>
        </p:blipFill>
        <p:spPr>
          <a:xfrm>
            <a:off x="3578949" y="2380400"/>
            <a:ext cx="4583975" cy="2476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grpSp>
        <p:nvGrpSpPr>
          <p:cNvPr id="456" name="Google Shape;456;p34"/>
          <p:cNvGrpSpPr/>
          <p:nvPr/>
        </p:nvGrpSpPr>
        <p:grpSpPr>
          <a:xfrm>
            <a:off x="0" y="-32316"/>
            <a:ext cx="1037850" cy="1016287"/>
            <a:chOff x="0" y="381001"/>
            <a:chExt cx="1037850" cy="1016287"/>
          </a:xfrm>
        </p:grpSpPr>
        <p:sp>
          <p:nvSpPr>
            <p:cNvPr id="457" name="Google Shape;457;p3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9" name="Google Shape;459;p34"/>
          <p:cNvSpPr txBox="1"/>
          <p:nvPr>
            <p:ph type="title"/>
          </p:nvPr>
        </p:nvSpPr>
        <p:spPr>
          <a:xfrm>
            <a:off x="1297505" y="3395"/>
            <a:ext cx="7038900" cy="9141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b="1" i="0" lang="es" sz="3600">
                <a:solidFill>
                  <a:srgbClr val="FFFFFF"/>
                </a:solidFill>
                <a:latin typeface="Montserrat"/>
                <a:ea typeface="Montserrat"/>
                <a:cs typeface="Montserrat"/>
                <a:sym typeface="Montserrat"/>
              </a:rPr>
              <a:t>IMPLEMENTACIÓN</a:t>
            </a:r>
            <a:endParaRPr b="1" i="0" sz="3600">
              <a:solidFill>
                <a:srgbClr val="FFFFFF"/>
              </a:solidFill>
              <a:latin typeface="Montserrat"/>
              <a:ea typeface="Montserrat"/>
              <a:cs typeface="Montserrat"/>
              <a:sym typeface="Montserrat"/>
            </a:endParaRPr>
          </a:p>
        </p:txBody>
      </p:sp>
      <p:grpSp>
        <p:nvGrpSpPr>
          <p:cNvPr id="460" name="Google Shape;460;p34"/>
          <p:cNvGrpSpPr/>
          <p:nvPr/>
        </p:nvGrpSpPr>
        <p:grpSpPr>
          <a:xfrm>
            <a:off x="190325" y="983949"/>
            <a:ext cx="8661580" cy="4056302"/>
            <a:chOff x="1085838" y="1262227"/>
            <a:chExt cx="4762512" cy="3119273"/>
          </a:xfrm>
        </p:grpSpPr>
        <p:sp>
          <p:nvSpPr>
            <p:cNvPr id="461" name="Google Shape;461;p34"/>
            <p:cNvSpPr/>
            <p:nvPr/>
          </p:nvSpPr>
          <p:spPr>
            <a:xfrm>
              <a:off x="1085850" y="1333500"/>
              <a:ext cx="4762500" cy="3048000"/>
            </a:xfrm>
            <a:prstGeom prst="roundRect">
              <a:avLst>
                <a:gd fmla="val 4687"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2" name="Google Shape;462;p34"/>
            <p:cNvSpPr txBox="1"/>
            <p:nvPr/>
          </p:nvSpPr>
          <p:spPr>
            <a:xfrm>
              <a:off x="1085838" y="1262227"/>
              <a:ext cx="4762500" cy="13977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lang="es" sz="1865">
                  <a:solidFill>
                    <a:srgbClr val="FFFFFF"/>
                  </a:solidFill>
                  <a:latin typeface="Lato"/>
                  <a:ea typeface="Lato"/>
                  <a:cs typeface="Lato"/>
                  <a:sym typeface="Lato"/>
                </a:rPr>
                <a:t>Fase 3:  Preparación de los datos</a:t>
              </a:r>
              <a:endParaRPr sz="1865">
                <a:solidFill>
                  <a:srgbClr val="FFFFFF"/>
                </a:solidFill>
                <a:latin typeface="Lato"/>
                <a:ea typeface="Lato"/>
                <a:cs typeface="Lato"/>
                <a:sym typeface="Lato"/>
              </a:endParaRPr>
            </a:p>
            <a:p>
              <a:pPr indent="0" lvl="0" marL="0" rtl="0" algn="l">
                <a:spcBef>
                  <a:spcPts val="1125"/>
                </a:spcBef>
                <a:spcAft>
                  <a:spcPts val="0"/>
                </a:spcAft>
                <a:buNone/>
              </a:pPr>
              <a:r>
                <a:rPr lang="es" sz="1865">
                  <a:solidFill>
                    <a:srgbClr val="FFFFFF"/>
                  </a:solidFill>
                  <a:latin typeface="Lato"/>
                  <a:ea typeface="Lato"/>
                  <a:cs typeface="Lato"/>
                  <a:sym typeface="Lato"/>
                </a:rPr>
                <a:t>Identificación de las características más relevantes para clasificar correctamente los textos en función de la variable objetivo label</a:t>
              </a:r>
              <a:endParaRPr sz="1865">
                <a:solidFill>
                  <a:srgbClr val="FFFFFF"/>
                </a:solidFill>
                <a:latin typeface="Lato"/>
                <a:ea typeface="Lato"/>
                <a:cs typeface="Lato"/>
                <a:sym typeface="Lato"/>
              </a:endParaRPr>
            </a:p>
            <a:p>
              <a:pPr indent="0" lvl="0" marL="0" rtl="0" algn="l">
                <a:spcBef>
                  <a:spcPts val="1125"/>
                </a:spcBef>
                <a:spcAft>
                  <a:spcPts val="1125"/>
                </a:spcAft>
                <a:buNone/>
              </a:pPr>
              <a:r>
                <a:t/>
              </a:r>
              <a:endParaRPr sz="1865">
                <a:solidFill>
                  <a:srgbClr val="FFFFFF"/>
                </a:solidFill>
                <a:latin typeface="Lato"/>
                <a:ea typeface="Lato"/>
                <a:cs typeface="Lato"/>
                <a:sym typeface="Lato"/>
              </a:endParaRPr>
            </a:p>
          </p:txBody>
        </p:sp>
      </p:grpSp>
      <p:pic>
        <p:nvPicPr>
          <p:cNvPr id="463" name="Google Shape;463;p34"/>
          <p:cNvPicPr preferRelativeResize="0"/>
          <p:nvPr/>
        </p:nvPicPr>
        <p:blipFill>
          <a:blip r:embed="rId3">
            <a:alphaModFix/>
          </a:blip>
          <a:stretch>
            <a:fillRect/>
          </a:stretch>
        </p:blipFill>
        <p:spPr>
          <a:xfrm>
            <a:off x="6976875" y="199722"/>
            <a:ext cx="2052826" cy="757775"/>
          </a:xfrm>
          <a:prstGeom prst="rect">
            <a:avLst/>
          </a:prstGeom>
          <a:noFill/>
          <a:ln>
            <a:noFill/>
          </a:ln>
        </p:spPr>
      </p:pic>
      <p:grpSp>
        <p:nvGrpSpPr>
          <p:cNvPr id="464" name="Google Shape;464;p34"/>
          <p:cNvGrpSpPr/>
          <p:nvPr/>
        </p:nvGrpSpPr>
        <p:grpSpPr>
          <a:xfrm>
            <a:off x="1191901" y="2380400"/>
            <a:ext cx="2190900" cy="2476500"/>
            <a:chOff x="3476625" y="1714500"/>
            <a:chExt cx="2190900" cy="2476500"/>
          </a:xfrm>
        </p:grpSpPr>
        <p:sp>
          <p:nvSpPr>
            <p:cNvPr id="465" name="Google Shape;465;p34"/>
            <p:cNvSpPr/>
            <p:nvPr/>
          </p:nvSpPr>
          <p:spPr>
            <a:xfrm>
              <a:off x="3476625" y="1714500"/>
              <a:ext cx="2190900" cy="2476500"/>
            </a:xfrm>
            <a:prstGeom prst="roundRect">
              <a:avLst>
                <a:gd fmla="val 6521" name="adj"/>
              </a:avLst>
            </a:prstGeom>
            <a:solidFill>
              <a:srgbClr val="0145AC">
                <a:alpha val="30000"/>
              </a:srgbClr>
            </a:solidFill>
            <a:ln cap="flat" cmpd="sng" w="19050">
              <a:solidFill>
                <a:srgbClr val="0145A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466" name="Google Shape;466;p34"/>
            <p:cNvSpPr txBox="1"/>
            <p:nvPr/>
          </p:nvSpPr>
          <p:spPr>
            <a:xfrm>
              <a:off x="3619500"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360">
                  <a:solidFill>
                    <a:srgbClr val="0145AC"/>
                  </a:solidFill>
                  <a:latin typeface="Material Icons"/>
                  <a:ea typeface="Material Icons"/>
                  <a:cs typeface="Material Icons"/>
                  <a:sym typeface="Material Icons"/>
                </a:rPr>
                <a:t>insights</a:t>
              </a:r>
              <a:endParaRPr sz="3360">
                <a:solidFill>
                  <a:srgbClr val="0145AC"/>
                </a:solidFill>
                <a:latin typeface="Material Icons"/>
                <a:ea typeface="Material Icons"/>
                <a:cs typeface="Material Icons"/>
                <a:sym typeface="Material Icons"/>
              </a:endParaRPr>
            </a:p>
          </p:txBody>
        </p:sp>
        <p:sp>
          <p:nvSpPr>
            <p:cNvPr id="467" name="Google Shape;467;p34"/>
            <p:cNvSpPr txBox="1"/>
            <p:nvPr/>
          </p:nvSpPr>
          <p:spPr>
            <a:xfrm>
              <a:off x="3619500"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t/>
              </a:r>
              <a:endParaRPr b="1" sz="1800">
                <a:solidFill>
                  <a:srgbClr val="FFFFFF"/>
                </a:solidFill>
                <a:latin typeface="Lato"/>
                <a:ea typeface="Lato"/>
                <a:cs typeface="Lato"/>
                <a:sym typeface="Lato"/>
              </a:endParaRPr>
            </a:p>
            <a:p>
              <a:pPr indent="0" lvl="0" marL="0" rtl="0" algn="ctr">
                <a:spcBef>
                  <a:spcPts val="600"/>
                </a:spcBef>
                <a:spcAft>
                  <a:spcPts val="0"/>
                </a:spcAft>
                <a:buNone/>
              </a:pPr>
              <a:r>
                <a:rPr b="1" lang="es" sz="1800">
                  <a:solidFill>
                    <a:srgbClr val="FFFFFF"/>
                  </a:solidFill>
                  <a:latin typeface="Lato"/>
                  <a:ea typeface="Lato"/>
                  <a:cs typeface="Lato"/>
                  <a:sym typeface="Lato"/>
                </a:rPr>
                <a:t>Implementación del embedding</a:t>
              </a:r>
              <a:endParaRPr b="1" sz="1800">
                <a:solidFill>
                  <a:srgbClr val="FFFFFF"/>
                </a:solidFill>
                <a:latin typeface="Lato"/>
                <a:ea typeface="Lato"/>
                <a:cs typeface="Lato"/>
                <a:sym typeface="Lato"/>
              </a:endParaRPr>
            </a:p>
            <a:p>
              <a:pPr indent="0" lvl="0" marL="0" rtl="0" algn="ctr">
                <a:spcBef>
                  <a:spcPts val="600"/>
                </a:spcBef>
                <a:spcAft>
                  <a:spcPts val="0"/>
                </a:spcAft>
                <a:buNone/>
              </a:pPr>
              <a:r>
                <a:t/>
              </a:r>
              <a:endParaRPr sz="1500">
                <a:solidFill>
                  <a:srgbClr val="CBD5E1"/>
                </a:solidFill>
                <a:latin typeface="Lato"/>
                <a:ea typeface="Lato"/>
                <a:cs typeface="Lato"/>
                <a:sym typeface="Lato"/>
              </a:endParaRPr>
            </a:p>
          </p:txBody>
        </p:sp>
      </p:grpSp>
      <p:grpSp>
        <p:nvGrpSpPr>
          <p:cNvPr id="468" name="Google Shape;468;p34"/>
          <p:cNvGrpSpPr/>
          <p:nvPr/>
        </p:nvGrpSpPr>
        <p:grpSpPr>
          <a:xfrm>
            <a:off x="3726475" y="2380322"/>
            <a:ext cx="2190900" cy="1279485"/>
            <a:chOff x="1085850" y="1714500"/>
            <a:chExt cx="2190900" cy="2563585"/>
          </a:xfrm>
        </p:grpSpPr>
        <p:sp>
          <p:nvSpPr>
            <p:cNvPr id="469" name="Google Shape;469;p34"/>
            <p:cNvSpPr/>
            <p:nvPr/>
          </p:nvSpPr>
          <p:spPr>
            <a:xfrm>
              <a:off x="108585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470" name="Google Shape;470;p34"/>
            <p:cNvSpPr txBox="1"/>
            <p:nvPr/>
          </p:nvSpPr>
          <p:spPr>
            <a:xfrm>
              <a:off x="122872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360">
                  <a:solidFill>
                    <a:srgbClr val="82C7A5"/>
                  </a:solidFill>
                  <a:latin typeface="Material Icons"/>
                  <a:ea typeface="Material Icons"/>
                  <a:cs typeface="Material Icons"/>
                  <a:sym typeface="Material Icons"/>
                </a:rPr>
                <a:t>layers</a:t>
              </a:r>
              <a:endParaRPr sz="3360">
                <a:solidFill>
                  <a:srgbClr val="82C7A5"/>
                </a:solidFill>
                <a:latin typeface="Material Icons"/>
                <a:ea typeface="Material Icons"/>
                <a:cs typeface="Material Icons"/>
                <a:sym typeface="Material Icons"/>
              </a:endParaRPr>
            </a:p>
          </p:txBody>
        </p:sp>
        <p:sp>
          <p:nvSpPr>
            <p:cNvPr id="471" name="Google Shape;471;p34"/>
            <p:cNvSpPr txBox="1"/>
            <p:nvPr/>
          </p:nvSpPr>
          <p:spPr>
            <a:xfrm>
              <a:off x="1228725" y="2611285"/>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800">
                  <a:solidFill>
                    <a:srgbClr val="FFFFFF"/>
                  </a:solidFill>
                  <a:latin typeface="Lato"/>
                  <a:ea typeface="Lato"/>
                  <a:cs typeface="Lato"/>
                  <a:sym typeface="Lato"/>
                </a:rPr>
                <a:t>Metodos Frecuentistas</a:t>
              </a:r>
              <a:endParaRPr b="1" sz="1800">
                <a:solidFill>
                  <a:srgbClr val="FFFFFF"/>
                </a:solidFill>
                <a:latin typeface="Lato"/>
                <a:ea typeface="Lato"/>
                <a:cs typeface="Lato"/>
                <a:sym typeface="Lato"/>
              </a:endParaRPr>
            </a:p>
            <a:p>
              <a:pPr indent="0" lvl="0" marL="0" rtl="0" algn="ctr">
                <a:spcBef>
                  <a:spcPts val="600"/>
                </a:spcBef>
                <a:spcAft>
                  <a:spcPts val="0"/>
                </a:spcAft>
                <a:buNone/>
              </a:pPr>
              <a:r>
                <a:t/>
              </a:r>
              <a:endParaRPr sz="1500">
                <a:solidFill>
                  <a:srgbClr val="CBD5E1"/>
                </a:solidFill>
                <a:latin typeface="Lato"/>
                <a:ea typeface="Lato"/>
                <a:cs typeface="Lato"/>
                <a:sym typeface="Lato"/>
              </a:endParaRPr>
            </a:p>
          </p:txBody>
        </p:sp>
      </p:grpSp>
      <p:grpSp>
        <p:nvGrpSpPr>
          <p:cNvPr id="472" name="Google Shape;472;p34"/>
          <p:cNvGrpSpPr/>
          <p:nvPr/>
        </p:nvGrpSpPr>
        <p:grpSpPr>
          <a:xfrm>
            <a:off x="3718141" y="3680831"/>
            <a:ext cx="2190900" cy="1256523"/>
            <a:chOff x="1085850" y="1714500"/>
            <a:chExt cx="2190900" cy="2517578"/>
          </a:xfrm>
        </p:grpSpPr>
        <p:sp>
          <p:nvSpPr>
            <p:cNvPr id="473" name="Google Shape;473;p34"/>
            <p:cNvSpPr/>
            <p:nvPr/>
          </p:nvSpPr>
          <p:spPr>
            <a:xfrm>
              <a:off x="108585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474" name="Google Shape;474;p34"/>
            <p:cNvSpPr txBox="1"/>
            <p:nvPr/>
          </p:nvSpPr>
          <p:spPr>
            <a:xfrm>
              <a:off x="1228725" y="2565278"/>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800">
                  <a:solidFill>
                    <a:srgbClr val="FFFFFF"/>
                  </a:solidFill>
                  <a:latin typeface="Lato"/>
                  <a:ea typeface="Lato"/>
                  <a:cs typeface="Lato"/>
                  <a:sym typeface="Lato"/>
                </a:rPr>
                <a:t>Metodos</a:t>
              </a:r>
              <a:endParaRPr b="1" sz="1800">
                <a:solidFill>
                  <a:srgbClr val="FFFFFF"/>
                </a:solidFill>
                <a:latin typeface="Lato"/>
                <a:ea typeface="Lato"/>
                <a:cs typeface="Lato"/>
                <a:sym typeface="Lato"/>
              </a:endParaRPr>
            </a:p>
            <a:p>
              <a:pPr indent="0" lvl="0" marL="0" rtl="0" algn="ctr">
                <a:spcBef>
                  <a:spcPts val="600"/>
                </a:spcBef>
                <a:spcAft>
                  <a:spcPts val="0"/>
                </a:spcAft>
                <a:buNone/>
              </a:pPr>
              <a:r>
                <a:rPr b="1" lang="es" sz="1800">
                  <a:solidFill>
                    <a:srgbClr val="FFFFFF"/>
                  </a:solidFill>
                  <a:latin typeface="Lato"/>
                  <a:ea typeface="Lato"/>
                  <a:cs typeface="Lato"/>
                  <a:sym typeface="Lato"/>
                </a:rPr>
                <a:t>Densos</a:t>
              </a:r>
              <a:endParaRPr b="1" sz="1800">
                <a:solidFill>
                  <a:srgbClr val="FFFFFF"/>
                </a:solidFill>
                <a:latin typeface="Lato"/>
                <a:ea typeface="Lato"/>
                <a:cs typeface="Lato"/>
                <a:sym typeface="Lato"/>
              </a:endParaRPr>
            </a:p>
            <a:p>
              <a:pPr indent="0" lvl="0" marL="0" rtl="0" algn="ctr">
                <a:spcBef>
                  <a:spcPts val="600"/>
                </a:spcBef>
                <a:spcAft>
                  <a:spcPts val="0"/>
                </a:spcAft>
                <a:buNone/>
              </a:pPr>
              <a:r>
                <a:t/>
              </a:r>
              <a:endParaRPr sz="1500">
                <a:solidFill>
                  <a:srgbClr val="CBD5E1"/>
                </a:solidFill>
                <a:latin typeface="Lato"/>
                <a:ea typeface="Lato"/>
                <a:cs typeface="Lato"/>
                <a:sym typeface="Lato"/>
              </a:endParaRPr>
            </a:p>
          </p:txBody>
        </p:sp>
      </p:grpSp>
      <p:grpSp>
        <p:nvGrpSpPr>
          <p:cNvPr id="475" name="Google Shape;475;p34"/>
          <p:cNvGrpSpPr/>
          <p:nvPr/>
        </p:nvGrpSpPr>
        <p:grpSpPr>
          <a:xfrm>
            <a:off x="6060270" y="2394950"/>
            <a:ext cx="2190900" cy="1236021"/>
            <a:chOff x="1085850" y="1714500"/>
            <a:chExt cx="2190900" cy="2476500"/>
          </a:xfrm>
        </p:grpSpPr>
        <p:sp>
          <p:nvSpPr>
            <p:cNvPr id="476" name="Google Shape;476;p34"/>
            <p:cNvSpPr/>
            <p:nvPr/>
          </p:nvSpPr>
          <p:spPr>
            <a:xfrm>
              <a:off x="108585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477" name="Google Shape;477;p34"/>
            <p:cNvSpPr txBox="1"/>
            <p:nvPr/>
          </p:nvSpPr>
          <p:spPr>
            <a:xfrm>
              <a:off x="122872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500">
                  <a:solidFill>
                    <a:srgbClr val="FFFFFF"/>
                  </a:solidFill>
                  <a:latin typeface="Lato"/>
                  <a:ea typeface="Lato"/>
                  <a:cs typeface="Lato"/>
                  <a:sym typeface="Lato"/>
                </a:rPr>
                <a:t>-Bag of Words (BoW)</a:t>
              </a:r>
              <a:endParaRPr b="1" sz="1500">
                <a:solidFill>
                  <a:srgbClr val="FFFFFF"/>
                </a:solidFill>
                <a:latin typeface="Lato"/>
                <a:ea typeface="Lato"/>
                <a:cs typeface="Lato"/>
                <a:sym typeface="Lato"/>
              </a:endParaRPr>
            </a:p>
            <a:p>
              <a:pPr indent="0" lvl="0" marL="0" rtl="0" algn="ctr">
                <a:spcBef>
                  <a:spcPts val="600"/>
                </a:spcBef>
                <a:spcAft>
                  <a:spcPts val="0"/>
                </a:spcAft>
                <a:buNone/>
              </a:pPr>
              <a:r>
                <a:rPr b="1" lang="es" sz="1500">
                  <a:solidFill>
                    <a:srgbClr val="FFFFFF"/>
                  </a:solidFill>
                  <a:latin typeface="Lato"/>
                  <a:ea typeface="Lato"/>
                  <a:cs typeface="Lato"/>
                  <a:sym typeface="Lato"/>
                </a:rPr>
                <a:t>-TF-IDF</a:t>
              </a:r>
              <a:endParaRPr b="1" sz="1500">
                <a:solidFill>
                  <a:srgbClr val="FFFFFF"/>
                </a:solidFill>
                <a:latin typeface="Lato"/>
                <a:ea typeface="Lato"/>
                <a:cs typeface="Lato"/>
                <a:sym typeface="Lato"/>
              </a:endParaRPr>
            </a:p>
            <a:p>
              <a:pPr indent="0" lvl="0" marL="0" rtl="0" algn="ctr">
                <a:spcBef>
                  <a:spcPts val="600"/>
                </a:spcBef>
                <a:spcAft>
                  <a:spcPts val="0"/>
                </a:spcAft>
                <a:buNone/>
              </a:pPr>
              <a:r>
                <a:t/>
              </a:r>
              <a:endParaRPr sz="1500">
                <a:solidFill>
                  <a:srgbClr val="CBD5E1"/>
                </a:solidFill>
                <a:latin typeface="Lato"/>
                <a:ea typeface="Lato"/>
                <a:cs typeface="Lato"/>
                <a:sym typeface="Lato"/>
              </a:endParaRPr>
            </a:p>
          </p:txBody>
        </p:sp>
      </p:grpSp>
      <p:grpSp>
        <p:nvGrpSpPr>
          <p:cNvPr id="478" name="Google Shape;478;p34"/>
          <p:cNvGrpSpPr/>
          <p:nvPr/>
        </p:nvGrpSpPr>
        <p:grpSpPr>
          <a:xfrm>
            <a:off x="6051936" y="3695458"/>
            <a:ext cx="2190900" cy="1236021"/>
            <a:chOff x="1085850" y="1714500"/>
            <a:chExt cx="2190900" cy="2476500"/>
          </a:xfrm>
        </p:grpSpPr>
        <p:sp>
          <p:nvSpPr>
            <p:cNvPr id="479" name="Google Shape;479;p34"/>
            <p:cNvSpPr/>
            <p:nvPr/>
          </p:nvSpPr>
          <p:spPr>
            <a:xfrm>
              <a:off x="108585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480" name="Google Shape;480;p34"/>
            <p:cNvSpPr txBox="1"/>
            <p:nvPr/>
          </p:nvSpPr>
          <p:spPr>
            <a:xfrm>
              <a:off x="122872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600">
                  <a:solidFill>
                    <a:srgbClr val="FFFFFF"/>
                  </a:solidFill>
                  <a:latin typeface="Lato"/>
                  <a:ea typeface="Lato"/>
                  <a:cs typeface="Lato"/>
                  <a:sym typeface="Lato"/>
                </a:rPr>
                <a:t>-Word2Vec</a:t>
              </a:r>
              <a:endParaRPr b="1" sz="1600">
                <a:solidFill>
                  <a:srgbClr val="FFFFFF"/>
                </a:solidFill>
                <a:latin typeface="Lato"/>
                <a:ea typeface="Lato"/>
                <a:cs typeface="Lato"/>
                <a:sym typeface="Lato"/>
              </a:endParaRPr>
            </a:p>
            <a:p>
              <a:pPr indent="0" lvl="0" marL="0" rtl="0" algn="ctr">
                <a:spcBef>
                  <a:spcPts val="600"/>
                </a:spcBef>
                <a:spcAft>
                  <a:spcPts val="0"/>
                </a:spcAft>
                <a:buNone/>
              </a:pPr>
              <a:r>
                <a:rPr b="1" lang="es" sz="1600">
                  <a:solidFill>
                    <a:srgbClr val="FFFFFF"/>
                  </a:solidFill>
                  <a:latin typeface="Lato"/>
                  <a:ea typeface="Lato"/>
                  <a:cs typeface="Lato"/>
                  <a:sym typeface="Lato"/>
                </a:rPr>
                <a:t>-Doc2Vec</a:t>
              </a:r>
              <a:endParaRPr b="1" sz="1600">
                <a:solidFill>
                  <a:srgbClr val="FFFFFF"/>
                </a:solidFill>
                <a:latin typeface="Lato"/>
                <a:ea typeface="Lato"/>
                <a:cs typeface="Lato"/>
                <a:sym typeface="Lato"/>
              </a:endParaRPr>
            </a:p>
            <a:p>
              <a:pPr indent="0" lvl="0" marL="0" rtl="0" algn="ctr">
                <a:spcBef>
                  <a:spcPts val="600"/>
                </a:spcBef>
                <a:spcAft>
                  <a:spcPts val="0"/>
                </a:spcAft>
                <a:buNone/>
              </a:pPr>
              <a:r>
                <a:t/>
              </a:r>
              <a:endParaRPr sz="1500">
                <a:solidFill>
                  <a:srgbClr val="CBD5E1"/>
                </a:solidFill>
                <a:latin typeface="Lato"/>
                <a:ea typeface="Lato"/>
                <a:cs typeface="Lato"/>
                <a:sym typeface="Lato"/>
              </a:endParaRPr>
            </a:p>
          </p:txBody>
        </p:sp>
      </p:grpSp>
      <p:sp>
        <p:nvSpPr>
          <p:cNvPr id="481" name="Google Shape;481;p34"/>
          <p:cNvSpPr txBox="1"/>
          <p:nvPr/>
        </p:nvSpPr>
        <p:spPr>
          <a:xfrm>
            <a:off x="3868192" y="3722834"/>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460">
                <a:solidFill>
                  <a:srgbClr val="82C7A5"/>
                </a:solidFill>
                <a:latin typeface="Material Icons"/>
                <a:ea typeface="Material Icons"/>
                <a:cs typeface="Material Icons"/>
                <a:sym typeface="Material Icons"/>
              </a:rPr>
              <a:t>account_tree</a:t>
            </a:r>
            <a:endParaRPr sz="3460">
              <a:solidFill>
                <a:srgbClr val="82C7A5"/>
              </a:solidFill>
              <a:latin typeface="Material Icons"/>
              <a:ea typeface="Material Icons"/>
              <a:cs typeface="Material Icons"/>
              <a:sym typeface="Material Ico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grpSp>
        <p:nvGrpSpPr>
          <p:cNvPr id="486" name="Google Shape;486;p35"/>
          <p:cNvGrpSpPr/>
          <p:nvPr/>
        </p:nvGrpSpPr>
        <p:grpSpPr>
          <a:xfrm>
            <a:off x="0" y="-32316"/>
            <a:ext cx="1037850" cy="1016287"/>
            <a:chOff x="0" y="381001"/>
            <a:chExt cx="1037850" cy="1016287"/>
          </a:xfrm>
        </p:grpSpPr>
        <p:sp>
          <p:nvSpPr>
            <p:cNvPr id="487" name="Google Shape;487;p3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9" name="Google Shape;489;p35"/>
          <p:cNvSpPr txBox="1"/>
          <p:nvPr>
            <p:ph type="title"/>
          </p:nvPr>
        </p:nvSpPr>
        <p:spPr>
          <a:xfrm>
            <a:off x="1297505" y="3395"/>
            <a:ext cx="7038900" cy="9141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b="1" i="0" lang="es" sz="3600">
                <a:solidFill>
                  <a:srgbClr val="FFFFFF"/>
                </a:solidFill>
                <a:latin typeface="Montserrat"/>
                <a:ea typeface="Montserrat"/>
                <a:cs typeface="Montserrat"/>
                <a:sym typeface="Montserrat"/>
              </a:rPr>
              <a:t>IMPLEMENTACIÓN</a:t>
            </a:r>
            <a:endParaRPr b="1" i="0" sz="3600">
              <a:solidFill>
                <a:srgbClr val="FFFFFF"/>
              </a:solidFill>
              <a:latin typeface="Montserrat"/>
              <a:ea typeface="Montserrat"/>
              <a:cs typeface="Montserrat"/>
              <a:sym typeface="Montserrat"/>
            </a:endParaRPr>
          </a:p>
        </p:txBody>
      </p:sp>
      <p:grpSp>
        <p:nvGrpSpPr>
          <p:cNvPr id="490" name="Google Shape;490;p35"/>
          <p:cNvGrpSpPr/>
          <p:nvPr/>
        </p:nvGrpSpPr>
        <p:grpSpPr>
          <a:xfrm>
            <a:off x="190325" y="857659"/>
            <a:ext cx="8661580" cy="4182593"/>
            <a:chOff x="1085838" y="1165110"/>
            <a:chExt cx="4762512" cy="3216390"/>
          </a:xfrm>
        </p:grpSpPr>
        <p:sp>
          <p:nvSpPr>
            <p:cNvPr id="491" name="Google Shape;491;p35"/>
            <p:cNvSpPr/>
            <p:nvPr/>
          </p:nvSpPr>
          <p:spPr>
            <a:xfrm>
              <a:off x="1085850" y="1333500"/>
              <a:ext cx="4762500" cy="3048000"/>
            </a:xfrm>
            <a:prstGeom prst="roundRect">
              <a:avLst>
                <a:gd fmla="val 4687"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35"/>
            <p:cNvSpPr txBox="1"/>
            <p:nvPr/>
          </p:nvSpPr>
          <p:spPr>
            <a:xfrm>
              <a:off x="1085838" y="1165110"/>
              <a:ext cx="3731400" cy="13977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lang="es" sz="1865">
                  <a:solidFill>
                    <a:srgbClr val="FFFFFF"/>
                  </a:solidFill>
                  <a:latin typeface="Lato"/>
                  <a:ea typeface="Lato"/>
                  <a:cs typeface="Lato"/>
                  <a:sym typeface="Lato"/>
                </a:rPr>
                <a:t>Fase 3:  Preparación de los datos</a:t>
              </a:r>
              <a:endParaRPr sz="1865">
                <a:solidFill>
                  <a:srgbClr val="FFFFFF"/>
                </a:solidFill>
                <a:latin typeface="Lato"/>
                <a:ea typeface="Lato"/>
                <a:cs typeface="Lato"/>
                <a:sym typeface="Lato"/>
              </a:endParaRPr>
            </a:p>
            <a:p>
              <a:pPr indent="0" lvl="0" marL="0" rtl="0" algn="l">
                <a:spcBef>
                  <a:spcPts val="1125"/>
                </a:spcBef>
                <a:spcAft>
                  <a:spcPts val="0"/>
                </a:spcAft>
                <a:buNone/>
              </a:pPr>
              <a:r>
                <a:rPr lang="es" sz="1865">
                  <a:solidFill>
                    <a:srgbClr val="FFFFFF"/>
                  </a:solidFill>
                  <a:latin typeface="Lato"/>
                  <a:ea typeface="Lato"/>
                  <a:cs typeface="Lato"/>
                  <a:sym typeface="Lato"/>
                </a:rPr>
                <a:t>Identificación de las características más relevantes para clasificar correctamente los textos en función de la variable objetivo label</a:t>
              </a:r>
              <a:endParaRPr sz="1865">
                <a:solidFill>
                  <a:srgbClr val="FFFFFF"/>
                </a:solidFill>
                <a:latin typeface="Lato"/>
                <a:ea typeface="Lato"/>
                <a:cs typeface="Lato"/>
                <a:sym typeface="Lato"/>
              </a:endParaRPr>
            </a:p>
            <a:p>
              <a:pPr indent="0" lvl="0" marL="0" rtl="0" algn="l">
                <a:spcBef>
                  <a:spcPts val="1125"/>
                </a:spcBef>
                <a:spcAft>
                  <a:spcPts val="1125"/>
                </a:spcAft>
                <a:buNone/>
              </a:pPr>
              <a:r>
                <a:t/>
              </a:r>
              <a:endParaRPr sz="1865">
                <a:solidFill>
                  <a:srgbClr val="FFFFFF"/>
                </a:solidFill>
                <a:latin typeface="Lato"/>
                <a:ea typeface="Lato"/>
                <a:cs typeface="Lato"/>
                <a:sym typeface="Lato"/>
              </a:endParaRPr>
            </a:p>
          </p:txBody>
        </p:sp>
      </p:grpSp>
      <p:pic>
        <p:nvPicPr>
          <p:cNvPr id="493" name="Google Shape;493;p35"/>
          <p:cNvPicPr preferRelativeResize="0"/>
          <p:nvPr/>
        </p:nvPicPr>
        <p:blipFill>
          <a:blip r:embed="rId3">
            <a:alphaModFix/>
          </a:blip>
          <a:stretch>
            <a:fillRect/>
          </a:stretch>
        </p:blipFill>
        <p:spPr>
          <a:xfrm>
            <a:off x="6976875" y="199722"/>
            <a:ext cx="2052826" cy="757775"/>
          </a:xfrm>
          <a:prstGeom prst="rect">
            <a:avLst/>
          </a:prstGeom>
          <a:noFill/>
          <a:ln>
            <a:noFill/>
          </a:ln>
        </p:spPr>
      </p:pic>
      <p:grpSp>
        <p:nvGrpSpPr>
          <p:cNvPr id="494" name="Google Shape;494;p35"/>
          <p:cNvGrpSpPr/>
          <p:nvPr/>
        </p:nvGrpSpPr>
        <p:grpSpPr>
          <a:xfrm>
            <a:off x="482362" y="2192568"/>
            <a:ext cx="2306360" cy="2607012"/>
            <a:chOff x="5867400" y="1714500"/>
            <a:chExt cx="2190900" cy="2476500"/>
          </a:xfrm>
        </p:grpSpPr>
        <p:sp>
          <p:nvSpPr>
            <p:cNvPr id="495" name="Google Shape;495;p35"/>
            <p:cNvSpPr/>
            <p:nvPr/>
          </p:nvSpPr>
          <p:spPr>
            <a:xfrm>
              <a:off x="586740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2000"/>
            </a:p>
          </p:txBody>
        </p:sp>
        <p:sp>
          <p:nvSpPr>
            <p:cNvPr id="496" name="Google Shape;496;p35"/>
            <p:cNvSpPr txBox="1"/>
            <p:nvPr/>
          </p:nvSpPr>
          <p:spPr>
            <a:xfrm>
              <a:off x="601027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642">
                  <a:solidFill>
                    <a:srgbClr val="82C7A5"/>
                  </a:solidFill>
                  <a:latin typeface="Material Icons"/>
                  <a:ea typeface="Material Icons"/>
                  <a:cs typeface="Material Icons"/>
                  <a:sym typeface="Material Icons"/>
                </a:rPr>
                <a:t>account_tree</a:t>
              </a:r>
              <a:endParaRPr sz="3642">
                <a:solidFill>
                  <a:srgbClr val="82C7A5"/>
                </a:solidFill>
                <a:latin typeface="Material Icons"/>
                <a:ea typeface="Material Icons"/>
                <a:cs typeface="Material Icons"/>
                <a:sym typeface="Material Icons"/>
              </a:endParaRPr>
            </a:p>
          </p:txBody>
        </p:sp>
        <p:sp>
          <p:nvSpPr>
            <p:cNvPr id="497" name="Google Shape;497;p35"/>
            <p:cNvSpPr txBox="1"/>
            <p:nvPr/>
          </p:nvSpPr>
          <p:spPr>
            <a:xfrm>
              <a:off x="6010275" y="2315812"/>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2000">
                  <a:solidFill>
                    <a:srgbClr val="FFFFFF"/>
                  </a:solidFill>
                  <a:latin typeface="Lato"/>
                  <a:ea typeface="Lato"/>
                  <a:cs typeface="Lato"/>
                  <a:sym typeface="Lato"/>
                </a:rPr>
                <a:t>Exploración del</a:t>
              </a:r>
              <a:endParaRPr b="1" sz="2000">
                <a:solidFill>
                  <a:srgbClr val="FFFFFF"/>
                </a:solidFill>
                <a:latin typeface="Lato"/>
                <a:ea typeface="Lato"/>
                <a:cs typeface="Lato"/>
                <a:sym typeface="Lato"/>
              </a:endParaRPr>
            </a:p>
            <a:p>
              <a:pPr indent="0" lvl="0" marL="0" rtl="0" algn="ctr">
                <a:spcBef>
                  <a:spcPts val="632"/>
                </a:spcBef>
                <a:spcAft>
                  <a:spcPts val="0"/>
                </a:spcAft>
                <a:buNone/>
              </a:pPr>
              <a:r>
                <a:rPr b="1" lang="es" sz="2000">
                  <a:solidFill>
                    <a:srgbClr val="FFFFFF"/>
                  </a:solidFill>
                  <a:latin typeface="Lato"/>
                  <a:ea typeface="Lato"/>
                  <a:cs typeface="Lato"/>
                  <a:sym typeface="Lato"/>
                </a:rPr>
                <a:t>Embedding</a:t>
              </a:r>
              <a:endParaRPr b="1" sz="2000">
                <a:solidFill>
                  <a:srgbClr val="FFFFFF"/>
                </a:solidFill>
                <a:latin typeface="Lato"/>
                <a:ea typeface="Lato"/>
                <a:cs typeface="Lato"/>
                <a:sym typeface="Lato"/>
              </a:endParaRPr>
            </a:p>
            <a:p>
              <a:pPr indent="0" lvl="0" marL="0" rtl="0" algn="ctr">
                <a:spcBef>
                  <a:spcPts val="632"/>
                </a:spcBef>
                <a:spcAft>
                  <a:spcPts val="0"/>
                </a:spcAft>
                <a:buNone/>
              </a:pPr>
              <a:r>
                <a:rPr lang="es" sz="1684">
                  <a:solidFill>
                    <a:srgbClr val="CBD5E1"/>
                  </a:solidFill>
                  <a:latin typeface="Lato"/>
                  <a:ea typeface="Lato"/>
                  <a:cs typeface="Lato"/>
                  <a:sym typeface="Lato"/>
                </a:rPr>
                <a:t>D</a:t>
              </a:r>
              <a:r>
                <a:rPr lang="es" sz="1474">
                  <a:solidFill>
                    <a:srgbClr val="CBD5E1"/>
                  </a:solidFill>
                  <a:latin typeface="Lato"/>
                  <a:ea typeface="Lato"/>
                  <a:cs typeface="Lato"/>
                  <a:sym typeface="Lato"/>
                </a:rPr>
                <a:t>istribución de las correlaciones de cada característica con la variable label para cada método.</a:t>
              </a:r>
              <a:endParaRPr sz="1474">
                <a:solidFill>
                  <a:srgbClr val="CBD5E1"/>
                </a:solidFill>
                <a:latin typeface="Lato"/>
                <a:ea typeface="Lato"/>
                <a:cs typeface="Lato"/>
                <a:sym typeface="Lato"/>
              </a:endParaRPr>
            </a:p>
          </p:txBody>
        </p:sp>
      </p:grpSp>
      <p:sp>
        <p:nvSpPr>
          <p:cNvPr id="498" name="Google Shape;498;p35"/>
          <p:cNvSpPr txBox="1"/>
          <p:nvPr/>
        </p:nvSpPr>
        <p:spPr>
          <a:xfrm>
            <a:off x="2584846" y="4305397"/>
            <a:ext cx="5612700" cy="61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84">
                <a:solidFill>
                  <a:srgbClr val="CBD5E1"/>
                </a:solidFill>
                <a:latin typeface="Lato"/>
                <a:ea typeface="Lato"/>
                <a:cs typeface="Lato"/>
                <a:sym typeface="Lato"/>
              </a:rPr>
              <a:t>La variable objetivo tiene un carácter ordinal (negative, neutral, positive),  se empleo el coeficiente de correlación de Pearson</a:t>
            </a:r>
            <a:endParaRPr sz="1100"/>
          </a:p>
        </p:txBody>
      </p:sp>
      <p:pic>
        <p:nvPicPr>
          <p:cNvPr id="499" name="Google Shape;499;p35"/>
          <p:cNvPicPr preferRelativeResize="0"/>
          <p:nvPr/>
        </p:nvPicPr>
        <p:blipFill>
          <a:blip r:embed="rId4">
            <a:alphaModFix/>
          </a:blip>
          <a:stretch>
            <a:fillRect/>
          </a:stretch>
        </p:blipFill>
        <p:spPr>
          <a:xfrm>
            <a:off x="2973590" y="2192575"/>
            <a:ext cx="3555525" cy="2204650"/>
          </a:xfrm>
          <a:prstGeom prst="rect">
            <a:avLst/>
          </a:prstGeom>
          <a:noFill/>
          <a:ln>
            <a:noFill/>
          </a:ln>
        </p:spPr>
      </p:pic>
      <p:sp>
        <p:nvSpPr>
          <p:cNvPr id="500" name="Google Shape;500;p35"/>
          <p:cNvSpPr txBox="1"/>
          <p:nvPr/>
        </p:nvSpPr>
        <p:spPr>
          <a:xfrm>
            <a:off x="6854175" y="1423650"/>
            <a:ext cx="1981200" cy="274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84">
                <a:solidFill>
                  <a:srgbClr val="CBD5E1"/>
                </a:solidFill>
                <a:latin typeface="Lato"/>
                <a:ea typeface="Lato"/>
                <a:cs typeface="Lato"/>
                <a:sym typeface="Lato"/>
              </a:rPr>
              <a:t>“Una menor correlación entre dimensiones no se interpreta como menor calidad, sino como una representación menos redundante, su  idoneidad para la tarea de sentimiento se determinará mediante el desempeño de clasificación</a:t>
            </a:r>
            <a:r>
              <a:rPr lang="es" sz="1384">
                <a:solidFill>
                  <a:srgbClr val="CBD5E1"/>
                </a:solidFill>
                <a:latin typeface="Lato"/>
                <a:ea typeface="Lato"/>
                <a:cs typeface="Lato"/>
                <a:sym typeface="Lato"/>
              </a:rPr>
              <a:t>”</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grpSp>
        <p:nvGrpSpPr>
          <p:cNvPr id="505" name="Google Shape;505;p36"/>
          <p:cNvGrpSpPr/>
          <p:nvPr/>
        </p:nvGrpSpPr>
        <p:grpSpPr>
          <a:xfrm>
            <a:off x="0" y="381001"/>
            <a:ext cx="1037850" cy="1016287"/>
            <a:chOff x="0" y="381001"/>
            <a:chExt cx="1037850" cy="1016287"/>
          </a:xfrm>
        </p:grpSpPr>
        <p:sp>
          <p:nvSpPr>
            <p:cNvPr id="506" name="Google Shape;506;p3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8" name="Google Shape;508;p3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t>IMPLEMENTACIÓN</a:t>
            </a:r>
            <a:endParaRPr sz="3000"/>
          </a:p>
        </p:txBody>
      </p:sp>
      <p:pic>
        <p:nvPicPr>
          <p:cNvPr id="509" name="Google Shape;509;p36"/>
          <p:cNvPicPr preferRelativeResize="0"/>
          <p:nvPr/>
        </p:nvPicPr>
        <p:blipFill>
          <a:blip r:embed="rId3">
            <a:alphaModFix/>
          </a:blip>
          <a:stretch>
            <a:fillRect/>
          </a:stretch>
        </p:blipFill>
        <p:spPr>
          <a:xfrm>
            <a:off x="6976875" y="199722"/>
            <a:ext cx="2052826" cy="757775"/>
          </a:xfrm>
          <a:prstGeom prst="rect">
            <a:avLst/>
          </a:prstGeom>
          <a:noFill/>
          <a:ln>
            <a:noFill/>
          </a:ln>
        </p:spPr>
      </p:pic>
      <p:grpSp>
        <p:nvGrpSpPr>
          <p:cNvPr id="510" name="Google Shape;510;p36"/>
          <p:cNvGrpSpPr/>
          <p:nvPr/>
        </p:nvGrpSpPr>
        <p:grpSpPr>
          <a:xfrm>
            <a:off x="1037850" y="1990117"/>
            <a:ext cx="2190900" cy="2774671"/>
            <a:chOff x="1085850" y="1714500"/>
            <a:chExt cx="2190900" cy="2476500"/>
          </a:xfrm>
        </p:grpSpPr>
        <p:sp>
          <p:nvSpPr>
            <p:cNvPr id="511" name="Google Shape;511;p36"/>
            <p:cNvSpPr/>
            <p:nvPr/>
          </p:nvSpPr>
          <p:spPr>
            <a:xfrm>
              <a:off x="108585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512" name="Google Shape;512;p36"/>
            <p:cNvSpPr txBox="1"/>
            <p:nvPr/>
          </p:nvSpPr>
          <p:spPr>
            <a:xfrm>
              <a:off x="122872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360">
                  <a:solidFill>
                    <a:srgbClr val="82C7A5"/>
                  </a:solidFill>
                  <a:latin typeface="Material Icons"/>
                  <a:ea typeface="Material Icons"/>
                  <a:cs typeface="Material Icons"/>
                  <a:sym typeface="Material Icons"/>
                </a:rPr>
                <a:t>layers</a:t>
              </a:r>
              <a:endParaRPr sz="3360">
                <a:solidFill>
                  <a:srgbClr val="82C7A5"/>
                </a:solidFill>
                <a:latin typeface="Material Icons"/>
                <a:ea typeface="Material Icons"/>
                <a:cs typeface="Material Icons"/>
                <a:sym typeface="Material Icons"/>
              </a:endParaRPr>
            </a:p>
          </p:txBody>
        </p:sp>
        <p:sp>
          <p:nvSpPr>
            <p:cNvPr id="513" name="Google Shape;513;p36"/>
            <p:cNvSpPr txBox="1"/>
            <p:nvPr/>
          </p:nvSpPr>
          <p:spPr>
            <a:xfrm>
              <a:off x="122872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800">
                  <a:solidFill>
                    <a:srgbClr val="FFFFFF"/>
                  </a:solidFill>
                  <a:latin typeface="Lato"/>
                  <a:ea typeface="Lato"/>
                  <a:cs typeface="Lato"/>
                  <a:sym typeface="Lato"/>
                </a:rPr>
                <a:t>Selección </a:t>
              </a:r>
              <a:endParaRPr b="1" sz="1800">
                <a:solidFill>
                  <a:srgbClr val="FFFFFF"/>
                </a:solidFill>
                <a:latin typeface="Lato"/>
                <a:ea typeface="Lato"/>
                <a:cs typeface="Lato"/>
                <a:sym typeface="Lato"/>
              </a:endParaRPr>
            </a:p>
            <a:p>
              <a:pPr indent="0" lvl="0" marL="0" rtl="0" algn="ctr">
                <a:spcBef>
                  <a:spcPts val="600"/>
                </a:spcBef>
                <a:spcAft>
                  <a:spcPts val="0"/>
                </a:spcAft>
                <a:buNone/>
              </a:pPr>
              <a:r>
                <a:rPr b="1" lang="es" sz="1800">
                  <a:solidFill>
                    <a:srgbClr val="FFFFFF"/>
                  </a:solidFill>
                  <a:latin typeface="Lato"/>
                  <a:ea typeface="Lato"/>
                  <a:cs typeface="Lato"/>
                  <a:sym typeface="Lato"/>
                </a:rPr>
                <a:t>Tipo de Modelado</a:t>
              </a:r>
              <a:endParaRPr b="1" sz="1800">
                <a:solidFill>
                  <a:srgbClr val="FFFFFF"/>
                </a:solidFill>
                <a:latin typeface="Lato"/>
                <a:ea typeface="Lato"/>
                <a:cs typeface="Lato"/>
                <a:sym typeface="Lato"/>
              </a:endParaRPr>
            </a:p>
            <a:p>
              <a:pPr indent="0" lvl="0" marL="0" rtl="0" algn="ctr">
                <a:spcBef>
                  <a:spcPts val="600"/>
                </a:spcBef>
                <a:spcAft>
                  <a:spcPts val="0"/>
                </a:spcAft>
                <a:buNone/>
              </a:pPr>
              <a:r>
                <a:rPr lang="es" sz="1500">
                  <a:solidFill>
                    <a:srgbClr val="CBD5E1"/>
                  </a:solidFill>
                  <a:latin typeface="Lato"/>
                  <a:ea typeface="Lato"/>
                  <a:cs typeface="Lato"/>
                  <a:sym typeface="Lato"/>
                </a:rPr>
                <a:t>-Aprendizaje </a:t>
              </a:r>
              <a:r>
                <a:rPr lang="es" sz="1500">
                  <a:solidFill>
                    <a:srgbClr val="CBD5E1"/>
                  </a:solidFill>
                  <a:latin typeface="Lato"/>
                  <a:ea typeface="Lato"/>
                  <a:cs typeface="Lato"/>
                  <a:sym typeface="Lato"/>
                </a:rPr>
                <a:t>Supervisado</a:t>
              </a:r>
              <a:endParaRPr sz="1500">
                <a:solidFill>
                  <a:srgbClr val="CBD5E1"/>
                </a:solidFill>
                <a:latin typeface="Lato"/>
                <a:ea typeface="Lato"/>
                <a:cs typeface="Lato"/>
                <a:sym typeface="Lato"/>
              </a:endParaRPr>
            </a:p>
            <a:p>
              <a:pPr indent="0" lvl="0" marL="0" rtl="0" algn="ctr">
                <a:spcBef>
                  <a:spcPts val="0"/>
                </a:spcBef>
                <a:spcAft>
                  <a:spcPts val="0"/>
                </a:spcAft>
                <a:buNone/>
              </a:pPr>
              <a:r>
                <a:t/>
              </a:r>
              <a:endParaRPr sz="1500">
                <a:solidFill>
                  <a:srgbClr val="CBD5E1"/>
                </a:solidFill>
                <a:latin typeface="Lato"/>
                <a:ea typeface="Lato"/>
                <a:cs typeface="Lato"/>
                <a:sym typeface="Lato"/>
              </a:endParaRPr>
            </a:p>
            <a:p>
              <a:pPr indent="0" lvl="0" marL="0" rtl="0" algn="ctr">
                <a:spcBef>
                  <a:spcPts val="0"/>
                </a:spcBef>
                <a:spcAft>
                  <a:spcPts val="0"/>
                </a:spcAft>
                <a:buNone/>
              </a:pPr>
              <a:r>
                <a:rPr lang="es" sz="1500">
                  <a:solidFill>
                    <a:srgbClr val="CBD5E1"/>
                  </a:solidFill>
                  <a:latin typeface="Lato"/>
                  <a:ea typeface="Lato"/>
                  <a:cs typeface="Lato"/>
                  <a:sym typeface="Lato"/>
                </a:rPr>
                <a:t>-Clasificación</a:t>
              </a:r>
              <a:endParaRPr sz="1500">
                <a:solidFill>
                  <a:srgbClr val="CBD5E1"/>
                </a:solidFill>
                <a:latin typeface="Lato"/>
                <a:ea typeface="Lato"/>
                <a:cs typeface="Lato"/>
                <a:sym typeface="Lato"/>
              </a:endParaRPr>
            </a:p>
          </p:txBody>
        </p:sp>
      </p:grpSp>
      <p:grpSp>
        <p:nvGrpSpPr>
          <p:cNvPr id="514" name="Google Shape;514;p36"/>
          <p:cNvGrpSpPr/>
          <p:nvPr/>
        </p:nvGrpSpPr>
        <p:grpSpPr>
          <a:xfrm>
            <a:off x="3428625" y="1990117"/>
            <a:ext cx="2190900" cy="2774671"/>
            <a:chOff x="3476625" y="1714500"/>
            <a:chExt cx="2190900" cy="2476500"/>
          </a:xfrm>
        </p:grpSpPr>
        <p:sp>
          <p:nvSpPr>
            <p:cNvPr id="515" name="Google Shape;515;p36"/>
            <p:cNvSpPr/>
            <p:nvPr/>
          </p:nvSpPr>
          <p:spPr>
            <a:xfrm>
              <a:off x="3476625" y="1714500"/>
              <a:ext cx="2190900" cy="2476500"/>
            </a:xfrm>
            <a:prstGeom prst="roundRect">
              <a:avLst>
                <a:gd fmla="val 6521" name="adj"/>
              </a:avLst>
            </a:prstGeom>
            <a:solidFill>
              <a:srgbClr val="0145AC">
                <a:alpha val="30000"/>
              </a:srgbClr>
            </a:solidFill>
            <a:ln cap="flat" cmpd="sng" w="19050">
              <a:solidFill>
                <a:srgbClr val="0145AC"/>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516" name="Google Shape;516;p36"/>
            <p:cNvSpPr txBox="1"/>
            <p:nvPr/>
          </p:nvSpPr>
          <p:spPr>
            <a:xfrm>
              <a:off x="3619500"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360">
                  <a:solidFill>
                    <a:srgbClr val="0145AC"/>
                  </a:solidFill>
                  <a:latin typeface="Material Icons"/>
                  <a:ea typeface="Material Icons"/>
                  <a:cs typeface="Material Icons"/>
                  <a:sym typeface="Material Icons"/>
                </a:rPr>
                <a:t>insights</a:t>
              </a:r>
              <a:endParaRPr sz="3360">
                <a:solidFill>
                  <a:srgbClr val="0145AC"/>
                </a:solidFill>
                <a:latin typeface="Material Icons"/>
                <a:ea typeface="Material Icons"/>
                <a:cs typeface="Material Icons"/>
                <a:sym typeface="Material Icons"/>
              </a:endParaRPr>
            </a:p>
          </p:txBody>
        </p:sp>
        <p:sp>
          <p:nvSpPr>
            <p:cNvPr id="517" name="Google Shape;517;p36"/>
            <p:cNvSpPr txBox="1"/>
            <p:nvPr/>
          </p:nvSpPr>
          <p:spPr>
            <a:xfrm>
              <a:off x="3619500"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800">
                  <a:solidFill>
                    <a:srgbClr val="FFFFFF"/>
                  </a:solidFill>
                  <a:latin typeface="Lato"/>
                  <a:ea typeface="Lato"/>
                  <a:cs typeface="Lato"/>
                  <a:sym typeface="Lato"/>
                </a:rPr>
                <a:t>Particionamiento de los datos</a:t>
              </a:r>
              <a:endParaRPr b="1" sz="1800">
                <a:solidFill>
                  <a:srgbClr val="FFFFFF"/>
                </a:solidFill>
                <a:latin typeface="Lato"/>
                <a:ea typeface="Lato"/>
                <a:cs typeface="Lato"/>
                <a:sym typeface="Lato"/>
              </a:endParaRPr>
            </a:p>
            <a:p>
              <a:pPr indent="0" lvl="0" marL="0" rtl="0" algn="ctr">
                <a:spcBef>
                  <a:spcPts val="600"/>
                </a:spcBef>
                <a:spcAft>
                  <a:spcPts val="0"/>
                </a:spcAft>
                <a:buNone/>
              </a:pPr>
              <a:r>
                <a:t/>
              </a:r>
              <a:endParaRPr sz="1500">
                <a:solidFill>
                  <a:srgbClr val="CBD5E1"/>
                </a:solidFill>
                <a:latin typeface="Lato"/>
                <a:ea typeface="Lato"/>
                <a:cs typeface="Lato"/>
                <a:sym typeface="Lato"/>
              </a:endParaRPr>
            </a:p>
            <a:p>
              <a:pPr indent="0" lvl="0" marL="0" rtl="0" algn="ctr">
                <a:spcBef>
                  <a:spcPts val="0"/>
                </a:spcBef>
                <a:spcAft>
                  <a:spcPts val="0"/>
                </a:spcAft>
                <a:buNone/>
              </a:pPr>
              <a:r>
                <a:rPr lang="es" sz="1500">
                  <a:solidFill>
                    <a:srgbClr val="CBD5E1"/>
                  </a:solidFill>
                  <a:latin typeface="Lato"/>
                  <a:ea typeface="Lato"/>
                  <a:cs typeface="Lato"/>
                  <a:sym typeface="Lato"/>
                </a:rPr>
                <a:t>-Hold-out</a:t>
              </a:r>
              <a:endParaRPr sz="1500">
                <a:solidFill>
                  <a:srgbClr val="CBD5E1"/>
                </a:solidFill>
                <a:latin typeface="Lato"/>
                <a:ea typeface="Lato"/>
                <a:cs typeface="Lato"/>
                <a:sym typeface="Lato"/>
              </a:endParaRPr>
            </a:p>
            <a:p>
              <a:pPr indent="0" lvl="0" marL="0" rtl="0" algn="ctr">
                <a:spcBef>
                  <a:spcPts val="0"/>
                </a:spcBef>
                <a:spcAft>
                  <a:spcPts val="0"/>
                </a:spcAft>
                <a:buNone/>
              </a:pPr>
              <a:r>
                <a:t/>
              </a:r>
              <a:endParaRPr sz="1500">
                <a:solidFill>
                  <a:srgbClr val="CBD5E1"/>
                </a:solidFill>
                <a:latin typeface="Lato"/>
                <a:ea typeface="Lato"/>
                <a:cs typeface="Lato"/>
                <a:sym typeface="Lato"/>
              </a:endParaRPr>
            </a:p>
            <a:p>
              <a:pPr indent="0" lvl="0" marL="0" rtl="0" algn="ctr">
                <a:spcBef>
                  <a:spcPts val="0"/>
                </a:spcBef>
                <a:spcAft>
                  <a:spcPts val="0"/>
                </a:spcAft>
                <a:buNone/>
              </a:pPr>
              <a:r>
                <a:rPr lang="es" sz="1500">
                  <a:solidFill>
                    <a:srgbClr val="CBD5E1"/>
                  </a:solidFill>
                  <a:latin typeface="Lato"/>
                  <a:ea typeface="Lato"/>
                  <a:cs typeface="Lato"/>
                  <a:sym typeface="Lato"/>
                </a:rPr>
                <a:t>-K-Fold</a:t>
              </a:r>
              <a:endParaRPr sz="1500">
                <a:solidFill>
                  <a:srgbClr val="CBD5E1"/>
                </a:solidFill>
                <a:latin typeface="Lato"/>
                <a:ea typeface="Lato"/>
                <a:cs typeface="Lato"/>
                <a:sym typeface="Lato"/>
              </a:endParaRPr>
            </a:p>
          </p:txBody>
        </p:sp>
      </p:grpSp>
      <p:grpSp>
        <p:nvGrpSpPr>
          <p:cNvPr id="518" name="Google Shape;518;p36"/>
          <p:cNvGrpSpPr/>
          <p:nvPr/>
        </p:nvGrpSpPr>
        <p:grpSpPr>
          <a:xfrm>
            <a:off x="5819400" y="1990117"/>
            <a:ext cx="2190900" cy="2774671"/>
            <a:chOff x="5867400" y="1714500"/>
            <a:chExt cx="2190900" cy="2476500"/>
          </a:xfrm>
        </p:grpSpPr>
        <p:sp>
          <p:nvSpPr>
            <p:cNvPr id="519" name="Google Shape;519;p36"/>
            <p:cNvSpPr/>
            <p:nvPr/>
          </p:nvSpPr>
          <p:spPr>
            <a:xfrm>
              <a:off x="586740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900"/>
            </a:p>
          </p:txBody>
        </p:sp>
        <p:sp>
          <p:nvSpPr>
            <p:cNvPr id="520" name="Google Shape;520;p36"/>
            <p:cNvSpPr txBox="1"/>
            <p:nvPr/>
          </p:nvSpPr>
          <p:spPr>
            <a:xfrm>
              <a:off x="601027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460">
                  <a:solidFill>
                    <a:srgbClr val="82C7A5"/>
                  </a:solidFill>
                  <a:latin typeface="Material Icons"/>
                  <a:ea typeface="Material Icons"/>
                  <a:cs typeface="Material Icons"/>
                  <a:sym typeface="Material Icons"/>
                </a:rPr>
                <a:t>account_tree</a:t>
              </a:r>
              <a:endParaRPr sz="3460">
                <a:solidFill>
                  <a:srgbClr val="82C7A5"/>
                </a:solidFill>
                <a:latin typeface="Material Icons"/>
                <a:ea typeface="Material Icons"/>
                <a:cs typeface="Material Icons"/>
                <a:sym typeface="Material Icons"/>
              </a:endParaRPr>
            </a:p>
          </p:txBody>
        </p:sp>
        <p:sp>
          <p:nvSpPr>
            <p:cNvPr id="521" name="Google Shape;521;p36"/>
            <p:cNvSpPr txBox="1"/>
            <p:nvPr/>
          </p:nvSpPr>
          <p:spPr>
            <a:xfrm>
              <a:off x="601027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900">
                  <a:solidFill>
                    <a:srgbClr val="FFFFFF"/>
                  </a:solidFill>
                  <a:latin typeface="Lato"/>
                  <a:ea typeface="Lato"/>
                  <a:cs typeface="Lato"/>
                  <a:sym typeface="Lato"/>
                </a:rPr>
                <a:t>Entrenamiento y </a:t>
              </a:r>
              <a:r>
                <a:rPr b="1" lang="es" sz="1900">
                  <a:solidFill>
                    <a:srgbClr val="FFFFFF"/>
                  </a:solidFill>
                  <a:latin typeface="Lato"/>
                  <a:ea typeface="Lato"/>
                  <a:cs typeface="Lato"/>
                  <a:sym typeface="Lato"/>
                </a:rPr>
                <a:t>selección</a:t>
              </a:r>
              <a:r>
                <a:rPr b="1" lang="es" sz="1900">
                  <a:solidFill>
                    <a:srgbClr val="FFFFFF"/>
                  </a:solidFill>
                  <a:latin typeface="Lato"/>
                  <a:ea typeface="Lato"/>
                  <a:cs typeface="Lato"/>
                  <a:sym typeface="Lato"/>
                </a:rPr>
                <a:t> de Hiperparametros</a:t>
              </a:r>
              <a:endParaRPr b="1" sz="1900">
                <a:solidFill>
                  <a:srgbClr val="FFFFFF"/>
                </a:solidFill>
                <a:latin typeface="Lato"/>
                <a:ea typeface="Lato"/>
                <a:cs typeface="Lato"/>
                <a:sym typeface="Lato"/>
              </a:endParaRPr>
            </a:p>
            <a:p>
              <a:pPr indent="0" lvl="0" marL="0" rtl="0" algn="ctr">
                <a:spcBef>
                  <a:spcPts val="600"/>
                </a:spcBef>
                <a:spcAft>
                  <a:spcPts val="0"/>
                </a:spcAft>
                <a:buNone/>
              </a:pPr>
              <a:r>
                <a:rPr lang="es" sz="1600">
                  <a:solidFill>
                    <a:srgbClr val="CBD5E1"/>
                  </a:solidFill>
                  <a:latin typeface="Lato"/>
                  <a:ea typeface="Lato"/>
                  <a:cs typeface="Lato"/>
                  <a:sym typeface="Lato"/>
                </a:rPr>
                <a:t>-Regresión </a:t>
              </a:r>
              <a:r>
                <a:rPr lang="es" sz="1600">
                  <a:solidFill>
                    <a:srgbClr val="CBD5E1"/>
                  </a:solidFill>
                  <a:latin typeface="Lato"/>
                  <a:ea typeface="Lato"/>
                  <a:cs typeface="Lato"/>
                  <a:sym typeface="Lato"/>
                </a:rPr>
                <a:t>Logística</a:t>
              </a:r>
              <a:endParaRPr sz="1600">
                <a:solidFill>
                  <a:srgbClr val="CBD5E1"/>
                </a:solidFill>
                <a:latin typeface="Lato"/>
                <a:ea typeface="Lato"/>
                <a:cs typeface="Lato"/>
                <a:sym typeface="Lato"/>
              </a:endParaRPr>
            </a:p>
            <a:p>
              <a:pPr indent="0" lvl="0" marL="0" rtl="0" algn="ctr">
                <a:spcBef>
                  <a:spcPts val="0"/>
                </a:spcBef>
                <a:spcAft>
                  <a:spcPts val="0"/>
                </a:spcAft>
                <a:buNone/>
              </a:pPr>
              <a:r>
                <a:rPr lang="es" sz="1600">
                  <a:solidFill>
                    <a:srgbClr val="CBD5E1"/>
                  </a:solidFill>
                  <a:latin typeface="Lato"/>
                  <a:ea typeface="Lato"/>
                  <a:cs typeface="Lato"/>
                  <a:sym typeface="Lato"/>
                </a:rPr>
                <a:t>-</a:t>
              </a:r>
              <a:r>
                <a:rPr lang="es" sz="1600">
                  <a:solidFill>
                    <a:srgbClr val="CBD5E1"/>
                  </a:solidFill>
                  <a:latin typeface="Lato"/>
                  <a:ea typeface="Lato"/>
                  <a:cs typeface="Lato"/>
                  <a:sym typeface="Lato"/>
                </a:rPr>
                <a:t>Maquinas soporte Vectorial</a:t>
              </a:r>
              <a:endParaRPr sz="1600">
                <a:solidFill>
                  <a:srgbClr val="CBD5E1"/>
                </a:solidFill>
                <a:latin typeface="Lato"/>
                <a:ea typeface="Lato"/>
                <a:cs typeface="Lato"/>
                <a:sym typeface="Lato"/>
              </a:endParaRPr>
            </a:p>
            <a:p>
              <a:pPr indent="0" lvl="0" marL="0" rtl="0" algn="ctr">
                <a:spcBef>
                  <a:spcPts val="0"/>
                </a:spcBef>
                <a:spcAft>
                  <a:spcPts val="0"/>
                </a:spcAft>
                <a:buNone/>
              </a:pPr>
              <a:r>
                <a:rPr lang="es" sz="1600">
                  <a:solidFill>
                    <a:srgbClr val="CBD5E1"/>
                  </a:solidFill>
                  <a:latin typeface="Lato"/>
                  <a:ea typeface="Lato"/>
                  <a:cs typeface="Lato"/>
                  <a:sym typeface="Lato"/>
                </a:rPr>
                <a:t>-Bosques Aleatorios</a:t>
              </a:r>
              <a:endParaRPr sz="1600">
                <a:solidFill>
                  <a:srgbClr val="CBD5E1"/>
                </a:solidFill>
                <a:latin typeface="Lato"/>
                <a:ea typeface="Lato"/>
                <a:cs typeface="Lato"/>
                <a:sym typeface="Lato"/>
              </a:endParaRPr>
            </a:p>
          </p:txBody>
        </p:sp>
      </p:grpSp>
      <p:sp>
        <p:nvSpPr>
          <p:cNvPr id="522" name="Google Shape;522;p36"/>
          <p:cNvSpPr txBox="1"/>
          <p:nvPr/>
        </p:nvSpPr>
        <p:spPr>
          <a:xfrm>
            <a:off x="1037850" y="1133225"/>
            <a:ext cx="7669500" cy="17829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lang="es" sz="1865">
                <a:solidFill>
                  <a:srgbClr val="FFFFFF"/>
                </a:solidFill>
                <a:latin typeface="Lato"/>
                <a:ea typeface="Lato"/>
                <a:cs typeface="Lato"/>
                <a:sym typeface="Lato"/>
              </a:rPr>
              <a:t>Fase 4:  Modelado de los datos</a:t>
            </a:r>
            <a:endParaRPr sz="1865">
              <a:solidFill>
                <a:srgbClr val="FFFFFF"/>
              </a:solidFill>
              <a:latin typeface="Lato"/>
              <a:ea typeface="Lato"/>
              <a:cs typeface="Lato"/>
              <a:sym typeface="Lato"/>
            </a:endParaRPr>
          </a:p>
          <a:p>
            <a:pPr indent="0" lvl="0" marL="0" rtl="0" algn="l">
              <a:spcBef>
                <a:spcPts val="1125"/>
              </a:spcBef>
              <a:spcAft>
                <a:spcPts val="0"/>
              </a:spcAft>
              <a:buNone/>
            </a:pPr>
            <a:r>
              <a:t/>
            </a:r>
            <a:endParaRPr sz="1865">
              <a:solidFill>
                <a:srgbClr val="FFFFFF"/>
              </a:solidFill>
              <a:latin typeface="Lato"/>
              <a:ea typeface="Lato"/>
              <a:cs typeface="Lato"/>
              <a:sym typeface="Lato"/>
            </a:endParaRPr>
          </a:p>
          <a:p>
            <a:pPr indent="0" lvl="0" marL="0" rtl="0" algn="l">
              <a:spcBef>
                <a:spcPts val="1125"/>
              </a:spcBef>
              <a:spcAft>
                <a:spcPts val="1125"/>
              </a:spcAft>
              <a:buNone/>
            </a:pPr>
            <a:r>
              <a:t/>
            </a:r>
            <a:endParaRPr sz="1865">
              <a:solidFill>
                <a:srgbClr val="FFFFFF"/>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grpSp>
        <p:nvGrpSpPr>
          <p:cNvPr id="527" name="Google Shape;527;p37"/>
          <p:cNvGrpSpPr/>
          <p:nvPr/>
        </p:nvGrpSpPr>
        <p:grpSpPr>
          <a:xfrm>
            <a:off x="0" y="381001"/>
            <a:ext cx="1037850" cy="1016287"/>
            <a:chOff x="0" y="381001"/>
            <a:chExt cx="1037850" cy="1016287"/>
          </a:xfrm>
        </p:grpSpPr>
        <p:sp>
          <p:nvSpPr>
            <p:cNvPr id="528" name="Google Shape;528;p3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3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0" name="Google Shape;530;p3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t>IMPLEMENTACIÓN</a:t>
            </a:r>
            <a:endParaRPr sz="3000"/>
          </a:p>
        </p:txBody>
      </p:sp>
      <p:pic>
        <p:nvPicPr>
          <p:cNvPr id="531" name="Google Shape;531;p37"/>
          <p:cNvPicPr preferRelativeResize="0"/>
          <p:nvPr/>
        </p:nvPicPr>
        <p:blipFill>
          <a:blip r:embed="rId3">
            <a:alphaModFix/>
          </a:blip>
          <a:stretch>
            <a:fillRect/>
          </a:stretch>
        </p:blipFill>
        <p:spPr>
          <a:xfrm>
            <a:off x="6976875" y="199722"/>
            <a:ext cx="2052826" cy="757775"/>
          </a:xfrm>
          <a:prstGeom prst="rect">
            <a:avLst/>
          </a:prstGeom>
          <a:noFill/>
          <a:ln>
            <a:noFill/>
          </a:ln>
        </p:spPr>
      </p:pic>
      <p:sp>
        <p:nvSpPr>
          <p:cNvPr id="532" name="Google Shape;532;p37"/>
          <p:cNvSpPr txBox="1"/>
          <p:nvPr/>
        </p:nvSpPr>
        <p:spPr>
          <a:xfrm>
            <a:off x="1037850" y="1133225"/>
            <a:ext cx="7669500" cy="17829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lang="es" sz="1865">
                <a:solidFill>
                  <a:srgbClr val="FFFFFF"/>
                </a:solidFill>
                <a:latin typeface="Lato"/>
                <a:ea typeface="Lato"/>
                <a:cs typeface="Lato"/>
                <a:sym typeface="Lato"/>
              </a:rPr>
              <a:t>Fase </a:t>
            </a:r>
            <a:r>
              <a:rPr lang="es" sz="1865">
                <a:solidFill>
                  <a:srgbClr val="FFFFFF"/>
                </a:solidFill>
                <a:latin typeface="Lato"/>
                <a:ea typeface="Lato"/>
                <a:cs typeface="Lato"/>
                <a:sym typeface="Lato"/>
              </a:rPr>
              <a:t>4</a:t>
            </a:r>
            <a:r>
              <a:rPr lang="es" sz="1865">
                <a:solidFill>
                  <a:srgbClr val="FFFFFF"/>
                </a:solidFill>
                <a:latin typeface="Lato"/>
                <a:ea typeface="Lato"/>
                <a:cs typeface="Lato"/>
                <a:sym typeface="Lato"/>
              </a:rPr>
              <a:t>:  </a:t>
            </a:r>
            <a:r>
              <a:rPr lang="es" sz="1865">
                <a:solidFill>
                  <a:srgbClr val="FFFFFF"/>
                </a:solidFill>
                <a:latin typeface="Lato"/>
                <a:ea typeface="Lato"/>
                <a:cs typeface="Lato"/>
                <a:sym typeface="Lato"/>
              </a:rPr>
              <a:t>Modelado de los datos - TF-IDF</a:t>
            </a:r>
            <a:endParaRPr sz="1865">
              <a:solidFill>
                <a:srgbClr val="FFFFFF"/>
              </a:solidFill>
              <a:latin typeface="Lato"/>
              <a:ea typeface="Lato"/>
              <a:cs typeface="Lato"/>
              <a:sym typeface="Lato"/>
            </a:endParaRPr>
          </a:p>
          <a:p>
            <a:pPr indent="0" lvl="0" marL="0" rtl="0" algn="l">
              <a:spcBef>
                <a:spcPts val="1125"/>
              </a:spcBef>
              <a:spcAft>
                <a:spcPts val="0"/>
              </a:spcAft>
              <a:buNone/>
            </a:pPr>
            <a:r>
              <a:t/>
            </a:r>
            <a:endParaRPr sz="1865">
              <a:solidFill>
                <a:srgbClr val="FFFFFF"/>
              </a:solidFill>
              <a:latin typeface="Lato"/>
              <a:ea typeface="Lato"/>
              <a:cs typeface="Lato"/>
              <a:sym typeface="Lato"/>
            </a:endParaRPr>
          </a:p>
          <a:p>
            <a:pPr indent="0" lvl="0" marL="0" rtl="0" algn="l">
              <a:spcBef>
                <a:spcPts val="1125"/>
              </a:spcBef>
              <a:spcAft>
                <a:spcPts val="1125"/>
              </a:spcAft>
              <a:buNone/>
            </a:pPr>
            <a:r>
              <a:t/>
            </a:r>
            <a:endParaRPr sz="1865">
              <a:solidFill>
                <a:srgbClr val="FFFFFF"/>
              </a:solidFill>
              <a:latin typeface="Lato"/>
              <a:ea typeface="Lato"/>
              <a:cs typeface="Lato"/>
              <a:sym typeface="Lato"/>
            </a:endParaRPr>
          </a:p>
        </p:txBody>
      </p:sp>
      <p:pic>
        <p:nvPicPr>
          <p:cNvPr id="533" name="Google Shape;533;p37"/>
          <p:cNvPicPr preferRelativeResize="0"/>
          <p:nvPr/>
        </p:nvPicPr>
        <p:blipFill>
          <a:blip r:embed="rId4">
            <a:alphaModFix/>
          </a:blip>
          <a:stretch>
            <a:fillRect/>
          </a:stretch>
        </p:blipFill>
        <p:spPr>
          <a:xfrm>
            <a:off x="666900" y="2023750"/>
            <a:ext cx="7669499" cy="26036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grpSp>
        <p:nvGrpSpPr>
          <p:cNvPr id="538" name="Google Shape;538;p38"/>
          <p:cNvGrpSpPr/>
          <p:nvPr/>
        </p:nvGrpSpPr>
        <p:grpSpPr>
          <a:xfrm>
            <a:off x="0" y="381001"/>
            <a:ext cx="1037850" cy="1016287"/>
            <a:chOff x="0" y="381001"/>
            <a:chExt cx="1037850" cy="1016287"/>
          </a:xfrm>
        </p:grpSpPr>
        <p:sp>
          <p:nvSpPr>
            <p:cNvPr id="539" name="Google Shape;539;p3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1" name="Google Shape;541;p3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t>IMPLEMENTACIÓN</a:t>
            </a:r>
            <a:endParaRPr sz="3000"/>
          </a:p>
        </p:txBody>
      </p:sp>
      <p:pic>
        <p:nvPicPr>
          <p:cNvPr id="542" name="Google Shape;542;p38"/>
          <p:cNvPicPr preferRelativeResize="0"/>
          <p:nvPr/>
        </p:nvPicPr>
        <p:blipFill>
          <a:blip r:embed="rId3">
            <a:alphaModFix/>
          </a:blip>
          <a:stretch>
            <a:fillRect/>
          </a:stretch>
        </p:blipFill>
        <p:spPr>
          <a:xfrm>
            <a:off x="6976875" y="199722"/>
            <a:ext cx="2052826" cy="757775"/>
          </a:xfrm>
          <a:prstGeom prst="rect">
            <a:avLst/>
          </a:prstGeom>
          <a:noFill/>
          <a:ln>
            <a:noFill/>
          </a:ln>
        </p:spPr>
      </p:pic>
      <p:sp>
        <p:nvSpPr>
          <p:cNvPr id="543" name="Google Shape;543;p38"/>
          <p:cNvSpPr txBox="1"/>
          <p:nvPr/>
        </p:nvSpPr>
        <p:spPr>
          <a:xfrm>
            <a:off x="1037850" y="1133225"/>
            <a:ext cx="7669500" cy="17829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lang="es" sz="1865">
                <a:solidFill>
                  <a:srgbClr val="FFFFFF"/>
                </a:solidFill>
                <a:latin typeface="Lato"/>
                <a:ea typeface="Lato"/>
                <a:cs typeface="Lato"/>
                <a:sym typeface="Lato"/>
              </a:rPr>
              <a:t>Fase 4:  Modelado de los datos - Word2Vec</a:t>
            </a:r>
            <a:endParaRPr sz="1865">
              <a:solidFill>
                <a:srgbClr val="FFFFFF"/>
              </a:solidFill>
              <a:latin typeface="Lato"/>
              <a:ea typeface="Lato"/>
              <a:cs typeface="Lato"/>
              <a:sym typeface="Lato"/>
            </a:endParaRPr>
          </a:p>
          <a:p>
            <a:pPr indent="0" lvl="0" marL="0" rtl="0" algn="l">
              <a:spcBef>
                <a:spcPts val="1125"/>
              </a:spcBef>
              <a:spcAft>
                <a:spcPts val="0"/>
              </a:spcAft>
              <a:buNone/>
            </a:pPr>
            <a:r>
              <a:t/>
            </a:r>
            <a:endParaRPr sz="1865">
              <a:solidFill>
                <a:srgbClr val="FFFFFF"/>
              </a:solidFill>
              <a:latin typeface="Lato"/>
              <a:ea typeface="Lato"/>
              <a:cs typeface="Lato"/>
              <a:sym typeface="Lato"/>
            </a:endParaRPr>
          </a:p>
          <a:p>
            <a:pPr indent="0" lvl="0" marL="0" rtl="0" algn="l">
              <a:spcBef>
                <a:spcPts val="1125"/>
              </a:spcBef>
              <a:spcAft>
                <a:spcPts val="1125"/>
              </a:spcAft>
              <a:buNone/>
            </a:pPr>
            <a:r>
              <a:t/>
            </a:r>
            <a:endParaRPr sz="1865">
              <a:solidFill>
                <a:srgbClr val="FFFFFF"/>
              </a:solidFill>
              <a:latin typeface="Lato"/>
              <a:ea typeface="Lato"/>
              <a:cs typeface="Lato"/>
              <a:sym typeface="Lato"/>
            </a:endParaRPr>
          </a:p>
        </p:txBody>
      </p:sp>
      <p:pic>
        <p:nvPicPr>
          <p:cNvPr id="544" name="Google Shape;544;p38"/>
          <p:cNvPicPr preferRelativeResize="0"/>
          <p:nvPr/>
        </p:nvPicPr>
        <p:blipFill>
          <a:blip r:embed="rId4">
            <a:alphaModFix/>
          </a:blip>
          <a:stretch>
            <a:fillRect/>
          </a:stretch>
        </p:blipFill>
        <p:spPr>
          <a:xfrm>
            <a:off x="703475" y="2115600"/>
            <a:ext cx="8003876" cy="25852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grpSp>
        <p:nvGrpSpPr>
          <p:cNvPr id="549" name="Google Shape;549;p39"/>
          <p:cNvGrpSpPr/>
          <p:nvPr/>
        </p:nvGrpSpPr>
        <p:grpSpPr>
          <a:xfrm>
            <a:off x="0" y="-32316"/>
            <a:ext cx="1037850" cy="1016287"/>
            <a:chOff x="0" y="381001"/>
            <a:chExt cx="1037850" cy="1016287"/>
          </a:xfrm>
        </p:grpSpPr>
        <p:sp>
          <p:nvSpPr>
            <p:cNvPr id="550" name="Google Shape;550;p3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2" name="Google Shape;552;p39"/>
          <p:cNvSpPr txBox="1"/>
          <p:nvPr>
            <p:ph type="title"/>
          </p:nvPr>
        </p:nvSpPr>
        <p:spPr>
          <a:xfrm>
            <a:off x="1297505" y="3395"/>
            <a:ext cx="7038900" cy="9141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b="1" i="0" lang="es" sz="3600">
                <a:solidFill>
                  <a:srgbClr val="FFFFFF"/>
                </a:solidFill>
                <a:latin typeface="Montserrat"/>
                <a:ea typeface="Montserrat"/>
                <a:cs typeface="Montserrat"/>
                <a:sym typeface="Montserrat"/>
              </a:rPr>
              <a:t>IMPLEMENTACIÓN</a:t>
            </a:r>
            <a:endParaRPr b="1" i="0" sz="3600">
              <a:solidFill>
                <a:srgbClr val="FFFFFF"/>
              </a:solidFill>
              <a:latin typeface="Montserrat"/>
              <a:ea typeface="Montserrat"/>
              <a:cs typeface="Montserrat"/>
              <a:sym typeface="Montserrat"/>
            </a:endParaRPr>
          </a:p>
        </p:txBody>
      </p:sp>
      <p:grpSp>
        <p:nvGrpSpPr>
          <p:cNvPr id="553" name="Google Shape;553;p39"/>
          <p:cNvGrpSpPr/>
          <p:nvPr/>
        </p:nvGrpSpPr>
        <p:grpSpPr>
          <a:xfrm>
            <a:off x="190325" y="983949"/>
            <a:ext cx="8661580" cy="4056302"/>
            <a:chOff x="1085838" y="1262227"/>
            <a:chExt cx="4762512" cy="3119273"/>
          </a:xfrm>
        </p:grpSpPr>
        <p:sp>
          <p:nvSpPr>
            <p:cNvPr id="554" name="Google Shape;554;p39"/>
            <p:cNvSpPr/>
            <p:nvPr/>
          </p:nvSpPr>
          <p:spPr>
            <a:xfrm>
              <a:off x="1085850" y="1333500"/>
              <a:ext cx="4762500" cy="3048000"/>
            </a:xfrm>
            <a:prstGeom prst="roundRect">
              <a:avLst>
                <a:gd fmla="val 4687"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5" name="Google Shape;555;p39"/>
            <p:cNvSpPr txBox="1"/>
            <p:nvPr/>
          </p:nvSpPr>
          <p:spPr>
            <a:xfrm>
              <a:off x="1085838" y="1262227"/>
              <a:ext cx="4762500" cy="13977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lang="es" sz="1865">
                  <a:solidFill>
                    <a:srgbClr val="FFFFFF"/>
                  </a:solidFill>
                  <a:latin typeface="Lato"/>
                  <a:ea typeface="Lato"/>
                  <a:cs typeface="Lato"/>
                  <a:sym typeface="Lato"/>
                </a:rPr>
                <a:t>Fase 5:  Evaluación</a:t>
              </a:r>
              <a:endParaRPr sz="1865">
                <a:solidFill>
                  <a:srgbClr val="FFFFFF"/>
                </a:solidFill>
                <a:latin typeface="Lato"/>
                <a:ea typeface="Lato"/>
                <a:cs typeface="Lato"/>
                <a:sym typeface="Lato"/>
              </a:endParaRPr>
            </a:p>
            <a:p>
              <a:pPr indent="0" lvl="0" marL="0" rtl="0" algn="l">
                <a:spcBef>
                  <a:spcPts val="1125"/>
                </a:spcBef>
                <a:spcAft>
                  <a:spcPts val="0"/>
                </a:spcAft>
                <a:buNone/>
              </a:pPr>
              <a:r>
                <a:rPr lang="es" sz="1865">
                  <a:solidFill>
                    <a:srgbClr val="FFFFFF"/>
                  </a:solidFill>
                  <a:latin typeface="Lato"/>
                  <a:ea typeface="Lato"/>
                  <a:cs typeface="Lato"/>
                  <a:sym typeface="Lato"/>
                </a:rPr>
                <a:t>Identificación de las características más relevantes para clasificar correctamente los textos en función de la variable objetivo label</a:t>
              </a:r>
              <a:endParaRPr sz="1865">
                <a:solidFill>
                  <a:srgbClr val="FFFFFF"/>
                </a:solidFill>
                <a:latin typeface="Lato"/>
                <a:ea typeface="Lato"/>
                <a:cs typeface="Lato"/>
                <a:sym typeface="Lato"/>
              </a:endParaRPr>
            </a:p>
            <a:p>
              <a:pPr indent="0" lvl="0" marL="0" rtl="0" algn="l">
                <a:spcBef>
                  <a:spcPts val="1125"/>
                </a:spcBef>
                <a:spcAft>
                  <a:spcPts val="1125"/>
                </a:spcAft>
                <a:buNone/>
              </a:pPr>
              <a:r>
                <a:t/>
              </a:r>
              <a:endParaRPr sz="1865">
                <a:solidFill>
                  <a:srgbClr val="FFFFFF"/>
                </a:solidFill>
                <a:latin typeface="Lato"/>
                <a:ea typeface="Lato"/>
                <a:cs typeface="Lato"/>
                <a:sym typeface="Lato"/>
              </a:endParaRPr>
            </a:p>
          </p:txBody>
        </p:sp>
      </p:grpSp>
      <p:pic>
        <p:nvPicPr>
          <p:cNvPr id="556" name="Google Shape;556;p39"/>
          <p:cNvPicPr preferRelativeResize="0"/>
          <p:nvPr/>
        </p:nvPicPr>
        <p:blipFill>
          <a:blip r:embed="rId3">
            <a:alphaModFix/>
          </a:blip>
          <a:stretch>
            <a:fillRect/>
          </a:stretch>
        </p:blipFill>
        <p:spPr>
          <a:xfrm>
            <a:off x="6976875" y="199722"/>
            <a:ext cx="2052826" cy="757775"/>
          </a:xfrm>
          <a:prstGeom prst="rect">
            <a:avLst/>
          </a:prstGeom>
          <a:noFill/>
          <a:ln>
            <a:noFill/>
          </a:ln>
        </p:spPr>
      </p:pic>
      <p:grpSp>
        <p:nvGrpSpPr>
          <p:cNvPr id="557" name="Google Shape;557;p39"/>
          <p:cNvGrpSpPr/>
          <p:nvPr/>
        </p:nvGrpSpPr>
        <p:grpSpPr>
          <a:xfrm>
            <a:off x="1085850" y="2380400"/>
            <a:ext cx="2190900" cy="2476500"/>
            <a:chOff x="1085850" y="1714500"/>
            <a:chExt cx="2190900" cy="2476500"/>
          </a:xfrm>
        </p:grpSpPr>
        <p:sp>
          <p:nvSpPr>
            <p:cNvPr id="558" name="Google Shape;558;p39"/>
            <p:cNvSpPr/>
            <p:nvPr/>
          </p:nvSpPr>
          <p:spPr>
            <a:xfrm>
              <a:off x="108585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559" name="Google Shape;559;p39"/>
            <p:cNvSpPr txBox="1"/>
            <p:nvPr/>
          </p:nvSpPr>
          <p:spPr>
            <a:xfrm>
              <a:off x="122872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360">
                  <a:solidFill>
                    <a:srgbClr val="82C7A5"/>
                  </a:solidFill>
                  <a:latin typeface="Material Icons"/>
                  <a:ea typeface="Material Icons"/>
                  <a:cs typeface="Material Icons"/>
                  <a:sym typeface="Material Icons"/>
                </a:rPr>
                <a:t>layers</a:t>
              </a:r>
              <a:endParaRPr sz="3360">
                <a:solidFill>
                  <a:srgbClr val="82C7A5"/>
                </a:solidFill>
                <a:latin typeface="Material Icons"/>
                <a:ea typeface="Material Icons"/>
                <a:cs typeface="Material Icons"/>
                <a:sym typeface="Material Icons"/>
              </a:endParaRPr>
            </a:p>
          </p:txBody>
        </p:sp>
        <p:sp>
          <p:nvSpPr>
            <p:cNvPr id="560" name="Google Shape;560;p39"/>
            <p:cNvSpPr txBox="1"/>
            <p:nvPr/>
          </p:nvSpPr>
          <p:spPr>
            <a:xfrm>
              <a:off x="122872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800">
                  <a:solidFill>
                    <a:srgbClr val="FFFFFF"/>
                  </a:solidFill>
                  <a:latin typeface="Lato"/>
                  <a:ea typeface="Lato"/>
                  <a:cs typeface="Lato"/>
                  <a:sym typeface="Lato"/>
                </a:rPr>
                <a:t>Evaluación del Modelo</a:t>
              </a:r>
              <a:endParaRPr b="1" sz="1800">
                <a:solidFill>
                  <a:srgbClr val="FFFFFF"/>
                </a:solidFill>
                <a:latin typeface="Lato"/>
                <a:ea typeface="Lato"/>
                <a:cs typeface="Lato"/>
                <a:sym typeface="Lato"/>
              </a:endParaRPr>
            </a:p>
            <a:p>
              <a:pPr indent="0" lvl="0" marL="0" rtl="0" algn="ctr">
                <a:spcBef>
                  <a:spcPts val="600"/>
                </a:spcBef>
                <a:spcAft>
                  <a:spcPts val="0"/>
                </a:spcAft>
                <a:buNone/>
              </a:pPr>
              <a:r>
                <a:rPr lang="es" sz="1500">
                  <a:solidFill>
                    <a:srgbClr val="CBD5E1"/>
                  </a:solidFill>
                  <a:latin typeface="Lato"/>
                  <a:ea typeface="Lato"/>
                  <a:cs typeface="Lato"/>
                  <a:sym typeface="Lato"/>
                </a:rPr>
                <a:t>-F1-Score</a:t>
              </a:r>
              <a:endParaRPr sz="1500">
                <a:solidFill>
                  <a:srgbClr val="CBD5E1"/>
                </a:solidFill>
                <a:latin typeface="Lato"/>
                <a:ea typeface="Lato"/>
                <a:cs typeface="Lato"/>
                <a:sym typeface="Lato"/>
              </a:endParaRPr>
            </a:p>
            <a:p>
              <a:pPr indent="0" lvl="0" marL="0" rtl="0" algn="ctr">
                <a:spcBef>
                  <a:spcPts val="0"/>
                </a:spcBef>
                <a:spcAft>
                  <a:spcPts val="0"/>
                </a:spcAft>
                <a:buNone/>
              </a:pPr>
              <a:r>
                <a:rPr lang="es" sz="1500">
                  <a:solidFill>
                    <a:srgbClr val="CBD5E1"/>
                  </a:solidFill>
                  <a:latin typeface="Lato"/>
                  <a:ea typeface="Lato"/>
                  <a:cs typeface="Lato"/>
                  <a:sym typeface="Lato"/>
                </a:rPr>
                <a:t>-Matriz de confusión</a:t>
              </a:r>
              <a:endParaRPr sz="1500">
                <a:solidFill>
                  <a:srgbClr val="CBD5E1"/>
                </a:solidFill>
                <a:latin typeface="Lato"/>
                <a:ea typeface="Lato"/>
                <a:cs typeface="Lato"/>
                <a:sym typeface="Lato"/>
              </a:endParaRPr>
            </a:p>
            <a:p>
              <a:pPr indent="0" lvl="0" marL="0" rtl="0" algn="ctr">
                <a:spcBef>
                  <a:spcPts val="0"/>
                </a:spcBef>
                <a:spcAft>
                  <a:spcPts val="0"/>
                </a:spcAft>
                <a:buNone/>
              </a:pPr>
              <a:r>
                <a:rPr lang="es" sz="1500">
                  <a:solidFill>
                    <a:srgbClr val="CBD5E1"/>
                  </a:solidFill>
                  <a:latin typeface="Lato"/>
                  <a:ea typeface="Lato"/>
                  <a:cs typeface="Lato"/>
                  <a:sym typeface="Lato"/>
                </a:rPr>
                <a:t>-</a:t>
              </a:r>
              <a:r>
                <a:rPr lang="es" sz="1500">
                  <a:solidFill>
                    <a:srgbClr val="CBD5E1"/>
                  </a:solidFill>
                  <a:latin typeface="Lato"/>
                  <a:ea typeface="Lato"/>
                  <a:cs typeface="Lato"/>
                  <a:sym typeface="Lato"/>
                </a:rPr>
                <a:t>Métricas</a:t>
              </a:r>
              <a:r>
                <a:rPr lang="es" sz="1500">
                  <a:solidFill>
                    <a:srgbClr val="CBD5E1"/>
                  </a:solidFill>
                  <a:latin typeface="Lato"/>
                  <a:ea typeface="Lato"/>
                  <a:cs typeface="Lato"/>
                  <a:sym typeface="Lato"/>
                </a:rPr>
                <a:t> asociadas</a:t>
              </a:r>
              <a:endParaRPr sz="1500">
                <a:solidFill>
                  <a:srgbClr val="CBD5E1"/>
                </a:solidFill>
                <a:latin typeface="Lato"/>
                <a:ea typeface="Lato"/>
                <a:cs typeface="Lato"/>
                <a:sym typeface="Lato"/>
              </a:endParaRPr>
            </a:p>
          </p:txBody>
        </p:sp>
      </p:grpSp>
      <p:pic>
        <p:nvPicPr>
          <p:cNvPr id="561" name="Google Shape;561;p39"/>
          <p:cNvPicPr preferRelativeResize="0"/>
          <p:nvPr/>
        </p:nvPicPr>
        <p:blipFill>
          <a:blip r:embed="rId4">
            <a:alphaModFix/>
          </a:blip>
          <a:stretch>
            <a:fillRect/>
          </a:stretch>
        </p:blipFill>
        <p:spPr>
          <a:xfrm>
            <a:off x="3632925" y="2380400"/>
            <a:ext cx="4455674" cy="2476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grpSp>
        <p:nvGrpSpPr>
          <p:cNvPr id="566" name="Google Shape;566;p40"/>
          <p:cNvGrpSpPr/>
          <p:nvPr/>
        </p:nvGrpSpPr>
        <p:grpSpPr>
          <a:xfrm>
            <a:off x="0" y="-32316"/>
            <a:ext cx="1037850" cy="1016287"/>
            <a:chOff x="0" y="381001"/>
            <a:chExt cx="1037850" cy="1016287"/>
          </a:xfrm>
        </p:grpSpPr>
        <p:sp>
          <p:nvSpPr>
            <p:cNvPr id="567" name="Google Shape;567;p4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9" name="Google Shape;569;p40"/>
          <p:cNvSpPr txBox="1"/>
          <p:nvPr>
            <p:ph type="title"/>
          </p:nvPr>
        </p:nvSpPr>
        <p:spPr>
          <a:xfrm>
            <a:off x="1297505" y="3395"/>
            <a:ext cx="7038900" cy="914100"/>
          </a:xfrm>
          <a:prstGeom prst="rect">
            <a:avLst/>
          </a:prstGeom>
          <a:solidFill>
            <a:srgbClr val="000000">
              <a:alpha val="0"/>
            </a:srgbClr>
          </a:solidFill>
          <a:ln>
            <a:noFill/>
          </a:ln>
        </p:spPr>
        <p:txBody>
          <a:bodyPr anchorCtr="0" anchor="ctr" bIns="0" lIns="95250" spcFirstLastPara="1" rIns="0" wrap="square" tIns="0">
            <a:normAutofit/>
          </a:bodyPr>
          <a:lstStyle/>
          <a:p>
            <a:pPr indent="0" lvl="0" marL="0" rtl="0" algn="l">
              <a:spcBef>
                <a:spcPts val="0"/>
              </a:spcBef>
              <a:spcAft>
                <a:spcPts val="0"/>
              </a:spcAft>
              <a:buNone/>
            </a:pPr>
            <a:r>
              <a:rPr b="1" i="0" lang="es" sz="3600">
                <a:solidFill>
                  <a:srgbClr val="FFFFFF"/>
                </a:solidFill>
                <a:latin typeface="Montserrat"/>
                <a:ea typeface="Montserrat"/>
                <a:cs typeface="Montserrat"/>
                <a:sym typeface="Montserrat"/>
              </a:rPr>
              <a:t>IMPLEMENTACIÓN</a:t>
            </a:r>
            <a:endParaRPr b="1" i="0" sz="3600">
              <a:solidFill>
                <a:srgbClr val="FFFFFF"/>
              </a:solidFill>
              <a:latin typeface="Montserrat"/>
              <a:ea typeface="Montserrat"/>
              <a:cs typeface="Montserrat"/>
              <a:sym typeface="Montserrat"/>
            </a:endParaRPr>
          </a:p>
        </p:txBody>
      </p:sp>
      <p:grpSp>
        <p:nvGrpSpPr>
          <p:cNvPr id="570" name="Google Shape;570;p40"/>
          <p:cNvGrpSpPr/>
          <p:nvPr/>
        </p:nvGrpSpPr>
        <p:grpSpPr>
          <a:xfrm>
            <a:off x="190325" y="983949"/>
            <a:ext cx="8661580" cy="4056302"/>
            <a:chOff x="1085838" y="1262227"/>
            <a:chExt cx="4762512" cy="3119273"/>
          </a:xfrm>
        </p:grpSpPr>
        <p:sp>
          <p:nvSpPr>
            <p:cNvPr id="571" name="Google Shape;571;p40"/>
            <p:cNvSpPr/>
            <p:nvPr/>
          </p:nvSpPr>
          <p:spPr>
            <a:xfrm>
              <a:off x="1085850" y="1333500"/>
              <a:ext cx="4762500" cy="3048000"/>
            </a:xfrm>
            <a:prstGeom prst="roundRect">
              <a:avLst>
                <a:gd fmla="val 4687"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2" name="Google Shape;572;p40"/>
            <p:cNvSpPr txBox="1"/>
            <p:nvPr/>
          </p:nvSpPr>
          <p:spPr>
            <a:xfrm>
              <a:off x="1085838" y="1262227"/>
              <a:ext cx="4762500" cy="1397700"/>
            </a:xfrm>
            <a:prstGeom prst="rect">
              <a:avLst/>
            </a:prstGeom>
            <a:noFill/>
            <a:ln>
              <a:noFill/>
            </a:ln>
          </p:spPr>
          <p:txBody>
            <a:bodyPr anchorCtr="0" anchor="ctr" bIns="285750" lIns="285750" spcFirstLastPara="1" rIns="285750" wrap="square" tIns="285750">
              <a:noAutofit/>
            </a:bodyPr>
            <a:lstStyle/>
            <a:p>
              <a:pPr indent="0" lvl="0" marL="0" rtl="0" algn="l">
                <a:spcBef>
                  <a:spcPts val="0"/>
                </a:spcBef>
                <a:spcAft>
                  <a:spcPts val="0"/>
                </a:spcAft>
                <a:buNone/>
              </a:pPr>
              <a:r>
                <a:rPr lang="es" sz="1865">
                  <a:solidFill>
                    <a:srgbClr val="FFFFFF"/>
                  </a:solidFill>
                  <a:latin typeface="Lato"/>
                  <a:ea typeface="Lato"/>
                  <a:cs typeface="Lato"/>
                  <a:sym typeface="Lato"/>
                </a:rPr>
                <a:t>Fase 5:  Evaluación</a:t>
              </a:r>
              <a:endParaRPr sz="1865">
                <a:solidFill>
                  <a:srgbClr val="FFFFFF"/>
                </a:solidFill>
                <a:latin typeface="Lato"/>
                <a:ea typeface="Lato"/>
                <a:cs typeface="Lato"/>
                <a:sym typeface="Lato"/>
              </a:endParaRPr>
            </a:p>
            <a:p>
              <a:pPr indent="0" lvl="0" marL="0" rtl="0" algn="l">
                <a:spcBef>
                  <a:spcPts val="1125"/>
                </a:spcBef>
                <a:spcAft>
                  <a:spcPts val="0"/>
                </a:spcAft>
                <a:buNone/>
              </a:pPr>
              <a:r>
                <a:rPr lang="es" sz="1865">
                  <a:solidFill>
                    <a:srgbClr val="FFFFFF"/>
                  </a:solidFill>
                  <a:latin typeface="Lato"/>
                  <a:ea typeface="Lato"/>
                  <a:cs typeface="Lato"/>
                  <a:sym typeface="Lato"/>
                </a:rPr>
                <a:t>Identificación de las características más relevantes para clasificar correctamente los textos en función de la variable objetivo label</a:t>
              </a:r>
              <a:endParaRPr sz="1865">
                <a:solidFill>
                  <a:srgbClr val="FFFFFF"/>
                </a:solidFill>
                <a:latin typeface="Lato"/>
                <a:ea typeface="Lato"/>
                <a:cs typeface="Lato"/>
                <a:sym typeface="Lato"/>
              </a:endParaRPr>
            </a:p>
            <a:p>
              <a:pPr indent="0" lvl="0" marL="0" rtl="0" algn="l">
                <a:spcBef>
                  <a:spcPts val="1125"/>
                </a:spcBef>
                <a:spcAft>
                  <a:spcPts val="1125"/>
                </a:spcAft>
                <a:buNone/>
              </a:pPr>
              <a:r>
                <a:t/>
              </a:r>
              <a:endParaRPr sz="1865">
                <a:solidFill>
                  <a:srgbClr val="FFFFFF"/>
                </a:solidFill>
                <a:latin typeface="Lato"/>
                <a:ea typeface="Lato"/>
                <a:cs typeface="Lato"/>
                <a:sym typeface="Lato"/>
              </a:endParaRPr>
            </a:p>
          </p:txBody>
        </p:sp>
      </p:grpSp>
      <p:pic>
        <p:nvPicPr>
          <p:cNvPr id="573" name="Google Shape;573;p40"/>
          <p:cNvPicPr preferRelativeResize="0"/>
          <p:nvPr/>
        </p:nvPicPr>
        <p:blipFill>
          <a:blip r:embed="rId3">
            <a:alphaModFix/>
          </a:blip>
          <a:stretch>
            <a:fillRect/>
          </a:stretch>
        </p:blipFill>
        <p:spPr>
          <a:xfrm>
            <a:off x="6976875" y="199722"/>
            <a:ext cx="2052826" cy="757775"/>
          </a:xfrm>
          <a:prstGeom prst="rect">
            <a:avLst/>
          </a:prstGeom>
          <a:noFill/>
          <a:ln>
            <a:noFill/>
          </a:ln>
        </p:spPr>
      </p:pic>
      <p:grpSp>
        <p:nvGrpSpPr>
          <p:cNvPr id="574" name="Google Shape;574;p40"/>
          <p:cNvGrpSpPr/>
          <p:nvPr/>
        </p:nvGrpSpPr>
        <p:grpSpPr>
          <a:xfrm>
            <a:off x="1085850" y="2380400"/>
            <a:ext cx="2190900" cy="2476500"/>
            <a:chOff x="1085850" y="1714500"/>
            <a:chExt cx="2190900" cy="2476500"/>
          </a:xfrm>
        </p:grpSpPr>
        <p:sp>
          <p:nvSpPr>
            <p:cNvPr id="575" name="Google Shape;575;p40"/>
            <p:cNvSpPr/>
            <p:nvPr/>
          </p:nvSpPr>
          <p:spPr>
            <a:xfrm>
              <a:off x="1085850" y="1714500"/>
              <a:ext cx="2190900" cy="2476500"/>
            </a:xfrm>
            <a:prstGeom prst="roundRect">
              <a:avLst>
                <a:gd fmla="val 6521" name="adj"/>
              </a:avLst>
            </a:prstGeom>
            <a:solidFill>
              <a:srgbClr val="2D3748">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1800"/>
            </a:p>
          </p:txBody>
        </p:sp>
        <p:sp>
          <p:nvSpPr>
            <p:cNvPr id="576" name="Google Shape;576;p40"/>
            <p:cNvSpPr txBox="1"/>
            <p:nvPr/>
          </p:nvSpPr>
          <p:spPr>
            <a:xfrm>
              <a:off x="1228725" y="1904111"/>
              <a:ext cx="1905000" cy="476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360">
                  <a:solidFill>
                    <a:srgbClr val="82C7A5"/>
                  </a:solidFill>
                  <a:latin typeface="Material Icons"/>
                  <a:ea typeface="Material Icons"/>
                  <a:cs typeface="Material Icons"/>
                  <a:sym typeface="Material Icons"/>
                </a:rPr>
                <a:t>layers</a:t>
              </a:r>
              <a:endParaRPr sz="3360">
                <a:solidFill>
                  <a:srgbClr val="82C7A5"/>
                </a:solidFill>
                <a:latin typeface="Material Icons"/>
                <a:ea typeface="Material Icons"/>
                <a:cs typeface="Material Icons"/>
                <a:sym typeface="Material Icons"/>
              </a:endParaRPr>
            </a:p>
          </p:txBody>
        </p:sp>
        <p:sp>
          <p:nvSpPr>
            <p:cNvPr id="577" name="Google Shape;577;p40"/>
            <p:cNvSpPr txBox="1"/>
            <p:nvPr/>
          </p:nvSpPr>
          <p:spPr>
            <a:xfrm>
              <a:off x="1228725" y="2381250"/>
              <a:ext cx="1905000" cy="1666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s" sz="1800">
                  <a:solidFill>
                    <a:srgbClr val="FFFFFF"/>
                  </a:solidFill>
                  <a:latin typeface="Lato"/>
                  <a:ea typeface="Lato"/>
                  <a:cs typeface="Lato"/>
                  <a:sym typeface="Lato"/>
                </a:rPr>
                <a:t>Evaluación del Modelo</a:t>
              </a:r>
              <a:endParaRPr b="1" sz="1800">
                <a:solidFill>
                  <a:srgbClr val="FFFFFF"/>
                </a:solidFill>
                <a:latin typeface="Lato"/>
                <a:ea typeface="Lato"/>
                <a:cs typeface="Lato"/>
                <a:sym typeface="Lato"/>
              </a:endParaRPr>
            </a:p>
            <a:p>
              <a:pPr indent="0" lvl="0" marL="0" rtl="0" algn="ctr">
                <a:spcBef>
                  <a:spcPts val="600"/>
                </a:spcBef>
                <a:spcAft>
                  <a:spcPts val="0"/>
                </a:spcAft>
                <a:buNone/>
              </a:pPr>
              <a:r>
                <a:rPr lang="es" sz="1500">
                  <a:solidFill>
                    <a:srgbClr val="CBD5E1"/>
                  </a:solidFill>
                  <a:latin typeface="Lato"/>
                  <a:ea typeface="Lato"/>
                  <a:cs typeface="Lato"/>
                  <a:sym typeface="Lato"/>
                </a:rPr>
                <a:t>-F1-Score</a:t>
              </a:r>
              <a:endParaRPr sz="1500">
                <a:solidFill>
                  <a:srgbClr val="CBD5E1"/>
                </a:solidFill>
                <a:latin typeface="Lato"/>
                <a:ea typeface="Lato"/>
                <a:cs typeface="Lato"/>
                <a:sym typeface="Lato"/>
              </a:endParaRPr>
            </a:p>
            <a:p>
              <a:pPr indent="0" lvl="0" marL="0" rtl="0" algn="ctr">
                <a:spcBef>
                  <a:spcPts val="0"/>
                </a:spcBef>
                <a:spcAft>
                  <a:spcPts val="0"/>
                </a:spcAft>
                <a:buNone/>
              </a:pPr>
              <a:r>
                <a:rPr lang="es" sz="1500">
                  <a:solidFill>
                    <a:srgbClr val="CBD5E1"/>
                  </a:solidFill>
                  <a:latin typeface="Lato"/>
                  <a:ea typeface="Lato"/>
                  <a:cs typeface="Lato"/>
                  <a:sym typeface="Lato"/>
                </a:rPr>
                <a:t>-Matriz de confusión</a:t>
              </a:r>
              <a:endParaRPr sz="1500">
                <a:solidFill>
                  <a:srgbClr val="CBD5E1"/>
                </a:solidFill>
                <a:latin typeface="Lato"/>
                <a:ea typeface="Lato"/>
                <a:cs typeface="Lato"/>
                <a:sym typeface="Lato"/>
              </a:endParaRPr>
            </a:p>
            <a:p>
              <a:pPr indent="0" lvl="0" marL="0" rtl="0" algn="ctr">
                <a:spcBef>
                  <a:spcPts val="0"/>
                </a:spcBef>
                <a:spcAft>
                  <a:spcPts val="0"/>
                </a:spcAft>
                <a:buNone/>
              </a:pPr>
              <a:r>
                <a:rPr lang="es" sz="1500">
                  <a:solidFill>
                    <a:srgbClr val="CBD5E1"/>
                  </a:solidFill>
                  <a:latin typeface="Lato"/>
                  <a:ea typeface="Lato"/>
                  <a:cs typeface="Lato"/>
                  <a:sym typeface="Lato"/>
                </a:rPr>
                <a:t>-Métricas asociadas</a:t>
              </a:r>
              <a:endParaRPr sz="1500">
                <a:solidFill>
                  <a:srgbClr val="CBD5E1"/>
                </a:solidFill>
                <a:latin typeface="Lato"/>
                <a:ea typeface="Lato"/>
                <a:cs typeface="Lato"/>
                <a:sym typeface="Lato"/>
              </a:endParaRPr>
            </a:p>
          </p:txBody>
        </p:sp>
      </p:grpSp>
      <p:pic>
        <p:nvPicPr>
          <p:cNvPr id="578" name="Google Shape;578;p40"/>
          <p:cNvPicPr preferRelativeResize="0"/>
          <p:nvPr/>
        </p:nvPicPr>
        <p:blipFill>
          <a:blip r:embed="rId4">
            <a:alphaModFix/>
          </a:blip>
          <a:stretch>
            <a:fillRect/>
          </a:stretch>
        </p:blipFill>
        <p:spPr>
          <a:xfrm>
            <a:off x="3391375" y="2564100"/>
            <a:ext cx="4945025" cy="2097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2" name="Shape 582"/>
        <p:cNvGrpSpPr/>
        <p:nvPr/>
      </p:nvGrpSpPr>
      <p:grpSpPr>
        <a:xfrm>
          <a:off x="0" y="0"/>
          <a:ext cx="0" cy="0"/>
          <a:chOff x="0" y="0"/>
          <a:chExt cx="0" cy="0"/>
        </a:xfrm>
      </p:grpSpPr>
      <p:sp>
        <p:nvSpPr>
          <p:cNvPr id="583" name="Google Shape;583;p41"/>
          <p:cNvSpPr/>
          <p:nvPr/>
        </p:nvSpPr>
        <p:spPr>
          <a:xfrm>
            <a:off x="298500" y="1016300"/>
            <a:ext cx="8392500" cy="2001000"/>
          </a:xfrm>
          <a:prstGeom prst="roundRect">
            <a:avLst>
              <a:gd fmla="val 4347" name="adj"/>
            </a:avLst>
          </a:prstGeom>
          <a:solidFill>
            <a:srgbClr val="FFFFFF">
              <a:alpha val="5000"/>
            </a:srgbClr>
          </a:solidFill>
          <a:ln cap="flat" cmpd="sng" w="9525">
            <a:solidFill>
              <a:srgbClr val="FFFFFF">
                <a:alpha val="10000"/>
              </a:srgbClr>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rPr lang="es" sz="1565">
                <a:solidFill>
                  <a:schemeClr val="lt1"/>
                </a:solidFill>
                <a:latin typeface="Lato"/>
                <a:ea typeface="Lato"/>
                <a:cs typeface="Lato"/>
                <a:sym typeface="Lato"/>
              </a:rPr>
              <a:t> </a:t>
            </a:r>
            <a:r>
              <a:rPr lang="es" sz="1565">
                <a:solidFill>
                  <a:schemeClr val="lt1"/>
                </a:solidFill>
                <a:latin typeface="Lato"/>
                <a:ea typeface="Lato"/>
                <a:cs typeface="Lato"/>
                <a:sym typeface="Lato"/>
              </a:rPr>
              <a:t>Después</a:t>
            </a:r>
            <a:r>
              <a:rPr lang="es" sz="1565">
                <a:solidFill>
                  <a:schemeClr val="lt1"/>
                </a:solidFill>
                <a:latin typeface="Lato"/>
                <a:ea typeface="Lato"/>
                <a:cs typeface="Lato"/>
                <a:sym typeface="Lato"/>
              </a:rPr>
              <a:t> de realizar la </a:t>
            </a:r>
            <a:r>
              <a:rPr lang="es" sz="1565">
                <a:solidFill>
                  <a:schemeClr val="lt1"/>
                </a:solidFill>
                <a:latin typeface="Lato"/>
                <a:ea typeface="Lato"/>
                <a:cs typeface="Lato"/>
                <a:sym typeface="Lato"/>
              </a:rPr>
              <a:t>evaluación</a:t>
            </a:r>
            <a:r>
              <a:rPr lang="es" sz="1565">
                <a:solidFill>
                  <a:schemeClr val="lt1"/>
                </a:solidFill>
                <a:latin typeface="Lato"/>
                <a:ea typeface="Lato"/>
                <a:cs typeface="Lato"/>
                <a:sym typeface="Lato"/>
              </a:rPr>
              <a:t> de los modelos de Machine Learning con el corpus seleccionado se puedo concluir que:</a:t>
            </a:r>
            <a:endParaRPr sz="1565">
              <a:solidFill>
                <a:schemeClr val="lt1"/>
              </a:solidFill>
              <a:latin typeface="Lato"/>
              <a:ea typeface="Lato"/>
              <a:cs typeface="Lato"/>
              <a:sym typeface="Lato"/>
            </a:endParaRPr>
          </a:p>
          <a:p>
            <a:pPr indent="-327978" lvl="0" marL="457200" rtl="0" algn="l">
              <a:spcBef>
                <a:spcPts val="1125"/>
              </a:spcBef>
              <a:spcAft>
                <a:spcPts val="0"/>
              </a:spcAft>
              <a:buClr>
                <a:schemeClr val="lt1"/>
              </a:buClr>
              <a:buSzPts val="1565"/>
              <a:buFont typeface="Lato"/>
              <a:buChar char="●"/>
            </a:pPr>
            <a:r>
              <a:rPr lang="es" sz="1565">
                <a:solidFill>
                  <a:schemeClr val="lt1"/>
                </a:solidFill>
                <a:latin typeface="Lato"/>
                <a:ea typeface="Lato"/>
                <a:cs typeface="Lato"/>
                <a:sym typeface="Lato"/>
              </a:rPr>
              <a:t>Los valores de macro-F1 obtenidos por los modelos se encuentran en un rango relativamente alto, entre 0.62 y 0.70, lo que sugiere un buen rendimiento general en la clasificación.</a:t>
            </a:r>
            <a:endParaRPr sz="1565">
              <a:solidFill>
                <a:schemeClr val="lt1"/>
              </a:solidFill>
              <a:latin typeface="Lato"/>
              <a:ea typeface="Lato"/>
              <a:cs typeface="Lato"/>
              <a:sym typeface="Lato"/>
            </a:endParaRPr>
          </a:p>
          <a:p>
            <a:pPr indent="-327978" lvl="0" marL="457200" rtl="0" algn="l">
              <a:spcBef>
                <a:spcPts val="0"/>
              </a:spcBef>
              <a:spcAft>
                <a:spcPts val="0"/>
              </a:spcAft>
              <a:buClr>
                <a:schemeClr val="lt1"/>
              </a:buClr>
              <a:buSzPts val="1565"/>
              <a:buFont typeface="Lato"/>
              <a:buChar char="●"/>
            </a:pPr>
            <a:r>
              <a:rPr lang="es" sz="1565">
                <a:solidFill>
                  <a:schemeClr val="lt1"/>
                </a:solidFill>
                <a:latin typeface="Lato"/>
                <a:ea typeface="Lato"/>
                <a:cs typeface="Lato"/>
                <a:sym typeface="Lato"/>
              </a:rPr>
              <a:t>La regresión logística en combinación con la técnica de vectorización de texto TF-IDF demostró ser la mejor elección de métodos para este problema en particular. </a:t>
            </a:r>
            <a:endParaRPr sz="1565">
              <a:solidFill>
                <a:schemeClr val="lt1"/>
              </a:solidFill>
              <a:latin typeface="Lato"/>
              <a:ea typeface="Lato"/>
              <a:cs typeface="Lato"/>
              <a:sym typeface="Lato"/>
            </a:endParaRPr>
          </a:p>
        </p:txBody>
      </p:sp>
      <p:pic>
        <p:nvPicPr>
          <p:cNvPr id="584" name="Google Shape;584;p41"/>
          <p:cNvPicPr preferRelativeResize="0"/>
          <p:nvPr/>
        </p:nvPicPr>
        <p:blipFill>
          <a:blip r:embed="rId4">
            <a:alphaModFix/>
          </a:blip>
          <a:stretch>
            <a:fillRect/>
          </a:stretch>
        </p:blipFill>
        <p:spPr>
          <a:xfrm>
            <a:off x="6976875" y="199722"/>
            <a:ext cx="2052826" cy="757775"/>
          </a:xfrm>
          <a:prstGeom prst="rect">
            <a:avLst/>
          </a:prstGeom>
          <a:noFill/>
          <a:ln>
            <a:noFill/>
          </a:ln>
        </p:spPr>
      </p:pic>
      <p:grpSp>
        <p:nvGrpSpPr>
          <p:cNvPr id="585" name="Google Shape;585;p41"/>
          <p:cNvGrpSpPr/>
          <p:nvPr/>
        </p:nvGrpSpPr>
        <p:grpSpPr>
          <a:xfrm>
            <a:off x="0" y="1"/>
            <a:ext cx="1037850" cy="1016287"/>
            <a:chOff x="0" y="381001"/>
            <a:chExt cx="1037850" cy="1016287"/>
          </a:xfrm>
        </p:grpSpPr>
        <p:sp>
          <p:nvSpPr>
            <p:cNvPr id="586" name="Google Shape;586;p4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8" name="Google Shape;588;p41"/>
          <p:cNvSpPr txBox="1"/>
          <p:nvPr/>
        </p:nvSpPr>
        <p:spPr>
          <a:xfrm>
            <a:off x="1297352" y="57419"/>
            <a:ext cx="3000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3000">
                <a:solidFill>
                  <a:schemeClr val="lt1"/>
                </a:solidFill>
                <a:latin typeface="Montserrat"/>
                <a:ea typeface="Montserrat"/>
                <a:cs typeface="Montserrat"/>
                <a:sym typeface="Montserrat"/>
              </a:rPr>
              <a:t>RESULTADOS</a:t>
            </a:r>
            <a:endParaRPr sz="3000">
              <a:solidFill>
                <a:schemeClr val="lt1"/>
              </a:solidFill>
              <a:latin typeface="Montserrat"/>
              <a:ea typeface="Montserrat"/>
              <a:cs typeface="Montserrat"/>
              <a:sym typeface="Montserrat"/>
            </a:endParaRPr>
          </a:p>
        </p:txBody>
      </p:sp>
      <p:pic>
        <p:nvPicPr>
          <p:cNvPr id="589" name="Google Shape;589;p41"/>
          <p:cNvPicPr preferRelativeResize="0"/>
          <p:nvPr/>
        </p:nvPicPr>
        <p:blipFill>
          <a:blip r:embed="rId5">
            <a:alphaModFix/>
          </a:blip>
          <a:stretch>
            <a:fillRect/>
          </a:stretch>
        </p:blipFill>
        <p:spPr>
          <a:xfrm>
            <a:off x="1194025" y="3017300"/>
            <a:ext cx="6839475" cy="20748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3" name="Shape 593"/>
        <p:cNvGrpSpPr/>
        <p:nvPr/>
      </p:nvGrpSpPr>
      <p:grpSpPr>
        <a:xfrm>
          <a:off x="0" y="0"/>
          <a:ext cx="0" cy="0"/>
          <a:chOff x="0" y="0"/>
          <a:chExt cx="0" cy="0"/>
        </a:xfrm>
      </p:grpSpPr>
      <p:grpSp>
        <p:nvGrpSpPr>
          <p:cNvPr id="594" name="Google Shape;594;p42"/>
          <p:cNvGrpSpPr/>
          <p:nvPr/>
        </p:nvGrpSpPr>
        <p:grpSpPr>
          <a:xfrm>
            <a:off x="0" y="381001"/>
            <a:ext cx="1037850" cy="1016287"/>
            <a:chOff x="0" y="381001"/>
            <a:chExt cx="1037850" cy="1016287"/>
          </a:xfrm>
        </p:grpSpPr>
        <p:sp>
          <p:nvSpPr>
            <p:cNvPr id="595" name="Google Shape;595;p4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7" name="Google Shape;597;p42"/>
          <p:cNvSpPr txBox="1"/>
          <p:nvPr>
            <p:ph type="title"/>
          </p:nvPr>
        </p:nvSpPr>
        <p:spPr>
          <a:xfrm>
            <a:off x="1297505" y="393750"/>
            <a:ext cx="7038900" cy="5715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b="1" lang="es" sz="3200">
                <a:solidFill>
                  <a:srgbClr val="FFFFFF"/>
                </a:solidFill>
                <a:latin typeface="Montserrat"/>
                <a:ea typeface="Montserrat"/>
                <a:cs typeface="Montserrat"/>
                <a:sym typeface="Montserrat"/>
              </a:rPr>
              <a:t>CONCLUSIONES</a:t>
            </a:r>
            <a:endParaRPr b="1" sz="3200">
              <a:solidFill>
                <a:srgbClr val="FFFFFF"/>
              </a:solidFill>
              <a:latin typeface="Montserrat"/>
              <a:ea typeface="Montserrat"/>
              <a:cs typeface="Montserrat"/>
              <a:sym typeface="Montserrat"/>
            </a:endParaRPr>
          </a:p>
        </p:txBody>
      </p:sp>
      <p:pic>
        <p:nvPicPr>
          <p:cNvPr id="598" name="Google Shape;598;p42"/>
          <p:cNvPicPr preferRelativeResize="0"/>
          <p:nvPr/>
        </p:nvPicPr>
        <p:blipFill>
          <a:blip r:embed="rId4">
            <a:alphaModFix/>
          </a:blip>
          <a:stretch>
            <a:fillRect/>
          </a:stretch>
        </p:blipFill>
        <p:spPr>
          <a:xfrm>
            <a:off x="6976875" y="199722"/>
            <a:ext cx="2052826" cy="757775"/>
          </a:xfrm>
          <a:prstGeom prst="rect">
            <a:avLst/>
          </a:prstGeom>
          <a:noFill/>
          <a:ln>
            <a:noFill/>
          </a:ln>
        </p:spPr>
      </p:pic>
      <p:grpSp>
        <p:nvGrpSpPr>
          <p:cNvPr id="599" name="Google Shape;599;p42"/>
          <p:cNvGrpSpPr/>
          <p:nvPr/>
        </p:nvGrpSpPr>
        <p:grpSpPr>
          <a:xfrm>
            <a:off x="476250" y="1528675"/>
            <a:ext cx="8191575" cy="3167125"/>
            <a:chOff x="476250" y="1333498"/>
            <a:chExt cx="8191575" cy="3167125"/>
          </a:xfrm>
        </p:grpSpPr>
        <p:sp>
          <p:nvSpPr>
            <p:cNvPr id="600" name="Google Shape;600;p42"/>
            <p:cNvSpPr/>
            <p:nvPr/>
          </p:nvSpPr>
          <p:spPr>
            <a:xfrm>
              <a:off x="476250" y="1333498"/>
              <a:ext cx="8191500" cy="1238400"/>
            </a:xfrm>
            <a:prstGeom prst="roundRect">
              <a:avLst>
                <a:gd fmla="val 6153"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1" name="Google Shape;601;p42"/>
            <p:cNvSpPr txBox="1"/>
            <p:nvPr/>
          </p:nvSpPr>
          <p:spPr>
            <a:xfrm>
              <a:off x="4381500" y="14293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400">
                  <a:solidFill>
                    <a:srgbClr val="82C7A5"/>
                  </a:solidFill>
                  <a:latin typeface="Material Icons"/>
                  <a:ea typeface="Material Icons"/>
                  <a:cs typeface="Material Icons"/>
                  <a:sym typeface="Material Icons"/>
                </a:rPr>
                <a:t>sentiment_satisfied</a:t>
              </a:r>
              <a:endParaRPr sz="2400">
                <a:solidFill>
                  <a:srgbClr val="82C7A5"/>
                </a:solidFill>
                <a:latin typeface="Material Icons"/>
                <a:ea typeface="Material Icons"/>
                <a:cs typeface="Material Icons"/>
                <a:sym typeface="Material Icons"/>
              </a:endParaRPr>
            </a:p>
          </p:txBody>
        </p:sp>
        <p:sp>
          <p:nvSpPr>
            <p:cNvPr id="602" name="Google Shape;602;p42"/>
            <p:cNvSpPr txBox="1"/>
            <p:nvPr/>
          </p:nvSpPr>
          <p:spPr>
            <a:xfrm>
              <a:off x="619125" y="1460273"/>
              <a:ext cx="7980300" cy="101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400">
                  <a:solidFill>
                    <a:srgbClr val="FFFFFF"/>
                  </a:solidFill>
                  <a:latin typeface="Lato"/>
                  <a:ea typeface="Lato"/>
                  <a:cs typeface="Lato"/>
                  <a:sym typeface="Lato"/>
                </a:rPr>
                <a:t>Percepción Positiva</a:t>
              </a:r>
              <a:endParaRPr b="1" sz="2400">
                <a:solidFill>
                  <a:srgbClr val="FFFFFF"/>
                </a:solidFill>
                <a:latin typeface="Lato"/>
                <a:ea typeface="Lato"/>
                <a:cs typeface="Lato"/>
                <a:sym typeface="Lato"/>
              </a:endParaRPr>
            </a:p>
            <a:p>
              <a:pPr indent="0" lvl="0" marL="0" rtl="0" algn="l">
                <a:spcBef>
                  <a:spcPts val="300"/>
                </a:spcBef>
                <a:spcAft>
                  <a:spcPts val="0"/>
                </a:spcAft>
                <a:buNone/>
              </a:pPr>
              <a:r>
                <a:rPr lang="es" sz="1800">
                  <a:solidFill>
                    <a:srgbClr val="CBD5E1"/>
                  </a:solidFill>
                  <a:latin typeface="Lato"/>
                  <a:ea typeface="Lato"/>
                  <a:cs typeface="Lato"/>
                  <a:sym typeface="Lato"/>
                </a:rPr>
                <a:t>Es posible implementar </a:t>
              </a:r>
              <a:r>
                <a:rPr lang="es" sz="1800">
                  <a:solidFill>
                    <a:srgbClr val="CBD5E1"/>
                  </a:solidFill>
                  <a:latin typeface="Lato"/>
                  <a:ea typeface="Lato"/>
                  <a:cs typeface="Lato"/>
                  <a:sym typeface="Lato"/>
                </a:rPr>
                <a:t>técnicas</a:t>
              </a:r>
              <a:r>
                <a:rPr lang="es" sz="1800">
                  <a:solidFill>
                    <a:srgbClr val="CBD5E1"/>
                  </a:solidFill>
                  <a:latin typeface="Lato"/>
                  <a:ea typeface="Lato"/>
                  <a:cs typeface="Lato"/>
                  <a:sym typeface="Lato"/>
                </a:rPr>
                <a:t> de Machine Learning en corpus de noticias financieras para </a:t>
              </a:r>
              <a:r>
                <a:rPr lang="es" sz="1800">
                  <a:solidFill>
                    <a:srgbClr val="CBD5E1"/>
                  </a:solidFill>
                  <a:latin typeface="Lato"/>
                  <a:ea typeface="Lato"/>
                  <a:cs typeface="Lato"/>
                  <a:sym typeface="Lato"/>
                </a:rPr>
                <a:t>conocer</a:t>
              </a:r>
              <a:r>
                <a:rPr lang="es" sz="1800">
                  <a:solidFill>
                    <a:srgbClr val="CBD5E1"/>
                  </a:solidFill>
                  <a:latin typeface="Lato"/>
                  <a:ea typeface="Lato"/>
                  <a:cs typeface="Lato"/>
                  <a:sym typeface="Lato"/>
                </a:rPr>
                <a:t> el sentimiento de los usuarios con respecto a ellas.</a:t>
              </a:r>
              <a:endParaRPr sz="1800">
                <a:solidFill>
                  <a:srgbClr val="CBD5E1"/>
                </a:solidFill>
                <a:latin typeface="Lato"/>
                <a:ea typeface="Lato"/>
                <a:cs typeface="Lato"/>
                <a:sym typeface="Lato"/>
              </a:endParaRPr>
            </a:p>
          </p:txBody>
        </p:sp>
        <p:sp>
          <p:nvSpPr>
            <p:cNvPr id="603" name="Google Shape;603;p42"/>
            <p:cNvSpPr/>
            <p:nvPr/>
          </p:nvSpPr>
          <p:spPr>
            <a:xfrm>
              <a:off x="4707225" y="2714698"/>
              <a:ext cx="3960600" cy="1785900"/>
            </a:xfrm>
            <a:prstGeom prst="roundRect">
              <a:avLst>
                <a:gd fmla="val 6153"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4" name="Google Shape;604;p42"/>
            <p:cNvSpPr txBox="1"/>
            <p:nvPr/>
          </p:nvSpPr>
          <p:spPr>
            <a:xfrm>
              <a:off x="7812788" y="2753415"/>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400">
                  <a:solidFill>
                    <a:srgbClr val="82C7A5"/>
                  </a:solidFill>
                  <a:latin typeface="Material Icons"/>
                  <a:ea typeface="Material Icons"/>
                  <a:cs typeface="Material Icons"/>
                  <a:sym typeface="Material Icons"/>
                </a:rPr>
                <a:t>model_training</a:t>
              </a:r>
              <a:endParaRPr sz="2400">
                <a:solidFill>
                  <a:srgbClr val="82C7A5"/>
                </a:solidFill>
                <a:latin typeface="Material Icons"/>
                <a:ea typeface="Material Icons"/>
                <a:cs typeface="Material Icons"/>
                <a:sym typeface="Material Icons"/>
              </a:endParaRPr>
            </a:p>
          </p:txBody>
        </p:sp>
        <p:sp>
          <p:nvSpPr>
            <p:cNvPr id="605" name="Google Shape;605;p42"/>
            <p:cNvSpPr txBox="1"/>
            <p:nvPr/>
          </p:nvSpPr>
          <p:spPr>
            <a:xfrm>
              <a:off x="4803825" y="2766923"/>
              <a:ext cx="3721200" cy="1733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100">
                  <a:solidFill>
                    <a:srgbClr val="FFFFFF"/>
                  </a:solidFill>
                  <a:latin typeface="Lato"/>
                  <a:ea typeface="Lato"/>
                  <a:cs typeface="Lato"/>
                  <a:sym typeface="Lato"/>
                </a:rPr>
                <a:t>Precisión del modelo</a:t>
              </a:r>
              <a:endParaRPr b="1" sz="2100">
                <a:solidFill>
                  <a:srgbClr val="FFFFFF"/>
                </a:solidFill>
                <a:latin typeface="Lato"/>
                <a:ea typeface="Lato"/>
                <a:cs typeface="Lato"/>
                <a:sym typeface="Lato"/>
              </a:endParaRPr>
            </a:p>
            <a:p>
              <a:pPr indent="0" lvl="0" marL="0" rtl="0" algn="just">
                <a:spcBef>
                  <a:spcPts val="300"/>
                </a:spcBef>
                <a:spcAft>
                  <a:spcPts val="0"/>
                </a:spcAft>
                <a:buNone/>
              </a:pPr>
              <a:r>
                <a:rPr lang="es" sz="1900">
                  <a:solidFill>
                    <a:srgbClr val="CBD5E1"/>
                  </a:solidFill>
                  <a:latin typeface="Lato"/>
                  <a:ea typeface="Lato"/>
                  <a:cs typeface="Lato"/>
                  <a:sym typeface="Lato"/>
                </a:rPr>
                <a:t>La </a:t>
              </a:r>
              <a:r>
                <a:rPr lang="es" sz="1900">
                  <a:solidFill>
                    <a:srgbClr val="CBD5E1"/>
                  </a:solidFill>
                  <a:latin typeface="Lato"/>
                  <a:ea typeface="Lato"/>
                  <a:cs typeface="Lato"/>
                  <a:sym typeface="Lato"/>
                </a:rPr>
                <a:t>implementación</a:t>
              </a:r>
              <a:r>
                <a:rPr lang="es" sz="1900">
                  <a:solidFill>
                    <a:srgbClr val="CBD5E1"/>
                  </a:solidFill>
                  <a:latin typeface="Lato"/>
                  <a:ea typeface="Lato"/>
                  <a:cs typeface="Lato"/>
                  <a:sym typeface="Lato"/>
                </a:rPr>
                <a:t> del modelo de Regresión Logística con TF-IDF, obtuvo un buen desempeño para la </a:t>
              </a:r>
              <a:r>
                <a:rPr lang="es" sz="1900">
                  <a:solidFill>
                    <a:srgbClr val="CBD5E1"/>
                  </a:solidFill>
                  <a:latin typeface="Lato"/>
                  <a:ea typeface="Lato"/>
                  <a:cs typeface="Lato"/>
                  <a:sym typeface="Lato"/>
                </a:rPr>
                <a:t>clasificación</a:t>
              </a:r>
              <a:r>
                <a:rPr lang="es" sz="1900">
                  <a:solidFill>
                    <a:srgbClr val="CBD5E1"/>
                  </a:solidFill>
                  <a:latin typeface="Lato"/>
                  <a:ea typeface="Lato"/>
                  <a:cs typeface="Lato"/>
                  <a:sym typeface="Lato"/>
                </a:rPr>
                <a:t> de  sentimiento</a:t>
              </a:r>
              <a:endParaRPr sz="1900">
                <a:solidFill>
                  <a:srgbClr val="CBD5E1"/>
                </a:solidFill>
                <a:latin typeface="Lato"/>
                <a:ea typeface="Lato"/>
                <a:cs typeface="Lato"/>
                <a:sym typeface="Lato"/>
              </a:endParaRPr>
            </a:p>
          </p:txBody>
        </p:sp>
        <p:sp>
          <p:nvSpPr>
            <p:cNvPr id="606" name="Google Shape;606;p42"/>
            <p:cNvSpPr/>
            <p:nvPr/>
          </p:nvSpPr>
          <p:spPr>
            <a:xfrm>
              <a:off x="517500" y="2714623"/>
              <a:ext cx="4054500" cy="1785900"/>
            </a:xfrm>
            <a:prstGeom prst="roundRect">
              <a:avLst>
                <a:gd fmla="val 6153" name="adj"/>
              </a:avLst>
            </a:prstGeom>
            <a:solidFill>
              <a:srgbClr val="FFFFFF">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7" name="Google Shape;607;p42"/>
            <p:cNvSpPr txBox="1"/>
            <p:nvPr/>
          </p:nvSpPr>
          <p:spPr>
            <a:xfrm>
              <a:off x="3748768" y="284492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400">
                  <a:solidFill>
                    <a:srgbClr val="0145AC"/>
                  </a:solidFill>
                  <a:latin typeface="Material Icons"/>
                  <a:ea typeface="Material Icons"/>
                  <a:cs typeface="Material Icons"/>
                  <a:sym typeface="Material Icons"/>
                </a:rPr>
                <a:t>notification_important</a:t>
              </a:r>
              <a:endParaRPr sz="2400">
                <a:solidFill>
                  <a:srgbClr val="0145AC"/>
                </a:solidFill>
                <a:latin typeface="Material Icons"/>
                <a:ea typeface="Material Icons"/>
                <a:cs typeface="Material Icons"/>
                <a:sym typeface="Material Icons"/>
              </a:endParaRPr>
            </a:p>
          </p:txBody>
        </p:sp>
        <p:sp>
          <p:nvSpPr>
            <p:cNvPr id="608" name="Google Shape;608;p42"/>
            <p:cNvSpPr txBox="1"/>
            <p:nvPr/>
          </p:nvSpPr>
          <p:spPr>
            <a:xfrm>
              <a:off x="660377" y="2962951"/>
              <a:ext cx="3721200" cy="1090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2100">
                  <a:solidFill>
                    <a:srgbClr val="FFFFFF"/>
                  </a:solidFill>
                  <a:latin typeface="Lato"/>
                  <a:ea typeface="Lato"/>
                  <a:cs typeface="Lato"/>
                  <a:sym typeface="Lato"/>
                </a:rPr>
                <a:t>Detección Temprana</a:t>
              </a:r>
              <a:endParaRPr b="1" sz="2100">
                <a:solidFill>
                  <a:srgbClr val="FFFFFF"/>
                </a:solidFill>
                <a:latin typeface="Lato"/>
                <a:ea typeface="Lato"/>
                <a:cs typeface="Lato"/>
                <a:sym typeface="Lato"/>
              </a:endParaRPr>
            </a:p>
            <a:p>
              <a:pPr indent="0" lvl="0" marL="0" rtl="0" algn="l">
                <a:spcBef>
                  <a:spcPts val="300"/>
                </a:spcBef>
                <a:spcAft>
                  <a:spcPts val="0"/>
                </a:spcAft>
                <a:buNone/>
              </a:pPr>
              <a:r>
                <a:rPr lang="es" sz="2100">
                  <a:solidFill>
                    <a:srgbClr val="CBD5E1"/>
                  </a:solidFill>
                  <a:latin typeface="Lato"/>
                  <a:ea typeface="Lato"/>
                  <a:cs typeface="Lato"/>
                  <a:sym typeface="Lato"/>
                </a:rPr>
                <a:t>El modelo permite detectar señales de insatisfacción proactivamente.</a:t>
              </a:r>
              <a:endParaRPr sz="2100">
                <a:solidFill>
                  <a:srgbClr val="CBD5E1"/>
                </a:solidFill>
                <a:latin typeface="Lato"/>
                <a:ea typeface="Lato"/>
                <a:cs typeface="Lato"/>
                <a:sym typeface="Lato"/>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3000"/>
              <a:t>BIBLIOGRAFÍA</a:t>
            </a:r>
            <a:endParaRPr sz="3000"/>
          </a:p>
        </p:txBody>
      </p:sp>
      <p:sp>
        <p:nvSpPr>
          <p:cNvPr id="614" name="Google Shape;614;p43"/>
          <p:cNvSpPr txBox="1"/>
          <p:nvPr>
            <p:ph idx="1" type="body"/>
          </p:nvPr>
        </p:nvSpPr>
        <p:spPr>
          <a:xfrm>
            <a:off x="493675" y="1250445"/>
            <a:ext cx="8403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t>[1]Kenpache. Multilingual Financial Sentiment (dataset). Hugging Face. https://huggingface.co/datasets/Kenpache/multilingual-financial-sentiment</a:t>
            </a:r>
            <a:endParaRPr sz="1400"/>
          </a:p>
          <a:p>
            <a:pPr indent="0" lvl="0" marL="0" rtl="0" algn="l">
              <a:spcBef>
                <a:spcPts val="1200"/>
              </a:spcBef>
              <a:spcAft>
                <a:spcPts val="0"/>
              </a:spcAft>
              <a:buNone/>
            </a:pPr>
            <a:r>
              <a:rPr lang="es" sz="1400"/>
              <a:t>[2] Explosion AI. spaCy: Industrial-strength Natural Language Processing. https://spacy.io/</a:t>
            </a:r>
            <a:endParaRPr sz="1400"/>
          </a:p>
          <a:p>
            <a:pPr indent="0" lvl="0" marL="0" rtl="0" algn="l">
              <a:spcBef>
                <a:spcPts val="1200"/>
              </a:spcBef>
              <a:spcAft>
                <a:spcPts val="0"/>
              </a:spcAft>
              <a:buNone/>
            </a:pPr>
            <a:r>
              <a:rPr lang="es" sz="1400"/>
              <a:t>[3]spacy-langdetect. https://github.com/Abhijit-2592/spacy-langdetect</a:t>
            </a:r>
            <a:endParaRPr sz="1400"/>
          </a:p>
          <a:p>
            <a:pPr indent="0" lvl="0" marL="0" rtl="0" algn="l">
              <a:spcBef>
                <a:spcPts val="1200"/>
              </a:spcBef>
              <a:spcAft>
                <a:spcPts val="0"/>
              </a:spcAft>
              <a:buNone/>
            </a:pPr>
            <a:r>
              <a:rPr lang="es" sz="1400"/>
              <a:t>[4]Textstat: índice de legibilidad de Fernández-Huerta. https://www.spanishreadability.com/fernandez-huerta-readability-index</a:t>
            </a:r>
            <a:endParaRPr sz="1400"/>
          </a:p>
          <a:p>
            <a:pPr indent="0" lvl="0" marL="0" rtl="0" algn="l">
              <a:spcBef>
                <a:spcPts val="1200"/>
              </a:spcBef>
              <a:spcAft>
                <a:spcPts val="0"/>
              </a:spcAft>
              <a:buNone/>
            </a:pPr>
            <a:r>
              <a:rPr lang="es" sz="1400"/>
              <a:t>[5]Coeficiente de correlación de Spearman. https://www.sciencedirect.com/topics/mathematics/spearman-rank-correlation-coefficient</a:t>
            </a:r>
            <a:endParaRPr sz="1400"/>
          </a:p>
          <a:p>
            <a:pPr indent="0" lvl="0" marL="0" rtl="0" algn="l">
              <a:spcBef>
                <a:spcPts val="1200"/>
              </a:spcBef>
              <a:spcAft>
                <a:spcPts val="0"/>
              </a:spcAft>
              <a:buNone/>
            </a:pPr>
            <a:r>
              <a:rPr lang="es" sz="1400"/>
              <a:t>[6]V de Cramér (asociación entre variables categóricas). https://en.wikipedia.org/wiki/Cram%C3%A9r%27s_V</a:t>
            </a:r>
            <a:endParaRPr sz="1400"/>
          </a:p>
          <a:p>
            <a:pPr indent="0" lvl="0" marL="0" rtl="0" algn="l">
              <a:spcBef>
                <a:spcPts val="1200"/>
              </a:spcBef>
              <a:spcAft>
                <a:spcPts val="0"/>
              </a:spcAft>
              <a:buNone/>
            </a:pPr>
            <a:r>
              <a:rPr lang="es" sz="1400"/>
              <a:t>[7]Correlación de Pearson. https://www.sciencedirect.com/topics/computer-science/pearson-correlation</a:t>
            </a:r>
            <a:endParaRPr sz="1400"/>
          </a:p>
          <a:p>
            <a:pPr indent="0" lvl="0" marL="457200" rtl="0" algn="l">
              <a:spcBef>
                <a:spcPts val="1200"/>
              </a:spcBef>
              <a:spcAft>
                <a:spcPts val="1200"/>
              </a:spcAft>
              <a:buNone/>
            </a:pPr>
            <a:r>
              <a:t/>
            </a:r>
            <a:endParaRPr sz="1000"/>
          </a:p>
        </p:txBody>
      </p:sp>
      <p:pic>
        <p:nvPicPr>
          <p:cNvPr id="615" name="Google Shape;615;p43"/>
          <p:cNvPicPr preferRelativeResize="0"/>
          <p:nvPr/>
        </p:nvPicPr>
        <p:blipFill>
          <a:blip r:embed="rId3">
            <a:alphaModFix/>
          </a:blip>
          <a:stretch>
            <a:fillRect/>
          </a:stretch>
        </p:blipFill>
        <p:spPr>
          <a:xfrm>
            <a:off x="6976875" y="199722"/>
            <a:ext cx="2052826" cy="757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